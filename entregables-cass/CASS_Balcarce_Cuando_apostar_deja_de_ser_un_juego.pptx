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 00:00-00:01
Presentarse antes de abrir la primera lámina. Nombre, Programa CASS, y de dónde venimos.
Frase de entrada sugerida: “Gracias por el espacio. Vengo de Mar del Plata, trabajo hace años con adicciones sin sustancia, y hoy vengo a hablar de algo que ustedes probablemente ya están viendo antes que nosotros.”
No leer el título. Dejarlo en pantalla mientras se habla.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 00:01-00:02
Pasar rápido. Los cuatro ejes son contexto, no contenido.
Lo único que hay que subrayar es la línea de abajo: hoy venimos con el eje 3 y el eje 4. No venimos a dar una clase de clínica, venimos a dejar herramientas de detección y un circuito de derivación.
Si hay poco tiempo, esta lámina se puede saltear.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 00:02-00:04
Esta lámina define el contrato de la hora. Decirlo en voz alta y despacio.
El objetivo del encuadre es sacar de la mesa la discusión moral (“el juego está mal / cada uno hace lo que quiere”), que consume tiempo y no cambia ninguna práctica.
Las tres cosas para llevarse son también la estructura de la charla: reconocer una señal (bloque 3), hacer una pregunta (Lie/Bet), saber a quién derivar (lámina 31). Anunciar que a las tres se vuelve al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 00:04-00:06
Acá se juega la adhesión del público. Nombrar la situación concreta de Balcarce: no hay dispositivo especializado local y el circuito pasa por Mar del Plata.
Mirar a la sala mientras se lee la columna derecha: club, iglesia, Juventud, escuela, servicio local. Que cada uno se reconozca.
Cerrar con la frase de abajo, textual: nadie tiene que diagnosticar; todos pueden ser el adulto que se dio cuenta a tiempo. Es la tesis de toda la jornada.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 00:06-00:09
Definición operativa, no académica. La clave es que estos cuatro indicadores son lo que separa “un chico que apuesta” de “un chico con un problema de juego”.
Insistir en el último renglón: la frecuencia sola no alcanza. Muchos adultos se alarman por la frecuencia y no miran interferencia ni pérdida de control.
Si alguien pregunta por otras conductas (videojuegos, redes, compras), aclarar que el modelo de componentes de Griffiths es el mismo, pero hoy el foco es apuestas.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 00:09-00:11
Función de la lámina: desactivar la lectura moral. Esto no es “falta de carácter”, es una categoría diagnóstica con 45 años de historia.
El hito importante es 2013: el DSM-5 lo mueve al capítulo de trastornos adictivos. Es la primera conducta sin sustancia reconocida como adicción, y eso cambió el tipo de tratamiento que se ofrece.
No leer la tabla completa. Marcar 1980, 2013 y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 00:11-00:13
La idea a instalar: no cambió la conducta humana, cambió el acceso. Antes había que ir a un lugar; ahora el lugar está en el bolsillo, abierto 24 horas.
Detenerse en 2022: Mundial de Qatar y legalización provincial en el mismo año. Es la explicación más simple del salto que ven en el aula y en el club.
Mencionar la media sanción de noviembre de 2024 al pasar; se retoma en la lámina 33. Si en la sala hay concejales, señalarlo con la mirada sin personalizar.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 00:13-00:16
El corazón conceptual de la charla. La cita de Bilinkis funciona muy bien como entrada porque es contraintuitiva: no engancha ganar, engancha no saber.
Analogía útil si la sala está fría: la ruleta rusa del sobre que a veces trae premio y a veces no. Si supieras el resultado, no volverías a mirar.
Skinner explica por qué la conducta no se extingue; Schultz explica qué pasa en el cerebro mientras se espera el resultado. Con eso alcanza: no entrar en detalle neurobiológico.
Cerrar diciendo que la app de apuestas está diseñada exactamente sobre este principio. No es un accidente.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 00:16-00:18
Acá el público docente se engancha. El punto no es que el adolescente sea imprudente: es que hay un desfasaje de maduración entre el sistema de recompensa y la corteza prefrontal.
El dato de la edad de inicio (14,7 años online) suele generar reacción. Subrayar la consecuencia: cuando el problema se hace visible, la conducta ya lleva años.
Cerrar con la frase de abajo: la ventana útil está en la secundaria y en el club, no en el consultorio de adultos. Es el argumento de por qué esta charla es para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 00:18-00:20
Por qué el online es distinto del casino: disponibilidad permanente, alta frecuencia de eventos, dinero desmaterializado, anonimato, ausencia de testigos.
Detalle práctico que conviene decir: en el casino alguien te ve. En el celular no te ve nadie. Eso elimina el freno social y también elimina la detección temprana por parte del entorno.
De ahí se desprende todo el bloque 3: si no hay testigo, la señal hay que ir a buscarla.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2 · 00:20-00:23
Dar los números con calma y sin dramatizar. Los datos argentinos son más limitados que los españoles; conviene decirlo.
España sirve como espejo: ESTUDES 2023 tiene 42.208 estudiantes y un cribado validado. El 23,5 % de los que juegan online da positivo en Lie/Bet, y eso anticipa la lámina 17.
Leer en voz alta la aclaración del pie: el corrimiento etario post-Qatar es reporte de equipos clínicos y prensa especializada, no un estudio epidemiológico. Esa honestidad con la fuente da credibilidad al resto.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DINÁMICA 1 · 00:23-00:26
Bajar el tono y hablar más lento. Pedir explícitamente que nadie diga nombres.
Leer el perfil de a un ítem, con pausa entre cada uno. La pausa es el recurso: hay que darle tiempo a la sala para que aparezca una cara concreta.
Después del último ítem, esperar dos o tres segundos de silencio antes de la frase de cierre. Si alguien quiere comentar, dejar uno o dos comentarios como máximo y seguir; si se abre demasiado, se come el tiempo del bloque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2 · 00:26-00:28
Recorrer las dos primeras columnas rápido: son antecedentes, no se modifican desde la escuela ni desde el club.
Detenerse en la tercera. Esa es la columna que ellos sí mueven.
Decirlo con nombre propio: un club que sostiene a un chico, una parroquia que lo espera, un preceptor disponible, son factores protectores en sentido técnico, no en sentido metafórico.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 00:28-00:30
Contar a Diego como se cuenta un caso, no como se lee una lámina.
Aclarar al empezar que es un caso compuesto, con datos identificatorios modificados.
Tres cosas que tienen que quedar: el juego no fue el motivo de consulta y apareció al pasar; el entorno cercano apostaba; y la promesa de parar funcionó hasta que cambió el contexto (el Mundial).
Anunciar que Diego vuelve al final. Se retoma en la lámina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3 · 00:30-00:33
La lámina más operativa de la charla para esta audiencia. Que cada uno mire su columna.
Sugerencia: preguntar en voz alta “¿quién trabaja en escuela?”, “¿quién en club?”, y recorrer la columna correspondiente mirando a ese grupo.
La frase de cierre es la regla de oro: ninguna señal aislada significa nada; lo que orienta es el cambio respecto de cómo ese chico era antes. Repetirla.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3 · 00:33-00:35
Dejar la frase sola en pantalla unos segundos antes de explicarla.
“Estoy por recuperar lo que perdí” es persecución de la pérdida, criterio del DSM-5, y es la señal verbal más específica que existe. Un adulto sin formación clínica puede reconocerla.
Leer las tres variantes del recuadro: son las formas reales en que aparece en un pasillo o en un vestuario. Pedirles que las memoricen.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3 · 00:35-00:38
El momento más práctico. Si de toda la charla se llevan una sola cosa, que sea esto.
Leer las dos preguntas del Lie/Bet tal como están escritas y aclarar que se responden en menos de un minuto.
Remarcar dos veces: una respuesta afirmativa no diagnostica nada, habilita una conversación.
Las tres preguntas de abajo son la continuación natural si la conversación se abre. Sugerir que las anoten.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3 · 00:38-00:40
Tabla de referencia, no para memorizar. Pasarla rápido.
El mensaje es el reparto de tareas: cada uno usa el instrumento que corresponde a su rol. Nadie espera que un entrenador administre el SOGS, y nadie necesita un SOGS para hacer las dos preguntas anteriores.
Si hay profesionales de salud en la sala, ofrecerles el material completo por 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DINÁMICA 2 · 00:40-00:42
Explicar la consigna una sola vez y dejarla en pantalla: ¿derivarían?, ¿a quién?, ¿cómo lo abordarían desde su lugar?
Dos minutos por caso, no más. Si se pasa, se pierde el bloque de intervención.
Caso 1: el punto es que “solo con amigos, para divertirse” no descarta nada, y que la docente no tiene que resolverlo sola. Lo que corresponde es registrar, no confrontar, y comunicar al EOE.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DINÁMICA 2 · 00:42-00:44
Caso 2. El punto es cómo abre el pediatra la conversación.
Respuesta esperada: entrevistar a Lucas a solas al menos un tramo, preguntar sin cara de alarma, y usar Lie/Bet. Si se pregunta con la madre delante y en tono de reproche, el chico se cierra y se pierde la consulta.
Si nadie lo dice, aportarlo como cierre del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DINÁMICA 2 · 00:44-00:47
Caso 3. Es el que conecta con el bloque siguiente, así que conviene dejarlo para el final.
“Eso no tiene nada que ver” es una respuesta de precontemplación. Si el gabinete confronta el dato de las deudas, aparece resistencia y se cierra la entrevista.
No dar la respuesta completa acá: decir que la lámina siguiente muestra exactamente qué pasa cuando confrontamos. Sirve como puente.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4 · 00:47-00:49
Este es el giro de la charla. Mostrar el circuito de tres pasos como algo que todos hicieron alguna vez.
Decirlo sin culpabilizar: confrontar es la reacción natural de cualquier adulto que se preocupa. El problema es que no funciona.
La cita de Miller y Rollnick es la clave: la resistencia no es del chico, es información sobre nuestra estrategia. Si aparece resistencia, hay que cambiar lo que estamos haciendo.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4 · 00:49-00:51
La cita es larga; leerla completa igual, es la definición central de la entrevista motivacional.
El contraste de los dos paneles es lo que hay que dejar: “este chico no quiere cambiar” es una frase sobre nosotros, no sobre él.
Si la motivación es un estado y no un rasgo, entonces el adulto que acompaña tiene margen de maniobra. Ese es el mensaje esperanzador del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4 · 00:51-00:53
La trampa confrontación-negación explica por qué cuanto más insiste la familia, más defiende el chico la conducta.
Imagen útil: la ambivalencia es una balanza con dos platos. Si el adulto se para en el plato del cambio, el chico se para en el otro para equilibrar. No está mintiendo.
Volver a Diego: prometió desde un lado y recayó desde el otro. La pregunta correcta no es “por qué no cumpliste”, sino “qué te da el juego que hoy no encontrás en otro 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4 · 00:53-00:55
Tabla de etapas del cambio. No leerla renglón por renglón: leer precontemplación, contemplación y recaída, y dejar el resto en pantalla.
Subrayar la columna de la derecha: la tarea del adulto cambia según la etapa.
La frase de cierre es la que se recuerda: usar estrategias de acción con alguien en precontemplación es como enseñarle a nadar a alguien que todavía no sabe que está en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4 · 00:55-00:57
Cinco principios. Pasar rápido, están para el material impreso.
Detenerse solo en dos: evitar la discusión y fomentar la autoeficacia.
Sobre autoeficacia, decir que es uno de los mejores predictores del resultado: transmitirle al chico que el cambio es posible no es optimismo, es intervención.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4 · 00:57-00:59
FRAMES es lo más aplicable de todo el bloque para un no especialista. Quince minutos, sin formación clínica previa.
Marcar dos ingredientes: menú de opciones (elegir es parte del compromiso) y empatía (es el que más predice el resultado).
Sobre el consejo: una sola vez, claro, sin sermón. Repetirlo lo convierte en sermón y activa resistencia.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4 · 00:59-01:01
Esta lámina es la que da credibilidad frente a un público profesional. No exagerar los resultados.
Decir explícitamente que el meta-análisis de Forman y Boughter (2024) es más cauto que los anteriores y advierte sobreestimación previa. Mostrar el dato en contra suma autoridad.
Cerrar con la conclusión honesta: la entrevista motivacional es una excelente puerta de entrada, no un tratamiento completo. En casos severos, el rol del no especialista es derivar.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4 · 01:01-01:03
Lámina de síntesis. Que cada uno lea su fila.
La columna del medio (“no le corresponde”) es tan importante como la de la derecha: alivia. Nadie tiene que diagnosticar ni tratar.
Cerrar con las dos advertencias de abajo: la recaída no es fracaso del acompañamiento, y avisarle a la familia no es traicionar al chico si se hace con él y no a sus espaldas. Esta última suele generar preguntas: dejar espacio.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 01:03-01:05
Cerrar la historia de Diego. Es el momento emocional de la charla.
El punto técnico: la recaída no lo devolvió al punto de partida, lo devolvió a la contemplación, ahora con culpa. Clínicamente eso está más adelante, no más atrás.
El punto práctico para la sala: cambia la respuesta del adulto ante la recaída. La diferencia entre reprochar y reencuadrar es la diferencia entre que el chico vuelva a hablar o no vuelva nunca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DERIVACIÓN · 01:05-01:07
La lámina que hay que dejar impresa o mandar por mail. Avisarlo.
Destacar la Línea 141: gratuita, 24 horas, y orienta también a familiares e instituciones, no solo a la persona afectada. Eso resuelve el “no sé qué hacer con esto” del docente.
Cerrar con la frase: ante la ausencia de dispositivos locales, el eslabón que ellos ocupan es el que decide si un adolescente llega o no llega a tratamiento.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5 · 01:07-01:09
Bloque delicado si hay concejales presentes. Mantener el tono técnico, no político.
Griffiths y Parke señalan que las características estructurales del juego online amplían su potencial adictivo. Es un argumento a favor de regular.
El segundo panel es el matiz: cuando el mercado regulado se vuelve demasiado restrictivo, los jugadores de mayor riesgo migran a plataformas sin licencia, sin límites de depósito ni autoexclusión.
Leer el pie: la frase sobre Finlandia no pudo verificarse en fuente primaria y por eso no se cita como de Griffiths. Decirlo en voz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5 · 01:09-01:11
Aterrizar en Argentina. Marco provincial, media sanción de noviembre de 2024 pendiente en el Senado.
El tercer panel es el que importa para el debate local: restringir la publicidad dirigida a jóvenes es de las medidas con mejor respaldo empírico.
Cerrar con la frase de abajo, que reconoce el trabajo del Concejo sin militar ninguna posición: prevención local y marco normativo trabajan sobre el mismo problema desde lugares distintos.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 01:11-01:12
Bajar el ritmo. Dejar la lámina en pantalla y hablar sin leerla.
Recuperar las tres cosas anunciadas en la lámina 3: reconocer una señal, hacer una pregunta, saber a quién derivar. Cerrar el círculo explícitamente.
Última frase, mirando a la sala: en Balcarce, ustedes son el primer eslabón.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 01:12 en adelante
Dejar los datos de contacto en pantalla durante las preguntas.
Ofrecer el PDF de la presentación y la lámina de derivación por mail. Es la forma más simple de que el material siga circulando después de la jornada.
Si hay tiempo, abrir preguntas acá. Si no lo hay, ofrecer quedarse al final para consultas individuales, que en este tema suelen ser las más importantes.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DE RESPALDO
No se proyectan. Están para el material impreso y para responder si alguien pide la fuente de un dato.
Si alguien pregunta durante la charla de dónde sale un número, la referencia también está al pie de cada lámina.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DE RESPALDO
Segunda página de referencias. Mismo criterio: no proyectar.
Disponible junto con el PDF de la presentación para quien lo solicite.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5A059"/>
          </a:solidFill>
          <a:ln w="12700">
            <a:solidFill>
              <a:srgbClr val="C5A059"/>
            </a:solidFill>
            <a:prstDash val="solid"/>
          </a:ln>
        </p:spPr>
      </p:sp>
      <p:sp>
        <p:nvSpPr>
          <p:cNvPr id="3" name="Shape 1"/>
          <p:cNvSpPr/>
          <p:nvPr/>
        </p:nvSpPr>
        <p:spPr>
          <a:xfrm>
            <a:off x="5044288" y="1234440"/>
            <a:ext cx="2103120" cy="310896"/>
          </a:xfrm>
          <a:prstGeom prst="rect">
            <a:avLst/>
          </a:prstGeom>
          <a:solidFill>
            <a:srgbClr val="0D1B2A"/>
          </a:solidFill>
          <a:ln w="9525">
            <a:solidFill>
              <a:srgbClr val="C5A059"/>
            </a:solidFill>
            <a:prstDash val="solid"/>
          </a:ln>
        </p:spPr>
      </p:sp>
      <p:sp>
        <p:nvSpPr>
          <p:cNvPr id="4" name="Text 2"/>
          <p:cNvSpPr/>
          <p:nvPr/>
        </p:nvSpPr>
        <p:spPr>
          <a:xfrm>
            <a:off x="5044288" y="1234440"/>
            <a:ext cx="2103120" cy="310896"/>
          </a:xfrm>
          <a:prstGeom prst="rect">
            <a:avLst/>
          </a:prstGeom>
          <a:noFill/>
          <a:ln/>
        </p:spPr>
        <p:txBody>
          <a:bodyPr wrap="square" rtlCol="0" anchor="ctr"/>
          <a:lstStyle/>
          <a:p>
            <a:pPr algn="ctr" indent="0" marL="0">
              <a:buNone/>
            </a:pPr>
            <a:r>
              <a:rPr lang="en-US" sz="950" b="1" spc="140" kern="0" dirty="0">
                <a:solidFill>
                  <a:srgbClr val="C5A059"/>
                </a:solidFill>
                <a:latin typeface="Calibri" pitchFamily="34" charset="0"/>
                <a:ea typeface="Calibri" pitchFamily="34" charset="-122"/>
                <a:cs typeface="Calibri" pitchFamily="34" charset="-120"/>
              </a:rPr>
              <a:t>PROGRAMA CASS</a:t>
            </a:r>
            <a:endParaRPr lang="en-US" sz="950" dirty="0"/>
          </a:p>
        </p:txBody>
      </p:sp>
      <p:sp>
        <p:nvSpPr>
          <p:cNvPr id="5" name="Text 3"/>
          <p:cNvSpPr/>
          <p:nvPr/>
        </p:nvSpPr>
        <p:spPr>
          <a:xfrm>
            <a:off x="1097280" y="1783080"/>
            <a:ext cx="9997135" cy="1737360"/>
          </a:xfrm>
          <a:prstGeom prst="rect">
            <a:avLst/>
          </a:prstGeom>
          <a:noFill/>
          <a:ln/>
        </p:spPr>
        <p:txBody>
          <a:bodyPr wrap="square" rtlCol="0" anchor="ctr"/>
          <a:lstStyle/>
          <a:p>
            <a:pPr algn="ctr" indent="0" marL="0">
              <a:lnSpc>
                <a:spcPct val="105000"/>
              </a:lnSpc>
              <a:buNone/>
            </a:pPr>
            <a:r>
              <a:rPr lang="en-US" sz="4600" b="1" dirty="0">
                <a:solidFill>
                  <a:srgbClr val="FFFFFF"/>
                </a:solidFill>
                <a:latin typeface="Georgia" pitchFamily="34" charset="0"/>
                <a:ea typeface="Georgia" pitchFamily="34" charset="-122"/>
                <a:cs typeface="Georgia" pitchFamily="34" charset="-120"/>
              </a:rPr>
              <a:t>Cuando apostar</a:t>
            </a:r>
            <a:endParaRPr lang="en-US" sz="4600" dirty="0"/>
          </a:p>
          <a:p>
            <a:pPr algn="ctr" indent="0" marL="0">
              <a:lnSpc>
                <a:spcPct val="105000"/>
              </a:lnSpc>
              <a:buNone/>
            </a:pPr>
            <a:r>
              <a:rPr lang="en-US" sz="4600" b="1" dirty="0">
                <a:solidFill>
                  <a:srgbClr val="FFFFFF"/>
                </a:solidFill>
                <a:latin typeface="Georgia" pitchFamily="34" charset="0"/>
                <a:ea typeface="Georgia" pitchFamily="34" charset="-122"/>
                <a:cs typeface="Georgia" pitchFamily="34" charset="-120"/>
              </a:rPr>
              <a:t>deja de ser un juego</a:t>
            </a:r>
            <a:endParaRPr lang="en-US" sz="4600" dirty="0"/>
          </a:p>
        </p:txBody>
      </p:sp>
      <p:sp>
        <p:nvSpPr>
          <p:cNvPr id="6" name="Shape 4"/>
          <p:cNvSpPr/>
          <p:nvPr/>
        </p:nvSpPr>
        <p:spPr>
          <a:xfrm>
            <a:off x="5090008" y="3611880"/>
            <a:ext cx="2011680" cy="20117"/>
          </a:xfrm>
          <a:prstGeom prst="rect">
            <a:avLst/>
          </a:prstGeom>
          <a:solidFill>
            <a:srgbClr val="C5A059"/>
          </a:solidFill>
          <a:ln w="12700">
            <a:solidFill>
              <a:srgbClr val="C5A059"/>
            </a:solidFill>
            <a:prstDash val="solid"/>
          </a:ln>
        </p:spPr>
      </p:sp>
      <p:sp>
        <p:nvSpPr>
          <p:cNvPr id="7" name="Text 5"/>
          <p:cNvSpPr/>
          <p:nvPr/>
        </p:nvSpPr>
        <p:spPr>
          <a:xfrm>
            <a:off x="1097280" y="3794760"/>
            <a:ext cx="9997135" cy="457200"/>
          </a:xfrm>
          <a:prstGeom prst="rect">
            <a:avLst/>
          </a:prstGeom>
          <a:noFill/>
          <a:ln/>
        </p:spPr>
        <p:txBody>
          <a:bodyPr wrap="square" rtlCol="0" anchor="ctr"/>
          <a:lstStyle/>
          <a:p>
            <a:pPr algn="ctr" indent="0" marL="0">
              <a:buNone/>
            </a:pPr>
            <a:r>
              <a:rPr lang="en-US" sz="1900" dirty="0">
                <a:solidFill>
                  <a:srgbClr val="D3E4FB"/>
                </a:solidFill>
                <a:latin typeface="Georgia" pitchFamily="34" charset="0"/>
                <a:ea typeface="Georgia" pitchFamily="34" charset="-122"/>
                <a:cs typeface="Georgia" pitchFamily="34" charset="-120"/>
              </a:rPr>
              <a:t>Detectar, acompañar y derivar: herramientas para el primer eslabón</a:t>
            </a:r>
            <a:endParaRPr lang="en-US" sz="1900" dirty="0"/>
          </a:p>
        </p:txBody>
      </p:sp>
      <p:sp>
        <p:nvSpPr>
          <p:cNvPr id="8" name="Text 6"/>
          <p:cNvSpPr/>
          <p:nvPr/>
        </p:nvSpPr>
        <p:spPr>
          <a:xfrm>
            <a:off x="1097280" y="4709160"/>
            <a:ext cx="9997135" cy="310896"/>
          </a:xfrm>
          <a:prstGeom prst="rect">
            <a:avLst/>
          </a:prstGeom>
          <a:noFill/>
          <a:ln/>
        </p:spPr>
        <p:txBody>
          <a:bodyPr wrap="square" rtlCol="0" anchor="ctr"/>
          <a:lstStyle/>
          <a:p>
            <a:pPr algn="ctr" indent="0" marL="0">
              <a:buNone/>
            </a:pPr>
            <a:r>
              <a:rPr lang="en-US" sz="1300" dirty="0">
                <a:solidFill>
                  <a:srgbClr val="9FB4D4"/>
                </a:solidFill>
                <a:latin typeface="Calibri" pitchFamily="34" charset="0"/>
                <a:ea typeface="Calibri" pitchFamily="34" charset="-122"/>
                <a:cs typeface="Calibri" pitchFamily="34" charset="-120"/>
              </a:rPr>
              <a:t>Concejo Deliberante de Balcarce  ·  martes 18 de agosto de 2026  ·  14:00 a 15:00 h</a:t>
            </a:r>
            <a:endParaRPr lang="en-US" sz="1300" dirty="0"/>
          </a:p>
        </p:txBody>
      </p:sp>
      <p:sp>
        <p:nvSpPr>
          <p:cNvPr id="9" name="Text 7"/>
          <p:cNvSpPr/>
          <p:nvPr/>
        </p:nvSpPr>
        <p:spPr>
          <a:xfrm>
            <a:off x="1097280" y="5029200"/>
            <a:ext cx="9997135" cy="310896"/>
          </a:xfrm>
          <a:prstGeom prst="rect">
            <a:avLst/>
          </a:prstGeom>
          <a:noFill/>
          <a:ln/>
        </p:spPr>
        <p:txBody>
          <a:bodyPr wrap="square" rtlCol="0" anchor="ctr"/>
          <a:lstStyle/>
          <a:p>
            <a:pPr algn="ctr" indent="0" marL="0">
              <a:buNone/>
            </a:pPr>
            <a:r>
              <a:rPr lang="en-US" sz="1300" dirty="0">
                <a:solidFill>
                  <a:srgbClr val="C5A059"/>
                </a:solidFill>
                <a:latin typeface="Calibri" pitchFamily="34" charset="0"/>
                <a:ea typeface="Calibri" pitchFamily="34" charset="-122"/>
                <a:cs typeface="Calibri" pitchFamily="34" charset="-120"/>
              </a:rPr>
              <a:t>Lic. Alejandro G. Sánchez — Director del Programa CASS</a:t>
            </a:r>
            <a:endParaRPr lang="en-US" sz="1300" dirty="0"/>
          </a:p>
        </p:txBody>
      </p:sp>
      <p:sp>
        <p:nvSpPr>
          <p:cNvPr id="10" name="Text 8"/>
          <p:cNvSpPr/>
          <p:nvPr/>
        </p:nvSpPr>
        <p:spPr>
          <a:xfrm>
            <a:off x="1097280" y="5943600"/>
            <a:ext cx="9997135" cy="310896"/>
          </a:xfrm>
          <a:prstGeom prst="rect">
            <a:avLst/>
          </a:prstGeom>
          <a:noFill/>
          <a:ln/>
        </p:spPr>
        <p:txBody>
          <a:bodyPr wrap="square" rtlCol="0" anchor="ctr"/>
          <a:lstStyle/>
          <a:p>
            <a:pPr algn="ctr" indent="0" marL="0">
              <a:buNone/>
            </a:pPr>
            <a:r>
              <a:rPr lang="en-US" sz="1050" dirty="0">
                <a:solidFill>
                  <a:srgbClr val="7C90AC"/>
                </a:solidFill>
                <a:latin typeface="Calibri" pitchFamily="34" charset="0"/>
                <a:ea typeface="Calibri" pitchFamily="34" charset="-122"/>
                <a:cs typeface="Calibri" pitchFamily="34" charset="-120"/>
              </a:rPr>
              <a:t>Conductas Adictivas Sin Sustancia  ·  Mar del Plata, desde 2007  ·  programacass.com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QUIÉNES SOMOS</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Programa CASS</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Text 3"/>
          <p:cNvSpPr/>
          <p:nvPr/>
        </p:nvSpPr>
        <p:spPr>
          <a:xfrm>
            <a:off x="685800" y="1572768"/>
            <a:ext cx="10820095" cy="365760"/>
          </a:xfrm>
          <a:prstGeom prst="rect">
            <a:avLst/>
          </a:prstGeom>
          <a:noFill/>
          <a:ln/>
        </p:spPr>
        <p:txBody>
          <a:bodyPr wrap="square" rtlCol="0" anchor="ctr"/>
          <a:lstStyle/>
          <a:p>
            <a:pPr indent="0" marL="0">
              <a:buNone/>
            </a:pPr>
            <a:r>
              <a:rPr lang="en-US" sz="1500" i="1" dirty="0">
                <a:solidFill>
                  <a:srgbClr val="9FB4D4"/>
                </a:solidFill>
                <a:latin typeface="Calibri" pitchFamily="34" charset="0"/>
                <a:ea typeface="Calibri" pitchFamily="34" charset="-122"/>
                <a:cs typeface="Calibri" pitchFamily="34" charset="-120"/>
              </a:rPr>
              <a:t>Investigación, tratamiento y prevención de conductas adictivas sin sustancia. Mar del Plata, desde 2007.</a:t>
            </a:r>
            <a:endParaRPr lang="en-US" sz="1500" dirty="0"/>
          </a:p>
        </p:txBody>
      </p:sp>
      <p:sp>
        <p:nvSpPr>
          <p:cNvPr id="6" name="Shape 4"/>
          <p:cNvSpPr/>
          <p:nvPr/>
        </p:nvSpPr>
        <p:spPr>
          <a:xfrm>
            <a:off x="685800" y="2286000"/>
            <a:ext cx="2430704" cy="2377440"/>
          </a:xfrm>
          <a:prstGeom prst="rect">
            <a:avLst/>
          </a:prstGeom>
          <a:solidFill>
            <a:srgbClr val="16304C"/>
          </a:solidFill>
          <a:ln w="12700">
            <a:solidFill>
              <a:srgbClr val="16304C"/>
            </a:solidFill>
            <a:prstDash val="solid"/>
          </a:ln>
        </p:spPr>
      </p:sp>
      <p:sp>
        <p:nvSpPr>
          <p:cNvPr id="7" name="Shape 5"/>
          <p:cNvSpPr/>
          <p:nvPr/>
        </p:nvSpPr>
        <p:spPr>
          <a:xfrm>
            <a:off x="685800" y="2286000"/>
            <a:ext cx="45720" cy="2377440"/>
          </a:xfrm>
          <a:prstGeom prst="rect">
            <a:avLst/>
          </a:prstGeom>
          <a:solidFill>
            <a:srgbClr val="C5A059"/>
          </a:solidFill>
          <a:ln w="12700">
            <a:solidFill>
              <a:srgbClr val="C5A059"/>
            </a:solidFill>
            <a:prstDash val="solid"/>
          </a:ln>
        </p:spPr>
      </p:sp>
      <p:sp>
        <p:nvSpPr>
          <p:cNvPr id="8" name="Text 6"/>
          <p:cNvSpPr/>
          <p:nvPr/>
        </p:nvSpPr>
        <p:spPr>
          <a:xfrm>
            <a:off x="941832" y="2468880"/>
            <a:ext cx="1973504"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EJE 1 — ASISTENCIAL</a:t>
            </a:r>
            <a:endParaRPr lang="en-US" sz="1100" dirty="0"/>
          </a:p>
        </p:txBody>
      </p:sp>
      <p:sp>
        <p:nvSpPr>
          <p:cNvPr id="9" name="Text 7"/>
          <p:cNvSpPr/>
          <p:nvPr/>
        </p:nvSpPr>
        <p:spPr>
          <a:xfrm>
            <a:off x="941832" y="2816352"/>
            <a:ext cx="1927784" cy="169164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Evaluación clínica, diagnóstico diferencial y tratamiento individualizado. Orientación a familias y prevención de recaídas.</a:t>
            </a:r>
            <a:endParaRPr lang="en-US" sz="1250" dirty="0"/>
          </a:p>
        </p:txBody>
      </p:sp>
      <p:sp>
        <p:nvSpPr>
          <p:cNvPr id="10" name="Shape 8"/>
          <p:cNvSpPr/>
          <p:nvPr/>
        </p:nvSpPr>
        <p:spPr>
          <a:xfrm>
            <a:off x="3482264" y="2286000"/>
            <a:ext cx="2430704" cy="2377440"/>
          </a:xfrm>
          <a:prstGeom prst="rect">
            <a:avLst/>
          </a:prstGeom>
          <a:solidFill>
            <a:srgbClr val="16304C"/>
          </a:solidFill>
          <a:ln w="12700">
            <a:solidFill>
              <a:srgbClr val="16304C"/>
            </a:solidFill>
            <a:prstDash val="solid"/>
          </a:ln>
        </p:spPr>
      </p:sp>
      <p:sp>
        <p:nvSpPr>
          <p:cNvPr id="11" name="Shape 9"/>
          <p:cNvSpPr/>
          <p:nvPr/>
        </p:nvSpPr>
        <p:spPr>
          <a:xfrm>
            <a:off x="3482264" y="2286000"/>
            <a:ext cx="45720" cy="2377440"/>
          </a:xfrm>
          <a:prstGeom prst="rect">
            <a:avLst/>
          </a:prstGeom>
          <a:solidFill>
            <a:srgbClr val="C5A059"/>
          </a:solidFill>
          <a:ln w="12700">
            <a:solidFill>
              <a:srgbClr val="C5A059"/>
            </a:solidFill>
            <a:prstDash val="solid"/>
          </a:ln>
        </p:spPr>
      </p:sp>
      <p:sp>
        <p:nvSpPr>
          <p:cNvPr id="12" name="Text 10"/>
          <p:cNvSpPr/>
          <p:nvPr/>
        </p:nvSpPr>
        <p:spPr>
          <a:xfrm>
            <a:off x="3738296" y="2468880"/>
            <a:ext cx="1973504"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EJE 2 — INVESTIGACIÓN</a:t>
            </a:r>
            <a:endParaRPr lang="en-US" sz="1100" dirty="0"/>
          </a:p>
        </p:txBody>
      </p:sp>
      <p:sp>
        <p:nvSpPr>
          <p:cNvPr id="13" name="Text 11"/>
          <p:cNvSpPr/>
          <p:nvPr/>
        </p:nvSpPr>
        <p:spPr>
          <a:xfrm>
            <a:off x="3738296" y="2816352"/>
            <a:ext cx="1927784" cy="169164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Registro sistemático de casos, seguimiento de resultados y revisión permanente de evidencia actualizada.</a:t>
            </a:r>
            <a:endParaRPr lang="en-US" sz="1250" dirty="0"/>
          </a:p>
        </p:txBody>
      </p:sp>
      <p:sp>
        <p:nvSpPr>
          <p:cNvPr id="14" name="Shape 12"/>
          <p:cNvSpPr/>
          <p:nvPr/>
        </p:nvSpPr>
        <p:spPr>
          <a:xfrm>
            <a:off x="6278728" y="2286000"/>
            <a:ext cx="2430704" cy="2377440"/>
          </a:xfrm>
          <a:prstGeom prst="rect">
            <a:avLst/>
          </a:prstGeom>
          <a:solidFill>
            <a:srgbClr val="16304C"/>
          </a:solidFill>
          <a:ln w="12700">
            <a:solidFill>
              <a:srgbClr val="16304C"/>
            </a:solidFill>
            <a:prstDash val="solid"/>
          </a:ln>
        </p:spPr>
      </p:sp>
      <p:sp>
        <p:nvSpPr>
          <p:cNvPr id="15" name="Shape 13"/>
          <p:cNvSpPr/>
          <p:nvPr/>
        </p:nvSpPr>
        <p:spPr>
          <a:xfrm>
            <a:off x="6278728" y="2286000"/>
            <a:ext cx="45720" cy="2377440"/>
          </a:xfrm>
          <a:prstGeom prst="rect">
            <a:avLst/>
          </a:prstGeom>
          <a:solidFill>
            <a:srgbClr val="C5A059"/>
          </a:solidFill>
          <a:ln w="12700">
            <a:solidFill>
              <a:srgbClr val="C5A059"/>
            </a:solidFill>
            <a:prstDash val="solid"/>
          </a:ln>
        </p:spPr>
      </p:sp>
      <p:sp>
        <p:nvSpPr>
          <p:cNvPr id="16" name="Text 14"/>
          <p:cNvSpPr/>
          <p:nvPr/>
        </p:nvSpPr>
        <p:spPr>
          <a:xfrm>
            <a:off x="6534760" y="2468880"/>
            <a:ext cx="1973504"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EJE 3 — PREVENCIÓN Y COMUNIDAD</a:t>
            </a:r>
            <a:endParaRPr lang="en-US" sz="1100" dirty="0"/>
          </a:p>
        </p:txBody>
      </p:sp>
      <p:sp>
        <p:nvSpPr>
          <p:cNvPr id="17" name="Text 15"/>
          <p:cNvSpPr/>
          <p:nvPr/>
        </p:nvSpPr>
        <p:spPr>
          <a:xfrm>
            <a:off x="6534760" y="2816352"/>
            <a:ext cx="1927784" cy="169164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Charlas y talleres para familias, docentes y vecinos. Articulación con instituciones educativas y de salud.</a:t>
            </a:r>
            <a:endParaRPr lang="en-US" sz="1250" dirty="0"/>
          </a:p>
        </p:txBody>
      </p:sp>
      <p:sp>
        <p:nvSpPr>
          <p:cNvPr id="18" name="Shape 16"/>
          <p:cNvSpPr/>
          <p:nvPr/>
        </p:nvSpPr>
        <p:spPr>
          <a:xfrm>
            <a:off x="9075191" y="2286000"/>
            <a:ext cx="2430704" cy="2377440"/>
          </a:xfrm>
          <a:prstGeom prst="rect">
            <a:avLst/>
          </a:prstGeom>
          <a:solidFill>
            <a:srgbClr val="16304C"/>
          </a:solidFill>
          <a:ln w="12700">
            <a:solidFill>
              <a:srgbClr val="16304C"/>
            </a:solidFill>
            <a:prstDash val="solid"/>
          </a:ln>
        </p:spPr>
      </p:sp>
      <p:sp>
        <p:nvSpPr>
          <p:cNvPr id="19" name="Shape 17"/>
          <p:cNvSpPr/>
          <p:nvPr/>
        </p:nvSpPr>
        <p:spPr>
          <a:xfrm>
            <a:off x="9075191" y="2286000"/>
            <a:ext cx="45720" cy="2377440"/>
          </a:xfrm>
          <a:prstGeom prst="rect">
            <a:avLst/>
          </a:prstGeom>
          <a:solidFill>
            <a:srgbClr val="C5A059"/>
          </a:solidFill>
          <a:ln w="12700">
            <a:solidFill>
              <a:srgbClr val="C5A059"/>
            </a:solidFill>
            <a:prstDash val="solid"/>
          </a:ln>
        </p:spPr>
      </p:sp>
      <p:sp>
        <p:nvSpPr>
          <p:cNvPr id="20" name="Text 18"/>
          <p:cNvSpPr/>
          <p:nvPr/>
        </p:nvSpPr>
        <p:spPr>
          <a:xfrm>
            <a:off x="9331223" y="2468880"/>
            <a:ext cx="1973504"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EJE 4 — FORMACIÓN PROFESIONAL</a:t>
            </a:r>
            <a:endParaRPr lang="en-US" sz="1100" dirty="0"/>
          </a:p>
        </p:txBody>
      </p:sp>
      <p:sp>
        <p:nvSpPr>
          <p:cNvPr id="21" name="Text 19"/>
          <p:cNvSpPr/>
          <p:nvPr/>
        </p:nvSpPr>
        <p:spPr>
          <a:xfrm>
            <a:off x="9331223" y="2816352"/>
            <a:ext cx="1927784" cy="169164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Capacitación e intercambio con colegas. Protocolos de derivación y fortalecimiento de la red local.</a:t>
            </a:r>
            <a:endParaRPr lang="en-US" sz="1250" dirty="0"/>
          </a:p>
        </p:txBody>
      </p:sp>
      <p:sp>
        <p:nvSpPr>
          <p:cNvPr id="22" name="Text 20"/>
          <p:cNvSpPr/>
          <p:nvPr/>
        </p:nvSpPr>
        <p:spPr>
          <a:xfrm>
            <a:off x="685800" y="4937760"/>
            <a:ext cx="10820095" cy="365760"/>
          </a:xfrm>
          <a:prstGeom prst="rect">
            <a:avLst/>
          </a:prstGeom>
          <a:noFill/>
          <a:ln/>
        </p:spPr>
        <p:txBody>
          <a:bodyPr wrap="square" rtlCol="0" anchor="ctr"/>
          <a:lstStyle/>
          <a:p>
            <a:pPr indent="0" marL="0">
              <a:buNone/>
            </a:pPr>
            <a:r>
              <a:rPr lang="en-US" sz="1250" i="1" dirty="0">
                <a:solidFill>
                  <a:srgbClr val="9FB4D4"/>
                </a:solidFill>
                <a:latin typeface="Calibri" pitchFamily="34" charset="0"/>
                <a:ea typeface="Calibri" pitchFamily="34" charset="-122"/>
                <a:cs typeface="Calibri" pitchFamily="34" charset="-120"/>
              </a:rPr>
              <a:t>Articulado con el Colegio de Psicólogos de la Provincia de Buenos Aires Distrito X, Consultorios FADE y Consultorios Lucero.</a:t>
            </a:r>
            <a:endParaRPr lang="en-US" sz="1250" dirty="0"/>
          </a:p>
        </p:txBody>
      </p:sp>
      <p:sp>
        <p:nvSpPr>
          <p:cNvPr id="23" name="Shape 21"/>
          <p:cNvSpPr/>
          <p:nvPr/>
        </p:nvSpPr>
        <p:spPr>
          <a:xfrm>
            <a:off x="685800" y="5532120"/>
            <a:ext cx="1371600" cy="20117"/>
          </a:xfrm>
          <a:prstGeom prst="rect">
            <a:avLst/>
          </a:prstGeom>
          <a:solidFill>
            <a:srgbClr val="C5A059"/>
          </a:solidFill>
          <a:ln w="12700">
            <a:solidFill>
              <a:srgbClr val="C5A059"/>
            </a:solidFill>
            <a:prstDash val="solid"/>
          </a:ln>
        </p:spPr>
      </p:sp>
      <p:sp>
        <p:nvSpPr>
          <p:cNvPr id="24" name="Text 22"/>
          <p:cNvSpPr/>
          <p:nvPr/>
        </p:nvSpPr>
        <p:spPr>
          <a:xfrm>
            <a:off x="685800" y="5669280"/>
            <a:ext cx="10820095" cy="457200"/>
          </a:xfrm>
          <a:prstGeom prst="rect">
            <a:avLst/>
          </a:prstGeom>
          <a:noFill/>
          <a:ln/>
        </p:spPr>
        <p:txBody>
          <a:bodyPr wrap="square" rtlCol="0" anchor="ctr"/>
          <a:lstStyle/>
          <a:p>
            <a:pPr indent="0" marL="0">
              <a:buNone/>
            </a:pPr>
            <a:r>
              <a:rPr lang="en-US" sz="1500" i="1" dirty="0">
                <a:solidFill>
                  <a:srgbClr val="E0C68A"/>
                </a:solidFill>
                <a:latin typeface="Georgia" pitchFamily="34" charset="0"/>
                <a:ea typeface="Georgia" pitchFamily="34" charset="-122"/>
                <a:cs typeface="Georgia" pitchFamily="34" charset="-120"/>
              </a:rPr>
              <a:t>Hoy venimos con el eje 3 y el eje 4: lo que ustedes pueden hacer desde su lugar, y a quién llamar cuando eso ya no alcanza.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ENCUADRE</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De qué vamos a hablar y de qué no</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828800"/>
            <a:ext cx="10820095" cy="1234440"/>
          </a:xfrm>
          <a:prstGeom prst="rect">
            <a:avLst/>
          </a:prstGeom>
          <a:solidFill>
            <a:srgbClr val="16304C"/>
          </a:solidFill>
          <a:ln w="12700">
            <a:solidFill>
              <a:srgbClr val="16304C"/>
            </a:solidFill>
            <a:prstDash val="solid"/>
          </a:ln>
        </p:spPr>
      </p:sp>
      <p:sp>
        <p:nvSpPr>
          <p:cNvPr id="6" name="Shape 4"/>
          <p:cNvSpPr/>
          <p:nvPr/>
        </p:nvSpPr>
        <p:spPr>
          <a:xfrm>
            <a:off x="685800" y="1828800"/>
            <a:ext cx="45720" cy="1234440"/>
          </a:xfrm>
          <a:prstGeom prst="rect">
            <a:avLst/>
          </a:prstGeom>
          <a:solidFill>
            <a:srgbClr val="C5A059"/>
          </a:solidFill>
          <a:ln w="12700">
            <a:solidFill>
              <a:srgbClr val="C5A059"/>
            </a:solidFill>
            <a:prstDash val="solid"/>
          </a:ln>
        </p:spPr>
      </p:sp>
      <p:sp>
        <p:nvSpPr>
          <p:cNvPr id="7" name="Text 5"/>
          <p:cNvSpPr/>
          <p:nvPr/>
        </p:nvSpPr>
        <p:spPr>
          <a:xfrm>
            <a:off x="1005840" y="1975104"/>
            <a:ext cx="10180015" cy="667512"/>
          </a:xfrm>
          <a:prstGeom prst="rect">
            <a:avLst/>
          </a:prstGeom>
          <a:noFill/>
          <a:ln/>
        </p:spPr>
        <p:txBody>
          <a:bodyPr wrap="square" rtlCol="0" anchor="ctr"/>
          <a:lstStyle/>
          <a:p>
            <a:pPr indent="0" marL="0">
              <a:lnSpc>
                <a:spcPct val="125000"/>
              </a:lnSpc>
              <a:buNone/>
            </a:pPr>
            <a:r>
              <a:rPr lang="en-US" sz="1900" i="1" dirty="0">
                <a:solidFill>
                  <a:srgbClr val="FFFFFF"/>
                </a:solidFill>
                <a:latin typeface="Georgia" pitchFamily="34" charset="0"/>
                <a:ea typeface="Georgia" pitchFamily="34" charset="-122"/>
                <a:cs typeface="Georgia" pitchFamily="34" charset="-120"/>
              </a:rPr>
              <a:t>“Hoy no vamos a discutir si el juego es bueno o malo. Vamos a hablar de qué hacemos nosotros, desde nuestro lugar, cuando lo vemos aparecer en un adolescente.”</a:t>
            </a:r>
            <a:endParaRPr lang="en-US" sz="1900" dirty="0"/>
          </a:p>
        </p:txBody>
      </p:sp>
      <p:sp>
        <p:nvSpPr>
          <p:cNvPr id="8" name="Text 6"/>
          <p:cNvSpPr/>
          <p:nvPr/>
        </p:nvSpPr>
        <p:spPr>
          <a:xfrm>
            <a:off x="1005840" y="2624328"/>
            <a:ext cx="10180015" cy="292608"/>
          </a:xfrm>
          <a:prstGeom prst="rect">
            <a:avLst/>
          </a:prstGeom>
          <a:noFill/>
          <a:ln/>
        </p:spPr>
        <p:txBody>
          <a:bodyPr wrap="square" rtlCol="0" anchor="ctr"/>
          <a:lstStyle/>
          <a:p>
            <a:pPr indent="0" marL="0">
              <a:buNone/>
            </a:pPr>
            <a:endParaRPr lang="en-US" sz="1100" dirty="0"/>
          </a:p>
        </p:txBody>
      </p:sp>
      <p:sp>
        <p:nvSpPr>
          <p:cNvPr id="9" name="Text 7"/>
          <p:cNvSpPr/>
          <p:nvPr/>
        </p:nvSpPr>
        <p:spPr>
          <a:xfrm>
            <a:off x="685800" y="3383280"/>
            <a:ext cx="10820095" cy="365760"/>
          </a:xfrm>
          <a:prstGeom prst="rect">
            <a:avLst/>
          </a:prstGeom>
          <a:noFill/>
          <a:ln/>
        </p:spPr>
        <p:txBody>
          <a:bodyPr wrap="square" rtlCol="0" anchor="ctr"/>
          <a:lstStyle/>
          <a:p>
            <a:pPr indent="0" marL="0">
              <a:buNone/>
            </a:pPr>
            <a:r>
              <a:rPr lang="en-US" sz="1400" b="1" dirty="0">
                <a:solidFill>
                  <a:srgbClr val="C5A059"/>
                </a:solidFill>
                <a:latin typeface="Calibri" pitchFamily="34" charset="0"/>
                <a:ea typeface="Calibri" pitchFamily="34" charset="-122"/>
                <a:cs typeface="Calibri" pitchFamily="34" charset="-120"/>
              </a:rPr>
              <a:t>Tres cosas para llevarse de esta hora</a:t>
            </a:r>
            <a:endParaRPr lang="en-US" sz="1400" dirty="0"/>
          </a:p>
        </p:txBody>
      </p:sp>
      <p:sp>
        <p:nvSpPr>
          <p:cNvPr id="10" name="Shape 8"/>
          <p:cNvSpPr/>
          <p:nvPr/>
        </p:nvSpPr>
        <p:spPr>
          <a:xfrm>
            <a:off x="685800" y="3886200"/>
            <a:ext cx="3301898" cy="1828800"/>
          </a:xfrm>
          <a:prstGeom prst="rect">
            <a:avLst/>
          </a:prstGeom>
          <a:solidFill>
            <a:srgbClr val="16304C"/>
          </a:solidFill>
          <a:ln w="12700">
            <a:solidFill>
              <a:srgbClr val="16304C"/>
            </a:solidFill>
            <a:prstDash val="solid"/>
          </a:ln>
        </p:spPr>
      </p:sp>
      <p:sp>
        <p:nvSpPr>
          <p:cNvPr id="11" name="Text 9"/>
          <p:cNvSpPr/>
          <p:nvPr/>
        </p:nvSpPr>
        <p:spPr>
          <a:xfrm>
            <a:off x="960120" y="4023360"/>
            <a:ext cx="914400" cy="457200"/>
          </a:xfrm>
          <a:prstGeom prst="rect">
            <a:avLst/>
          </a:prstGeom>
          <a:noFill/>
          <a:ln/>
        </p:spPr>
        <p:txBody>
          <a:bodyPr wrap="square" rtlCol="0" anchor="ctr"/>
          <a:lstStyle/>
          <a:p>
            <a:pPr indent="0" marL="0">
              <a:buNone/>
            </a:pPr>
            <a:r>
              <a:rPr lang="en-US" sz="2400" b="1" dirty="0">
                <a:solidFill>
                  <a:srgbClr val="C5A059"/>
                </a:solidFill>
                <a:latin typeface="Georgia" pitchFamily="34" charset="0"/>
                <a:ea typeface="Georgia" pitchFamily="34" charset="-122"/>
                <a:cs typeface="Georgia" pitchFamily="34" charset="-120"/>
              </a:rPr>
              <a:t>01</a:t>
            </a:r>
            <a:endParaRPr lang="en-US" sz="2400" dirty="0"/>
          </a:p>
        </p:txBody>
      </p:sp>
      <p:sp>
        <p:nvSpPr>
          <p:cNvPr id="12" name="Text 10"/>
          <p:cNvSpPr/>
          <p:nvPr/>
        </p:nvSpPr>
        <p:spPr>
          <a:xfrm>
            <a:off x="960120" y="4526280"/>
            <a:ext cx="2753258" cy="36576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Reconocer una señal</a:t>
            </a:r>
            <a:endParaRPr lang="en-US" sz="1600" dirty="0"/>
          </a:p>
        </p:txBody>
      </p:sp>
      <p:sp>
        <p:nvSpPr>
          <p:cNvPr id="13" name="Text 11"/>
          <p:cNvSpPr/>
          <p:nvPr/>
        </p:nvSpPr>
        <p:spPr>
          <a:xfrm>
            <a:off x="960120" y="4937760"/>
            <a:ext cx="2753258" cy="685800"/>
          </a:xfrm>
          <a:prstGeom prst="rect">
            <a:avLst/>
          </a:prstGeom>
          <a:noFill/>
          <a:ln/>
        </p:spPr>
        <p:txBody>
          <a:bodyPr wrap="square" rtlCol="0" anchor="ctr"/>
          <a:lstStyle/>
          <a:p>
            <a:pPr indent="0" marL="0">
              <a:lnSpc>
                <a:spcPct val="120000"/>
              </a:lnSpc>
              <a:buNone/>
            </a:pPr>
            <a:r>
              <a:rPr lang="en-US" sz="1250" dirty="0">
                <a:solidFill>
                  <a:srgbClr val="9FB4D4"/>
                </a:solidFill>
                <a:latin typeface="Calibri" pitchFamily="34" charset="0"/>
                <a:ea typeface="Calibri" pitchFamily="34" charset="-122"/>
                <a:cs typeface="Calibri" pitchFamily="34" charset="-120"/>
              </a:rPr>
              <a:t>Saber qué mirar en el aula, el club, la parroquia o el consultorio.</a:t>
            </a:r>
            <a:endParaRPr lang="en-US" sz="1250" dirty="0"/>
          </a:p>
        </p:txBody>
      </p:sp>
      <p:sp>
        <p:nvSpPr>
          <p:cNvPr id="14" name="Shape 12"/>
          <p:cNvSpPr/>
          <p:nvPr/>
        </p:nvSpPr>
        <p:spPr>
          <a:xfrm>
            <a:off x="4444898" y="3886200"/>
            <a:ext cx="3301898" cy="1828800"/>
          </a:xfrm>
          <a:prstGeom prst="rect">
            <a:avLst/>
          </a:prstGeom>
          <a:solidFill>
            <a:srgbClr val="16304C"/>
          </a:solidFill>
          <a:ln w="12700">
            <a:solidFill>
              <a:srgbClr val="16304C"/>
            </a:solidFill>
            <a:prstDash val="solid"/>
          </a:ln>
        </p:spPr>
      </p:sp>
      <p:sp>
        <p:nvSpPr>
          <p:cNvPr id="15" name="Text 13"/>
          <p:cNvSpPr/>
          <p:nvPr/>
        </p:nvSpPr>
        <p:spPr>
          <a:xfrm>
            <a:off x="4719218" y="4023360"/>
            <a:ext cx="914400" cy="457200"/>
          </a:xfrm>
          <a:prstGeom prst="rect">
            <a:avLst/>
          </a:prstGeom>
          <a:noFill/>
          <a:ln/>
        </p:spPr>
        <p:txBody>
          <a:bodyPr wrap="square" rtlCol="0" anchor="ctr"/>
          <a:lstStyle/>
          <a:p>
            <a:pPr indent="0" marL="0">
              <a:buNone/>
            </a:pPr>
            <a:r>
              <a:rPr lang="en-US" sz="2400" b="1" dirty="0">
                <a:solidFill>
                  <a:srgbClr val="C5A059"/>
                </a:solidFill>
                <a:latin typeface="Georgia" pitchFamily="34" charset="0"/>
                <a:ea typeface="Georgia" pitchFamily="34" charset="-122"/>
                <a:cs typeface="Georgia" pitchFamily="34" charset="-120"/>
              </a:rPr>
              <a:t>02</a:t>
            </a:r>
            <a:endParaRPr lang="en-US" sz="2400" dirty="0"/>
          </a:p>
        </p:txBody>
      </p:sp>
      <p:sp>
        <p:nvSpPr>
          <p:cNvPr id="16" name="Text 14"/>
          <p:cNvSpPr/>
          <p:nvPr/>
        </p:nvSpPr>
        <p:spPr>
          <a:xfrm>
            <a:off x="4719218" y="4526280"/>
            <a:ext cx="2753258" cy="36576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Hacer una pregunta</a:t>
            </a:r>
            <a:endParaRPr lang="en-US" sz="1600" dirty="0"/>
          </a:p>
        </p:txBody>
      </p:sp>
      <p:sp>
        <p:nvSpPr>
          <p:cNvPr id="17" name="Text 15"/>
          <p:cNvSpPr/>
          <p:nvPr/>
        </p:nvSpPr>
        <p:spPr>
          <a:xfrm>
            <a:off x="4719218" y="4937760"/>
            <a:ext cx="2753258" cy="685800"/>
          </a:xfrm>
          <a:prstGeom prst="rect">
            <a:avLst/>
          </a:prstGeom>
          <a:noFill/>
          <a:ln/>
        </p:spPr>
        <p:txBody>
          <a:bodyPr wrap="square" rtlCol="0" anchor="ctr"/>
          <a:lstStyle/>
          <a:p>
            <a:pPr indent="0" marL="0">
              <a:lnSpc>
                <a:spcPct val="120000"/>
              </a:lnSpc>
              <a:buNone/>
            </a:pPr>
            <a:r>
              <a:rPr lang="en-US" sz="1250" dirty="0">
                <a:solidFill>
                  <a:srgbClr val="9FB4D4"/>
                </a:solidFill>
                <a:latin typeface="Calibri" pitchFamily="34" charset="0"/>
                <a:ea typeface="Calibri" pitchFamily="34" charset="-122"/>
                <a:cs typeface="Calibri" pitchFamily="34" charset="-120"/>
              </a:rPr>
              <a:t>Dos preguntas de cribado que cualquier adulto referente puede hacer.</a:t>
            </a:r>
            <a:endParaRPr lang="en-US" sz="1250" dirty="0"/>
          </a:p>
        </p:txBody>
      </p:sp>
      <p:sp>
        <p:nvSpPr>
          <p:cNvPr id="18" name="Shape 16"/>
          <p:cNvSpPr/>
          <p:nvPr/>
        </p:nvSpPr>
        <p:spPr>
          <a:xfrm>
            <a:off x="8203997" y="3886200"/>
            <a:ext cx="3301898" cy="1828800"/>
          </a:xfrm>
          <a:prstGeom prst="rect">
            <a:avLst/>
          </a:prstGeom>
          <a:solidFill>
            <a:srgbClr val="16304C"/>
          </a:solidFill>
          <a:ln w="12700">
            <a:solidFill>
              <a:srgbClr val="16304C"/>
            </a:solidFill>
            <a:prstDash val="solid"/>
          </a:ln>
        </p:spPr>
      </p:sp>
      <p:sp>
        <p:nvSpPr>
          <p:cNvPr id="19" name="Text 17"/>
          <p:cNvSpPr/>
          <p:nvPr/>
        </p:nvSpPr>
        <p:spPr>
          <a:xfrm>
            <a:off x="8478317" y="4023360"/>
            <a:ext cx="914400" cy="457200"/>
          </a:xfrm>
          <a:prstGeom prst="rect">
            <a:avLst/>
          </a:prstGeom>
          <a:noFill/>
          <a:ln/>
        </p:spPr>
        <p:txBody>
          <a:bodyPr wrap="square" rtlCol="0" anchor="ctr"/>
          <a:lstStyle/>
          <a:p>
            <a:pPr indent="0" marL="0">
              <a:buNone/>
            </a:pPr>
            <a:r>
              <a:rPr lang="en-US" sz="2400" b="1" dirty="0">
                <a:solidFill>
                  <a:srgbClr val="C5A059"/>
                </a:solidFill>
                <a:latin typeface="Georgia" pitchFamily="34" charset="0"/>
                <a:ea typeface="Georgia" pitchFamily="34" charset="-122"/>
                <a:cs typeface="Georgia" pitchFamily="34" charset="-120"/>
              </a:rPr>
              <a:t>03</a:t>
            </a:r>
            <a:endParaRPr lang="en-US" sz="2400" dirty="0"/>
          </a:p>
        </p:txBody>
      </p:sp>
      <p:sp>
        <p:nvSpPr>
          <p:cNvPr id="20" name="Text 18"/>
          <p:cNvSpPr/>
          <p:nvPr/>
        </p:nvSpPr>
        <p:spPr>
          <a:xfrm>
            <a:off x="8478317" y="4526280"/>
            <a:ext cx="2753258" cy="36576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Saber a quién derivar</a:t>
            </a:r>
            <a:endParaRPr lang="en-US" sz="1600" dirty="0"/>
          </a:p>
        </p:txBody>
      </p:sp>
      <p:sp>
        <p:nvSpPr>
          <p:cNvPr id="21" name="Text 19"/>
          <p:cNvSpPr/>
          <p:nvPr/>
        </p:nvSpPr>
        <p:spPr>
          <a:xfrm>
            <a:off x="8478317" y="4937760"/>
            <a:ext cx="2753258" cy="685800"/>
          </a:xfrm>
          <a:prstGeom prst="rect">
            <a:avLst/>
          </a:prstGeom>
          <a:noFill/>
          <a:ln/>
        </p:spPr>
        <p:txBody>
          <a:bodyPr wrap="square" rtlCol="0" anchor="ctr"/>
          <a:lstStyle/>
          <a:p>
            <a:pPr indent="0" marL="0">
              <a:lnSpc>
                <a:spcPct val="120000"/>
              </a:lnSpc>
              <a:buNone/>
            </a:pPr>
            <a:r>
              <a:rPr lang="en-US" sz="1250" dirty="0">
                <a:solidFill>
                  <a:srgbClr val="9FB4D4"/>
                </a:solidFill>
                <a:latin typeface="Calibri" pitchFamily="34" charset="0"/>
                <a:ea typeface="Calibri" pitchFamily="34" charset="-122"/>
                <a:cs typeface="Calibri" pitchFamily="34" charset="-120"/>
              </a:rPr>
              <a:t>Un circuito concreto, con nombres, direcciones y teléfonos.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POR QUÉ ACÁ, POR QUÉ USTEDES</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El problema se ve primero fuera del consultorio</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965960"/>
            <a:ext cx="5181448" cy="2926080"/>
          </a:xfrm>
          <a:prstGeom prst="rect">
            <a:avLst/>
          </a:prstGeom>
          <a:solidFill>
            <a:srgbClr val="16304C"/>
          </a:solidFill>
          <a:ln w="12700">
            <a:solidFill>
              <a:srgbClr val="16304C"/>
            </a:solidFill>
            <a:prstDash val="solid"/>
          </a:ln>
        </p:spPr>
      </p:sp>
      <p:sp>
        <p:nvSpPr>
          <p:cNvPr id="6" name="Shape 4"/>
          <p:cNvSpPr/>
          <p:nvPr/>
        </p:nvSpPr>
        <p:spPr>
          <a:xfrm>
            <a:off x="685800" y="1965960"/>
            <a:ext cx="45720" cy="2926080"/>
          </a:xfrm>
          <a:prstGeom prst="rect">
            <a:avLst/>
          </a:prstGeom>
          <a:solidFill>
            <a:srgbClr val="C5A059"/>
          </a:solidFill>
          <a:ln w="12700">
            <a:solidFill>
              <a:srgbClr val="C5A059"/>
            </a:solidFill>
            <a:prstDash val="solid"/>
          </a:ln>
        </p:spPr>
      </p:sp>
      <p:sp>
        <p:nvSpPr>
          <p:cNvPr id="7" name="Text 5"/>
          <p:cNvSpPr/>
          <p:nvPr/>
        </p:nvSpPr>
        <p:spPr>
          <a:xfrm>
            <a:off x="941832" y="2148840"/>
            <a:ext cx="472424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LA SITUACIÓN DE BALCARCE</a:t>
            </a:r>
            <a:endParaRPr lang="en-US" sz="1100" dirty="0"/>
          </a:p>
        </p:txBody>
      </p:sp>
      <p:sp>
        <p:nvSpPr>
          <p:cNvPr id="8" name="Text 6"/>
          <p:cNvSpPr/>
          <p:nvPr/>
        </p:nvSpPr>
        <p:spPr>
          <a:xfrm>
            <a:off x="941832" y="2496312"/>
            <a:ext cx="4678528" cy="2240280"/>
          </a:xfrm>
          <a:prstGeom prst="rect">
            <a:avLst/>
          </a:prstGeom>
          <a:noFill/>
          <a:ln/>
        </p:spPr>
        <p:txBody>
          <a:bodyPr wrap="square" rtlCol="0" anchor="t"/>
          <a:lstStyle/>
          <a:p>
            <a:pPr marL="152400" indent="-152400">
              <a:lnSpc>
                <a:spcPct val="135000"/>
              </a:lnSpc>
              <a:buSzPct val="100000"/>
              <a:buChar char="•"/>
            </a:pPr>
            <a:r>
              <a:rPr lang="en-US" sz="1400" dirty="0">
                <a:solidFill>
                  <a:srgbClr val="D3E4FB"/>
                </a:solidFill>
                <a:latin typeface="Calibri" pitchFamily="34" charset="0"/>
                <a:ea typeface="Calibri" pitchFamily="34" charset="-122"/>
                <a:cs typeface="Calibri" pitchFamily="34" charset="-120"/>
              </a:rPr>
              <a:t>No hay dispositivos locales especializados en adicciones comportamentales.</a:t>
            </a:r>
            <a:endParaRPr lang="en-US" sz="1400" dirty="0"/>
          </a:p>
          <a:p>
            <a:pPr marL="152400" indent="-152400">
              <a:lnSpc>
                <a:spcPct val="135000"/>
              </a:lnSpc>
              <a:buSzPct val="100000"/>
              <a:buChar char="•"/>
            </a:pPr>
            <a:r>
              <a:rPr lang="en-US" sz="1400" dirty="0">
                <a:solidFill>
                  <a:srgbClr val="D3E4FB"/>
                </a:solidFill>
                <a:latin typeface="Calibri" pitchFamily="34" charset="0"/>
                <a:ea typeface="Calibri" pitchFamily="34" charset="-122"/>
                <a:cs typeface="Calibri" pitchFamily="34" charset="-120"/>
              </a:rPr>
              <a:t>El circuito de derivación pasa por Mar del Plata, a 68 km.</a:t>
            </a:r>
            <a:endParaRPr lang="en-US" sz="1400" dirty="0"/>
          </a:p>
          <a:p>
            <a:pPr marL="152400" indent="-152400">
              <a:lnSpc>
                <a:spcPct val="135000"/>
              </a:lnSpc>
              <a:buSzPct val="100000"/>
              <a:buChar char="•"/>
            </a:pPr>
            <a:r>
              <a:rPr lang="en-US" sz="1400" dirty="0">
                <a:solidFill>
                  <a:srgbClr val="D3E4FB"/>
                </a:solidFill>
                <a:latin typeface="Calibri" pitchFamily="34" charset="0"/>
                <a:ea typeface="Calibri" pitchFamily="34" charset="-122"/>
                <a:cs typeface="Calibri" pitchFamily="34" charset="-120"/>
              </a:rPr>
              <a:t>Eso convierte a la detección temprana en el recurso más valioso que tiene la ciudad.</a:t>
            </a:r>
            <a:endParaRPr lang="en-US" sz="1400" dirty="0"/>
          </a:p>
        </p:txBody>
      </p:sp>
      <p:sp>
        <p:nvSpPr>
          <p:cNvPr id="9" name="Shape 7"/>
          <p:cNvSpPr/>
          <p:nvPr/>
        </p:nvSpPr>
        <p:spPr>
          <a:xfrm>
            <a:off x="6324448" y="1965960"/>
            <a:ext cx="5181448" cy="2926080"/>
          </a:xfrm>
          <a:prstGeom prst="rect">
            <a:avLst/>
          </a:prstGeom>
          <a:solidFill>
            <a:srgbClr val="16304C"/>
          </a:solidFill>
          <a:ln w="12700">
            <a:solidFill>
              <a:srgbClr val="16304C"/>
            </a:solidFill>
            <a:prstDash val="solid"/>
          </a:ln>
        </p:spPr>
      </p:sp>
      <p:sp>
        <p:nvSpPr>
          <p:cNvPr id="10" name="Shape 8"/>
          <p:cNvSpPr/>
          <p:nvPr/>
        </p:nvSpPr>
        <p:spPr>
          <a:xfrm>
            <a:off x="6324448" y="1965960"/>
            <a:ext cx="45720" cy="2926080"/>
          </a:xfrm>
          <a:prstGeom prst="rect">
            <a:avLst/>
          </a:prstGeom>
          <a:solidFill>
            <a:srgbClr val="C5A059"/>
          </a:solidFill>
          <a:ln w="12700">
            <a:solidFill>
              <a:srgbClr val="C5A059"/>
            </a:solidFill>
            <a:prstDash val="solid"/>
          </a:ln>
        </p:spPr>
      </p:sp>
      <p:sp>
        <p:nvSpPr>
          <p:cNvPr id="11" name="Text 9"/>
          <p:cNvSpPr/>
          <p:nvPr/>
        </p:nvSpPr>
        <p:spPr>
          <a:xfrm>
            <a:off x="6580480" y="2148840"/>
            <a:ext cx="472424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QUIÉNES ESTÁN EN ESTA SALA</a:t>
            </a:r>
            <a:endParaRPr lang="en-US" sz="1100" dirty="0"/>
          </a:p>
        </p:txBody>
      </p:sp>
      <p:sp>
        <p:nvSpPr>
          <p:cNvPr id="12" name="Text 10"/>
          <p:cNvSpPr/>
          <p:nvPr/>
        </p:nvSpPr>
        <p:spPr>
          <a:xfrm>
            <a:off x="6580480" y="2496312"/>
            <a:ext cx="4678528" cy="2240280"/>
          </a:xfrm>
          <a:prstGeom prst="rect">
            <a:avLst/>
          </a:prstGeom>
          <a:noFill/>
          <a:ln/>
        </p:spPr>
        <p:txBody>
          <a:bodyPr wrap="square" rtlCol="0" anchor="t"/>
          <a:lstStyle/>
          <a:p>
            <a:pPr marL="152400" indent="-152400">
              <a:lnSpc>
                <a:spcPct val="135000"/>
              </a:lnSpc>
              <a:buSzPct val="100000"/>
              <a:buChar char="•"/>
            </a:pPr>
            <a:r>
              <a:rPr lang="en-US" sz="1400" dirty="0">
                <a:solidFill>
                  <a:srgbClr val="D3E4FB"/>
                </a:solidFill>
                <a:latin typeface="Calibri" pitchFamily="34" charset="0"/>
                <a:ea typeface="Calibri" pitchFamily="34" charset="-122"/>
                <a:cs typeface="Calibri" pitchFamily="34" charset="-120"/>
              </a:rPr>
              <a:t>Equipos de programas socio-comunitarios y servicio local.</a:t>
            </a:r>
            <a:endParaRPr lang="en-US" sz="1400" dirty="0"/>
          </a:p>
          <a:p>
            <a:pPr marL="152400" indent="-152400">
              <a:lnSpc>
                <a:spcPct val="135000"/>
              </a:lnSpc>
              <a:buSzPct val="100000"/>
              <a:buChar char="•"/>
            </a:pPr>
            <a:r>
              <a:rPr lang="en-US" sz="1400" dirty="0">
                <a:solidFill>
                  <a:srgbClr val="D3E4FB"/>
                </a:solidFill>
                <a:latin typeface="Calibri" pitchFamily="34" charset="0"/>
                <a:ea typeface="Calibri" pitchFamily="34" charset="-122"/>
                <a:cs typeface="Calibri" pitchFamily="34" charset="-120"/>
              </a:rPr>
              <a:t>Clubes deportivos, iglesias y Dirección de Juventud.</a:t>
            </a:r>
            <a:endParaRPr lang="en-US" sz="1400" dirty="0"/>
          </a:p>
          <a:p>
            <a:pPr marL="152400" indent="-152400">
              <a:lnSpc>
                <a:spcPct val="135000"/>
              </a:lnSpc>
              <a:buSzPct val="100000"/>
              <a:buChar char="•"/>
            </a:pPr>
            <a:r>
              <a:rPr lang="en-US" sz="1400" dirty="0">
                <a:solidFill>
                  <a:srgbClr val="D3E4FB"/>
                </a:solidFill>
                <a:latin typeface="Calibri" pitchFamily="34" charset="0"/>
                <a:ea typeface="Calibri" pitchFamily="34" charset="-122"/>
                <a:cs typeface="Calibri" pitchFamily="34" charset="-120"/>
              </a:rPr>
              <a:t>Equipos directivos y Equipos de Orientación Escolar.</a:t>
            </a:r>
            <a:endParaRPr lang="en-US" sz="1400" dirty="0"/>
          </a:p>
          <a:p>
            <a:pPr marL="152400" indent="-152400">
              <a:lnSpc>
                <a:spcPct val="135000"/>
              </a:lnSpc>
              <a:buSzPct val="100000"/>
              <a:buChar char="•"/>
            </a:pPr>
            <a:r>
              <a:rPr lang="en-US" sz="1400" dirty="0">
                <a:solidFill>
                  <a:srgbClr val="D3E4FB"/>
                </a:solidFill>
                <a:latin typeface="Calibri" pitchFamily="34" charset="0"/>
                <a:ea typeface="Calibri" pitchFamily="34" charset="-122"/>
                <a:cs typeface="Calibri" pitchFamily="34" charset="-120"/>
              </a:rPr>
              <a:t>Un adolescente con problemas de juego pasa por estos lugares mucho antes de llegar a una consulta.</a:t>
            </a:r>
            <a:endParaRPr lang="en-US" sz="1400" dirty="0"/>
          </a:p>
        </p:txBody>
      </p:sp>
      <p:sp>
        <p:nvSpPr>
          <p:cNvPr id="13" name="Text 11"/>
          <p:cNvSpPr/>
          <p:nvPr/>
        </p:nvSpPr>
        <p:spPr>
          <a:xfrm>
            <a:off x="685800" y="5120640"/>
            <a:ext cx="10820095" cy="457200"/>
          </a:xfrm>
          <a:prstGeom prst="rect">
            <a:avLst/>
          </a:prstGeom>
          <a:noFill/>
          <a:ln/>
        </p:spPr>
        <p:txBody>
          <a:bodyPr wrap="square" rtlCol="0" anchor="ctr"/>
          <a:lstStyle/>
          <a:p>
            <a:pPr algn="ctr" indent="0" marL="0">
              <a:buNone/>
            </a:pPr>
            <a:r>
              <a:rPr lang="en-US" sz="1700" i="1" dirty="0">
                <a:solidFill>
                  <a:srgbClr val="E0C68A"/>
                </a:solidFill>
                <a:latin typeface="Georgia" pitchFamily="34" charset="0"/>
                <a:ea typeface="Georgia" pitchFamily="34" charset="-122"/>
                <a:cs typeface="Georgia" pitchFamily="34" charset="-120"/>
              </a:rPr>
              <a:t>Ninguno de ustedes tiene que diagnosticar. Todos pueden ser el adulto que se dio cuenta a tiempo.</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1 — MARCO CONCEPTUAL</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Qué estamos nombrando</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Text 3"/>
          <p:cNvSpPr/>
          <p:nvPr/>
        </p:nvSpPr>
        <p:spPr>
          <a:xfrm>
            <a:off x="685800" y="1627632"/>
            <a:ext cx="10820095" cy="548640"/>
          </a:xfrm>
          <a:prstGeom prst="rect">
            <a:avLst/>
          </a:prstGeom>
          <a:noFill/>
          <a:ln/>
        </p:spPr>
        <p:txBody>
          <a:bodyPr wrap="square" rtlCol="0" anchor="ctr"/>
          <a:lstStyle/>
          <a:p>
            <a:pPr indent="0" marL="0">
              <a:lnSpc>
                <a:spcPct val="125000"/>
              </a:lnSpc>
              <a:buNone/>
            </a:pPr>
            <a:r>
              <a:rPr lang="en-US" sz="1500" dirty="0">
                <a:solidFill>
                  <a:srgbClr val="9FB4D4"/>
                </a:solidFill>
                <a:latin typeface="Calibri" pitchFamily="34" charset="0"/>
                <a:ea typeface="Calibri" pitchFamily="34" charset="-122"/>
                <a:cs typeface="Calibri" pitchFamily="34" charset="-120"/>
              </a:rPr>
              <a:t>Una conducta adictiva sin sustancia no involucra ningún químico externo, pero produce dependencia, pérdida de control e interferencia significativa en la vida cotidiana.</a:t>
            </a:r>
            <a:endParaRPr lang="en-US" sz="1500" dirty="0"/>
          </a:p>
        </p:txBody>
      </p:sp>
      <p:sp>
        <p:nvSpPr>
          <p:cNvPr id="6" name="Text 4"/>
          <p:cNvSpPr/>
          <p:nvPr/>
        </p:nvSpPr>
        <p:spPr>
          <a:xfrm>
            <a:off x="685800" y="2377440"/>
            <a:ext cx="10820095" cy="320040"/>
          </a:xfrm>
          <a:prstGeom prst="rect">
            <a:avLst/>
          </a:prstGeom>
          <a:noFill/>
          <a:ln/>
        </p:spPr>
        <p:txBody>
          <a:bodyPr wrap="square" rtlCol="0" anchor="ctr"/>
          <a:lstStyle/>
          <a:p>
            <a:pPr indent="0" marL="0">
              <a:buNone/>
            </a:pPr>
            <a:r>
              <a:rPr lang="en-US" sz="1400" b="1" dirty="0">
                <a:solidFill>
                  <a:srgbClr val="C5A059"/>
                </a:solidFill>
                <a:latin typeface="Calibri" pitchFamily="34" charset="0"/>
                <a:ea typeface="Calibri" pitchFamily="34" charset="-122"/>
                <a:cs typeface="Calibri" pitchFamily="34" charset="-120"/>
              </a:rPr>
              <a:t>Cuatro indicadores que separan lo frecuente de lo adictivo</a:t>
            </a:r>
            <a:endParaRPr lang="en-US" sz="1400" dirty="0"/>
          </a:p>
        </p:txBody>
      </p:sp>
      <p:sp>
        <p:nvSpPr>
          <p:cNvPr id="7" name="Shape 5"/>
          <p:cNvSpPr/>
          <p:nvPr/>
        </p:nvSpPr>
        <p:spPr>
          <a:xfrm>
            <a:off x="685800" y="2834640"/>
            <a:ext cx="2430704" cy="1691640"/>
          </a:xfrm>
          <a:prstGeom prst="rect">
            <a:avLst/>
          </a:prstGeom>
          <a:solidFill>
            <a:srgbClr val="16304C"/>
          </a:solidFill>
          <a:ln w="12700">
            <a:solidFill>
              <a:srgbClr val="16304C"/>
            </a:solidFill>
            <a:prstDash val="solid"/>
          </a:ln>
        </p:spPr>
      </p:sp>
      <p:sp>
        <p:nvSpPr>
          <p:cNvPr id="8" name="Shape 6"/>
          <p:cNvSpPr/>
          <p:nvPr/>
        </p:nvSpPr>
        <p:spPr>
          <a:xfrm>
            <a:off x="685800" y="2834640"/>
            <a:ext cx="45720" cy="1691640"/>
          </a:xfrm>
          <a:prstGeom prst="rect">
            <a:avLst/>
          </a:prstGeom>
          <a:solidFill>
            <a:srgbClr val="C5A059"/>
          </a:solidFill>
          <a:ln w="12700">
            <a:solidFill>
              <a:srgbClr val="C5A059"/>
            </a:solidFill>
            <a:prstDash val="solid"/>
          </a:ln>
        </p:spPr>
      </p:sp>
      <p:sp>
        <p:nvSpPr>
          <p:cNvPr id="9" name="Text 7"/>
          <p:cNvSpPr/>
          <p:nvPr/>
        </p:nvSpPr>
        <p:spPr>
          <a:xfrm>
            <a:off x="941832" y="3017520"/>
            <a:ext cx="1973504"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PÉRDIDA DE CONTROL</a:t>
            </a:r>
            <a:endParaRPr lang="en-US" sz="1100" dirty="0"/>
          </a:p>
        </p:txBody>
      </p:sp>
      <p:sp>
        <p:nvSpPr>
          <p:cNvPr id="10" name="Text 8"/>
          <p:cNvSpPr/>
          <p:nvPr/>
        </p:nvSpPr>
        <p:spPr>
          <a:xfrm>
            <a:off x="941832" y="3364992"/>
            <a:ext cx="1927784" cy="1005840"/>
          </a:xfrm>
          <a:prstGeom prst="rect">
            <a:avLst/>
          </a:prstGeom>
          <a:noFill/>
          <a:ln/>
        </p:spPr>
        <p:txBody>
          <a:bodyPr wrap="square" rtlCol="0" anchor="t"/>
          <a:lstStyle/>
          <a:p>
            <a:pPr indent="0" marL="0">
              <a:lnSpc>
                <a:spcPct val="135000"/>
              </a:lnSpc>
              <a:buNone/>
            </a:pPr>
            <a:r>
              <a:rPr lang="en-US" sz="1300" dirty="0">
                <a:solidFill>
                  <a:srgbClr val="D3E4FB"/>
                </a:solidFill>
                <a:latin typeface="Calibri" pitchFamily="34" charset="0"/>
                <a:ea typeface="Calibri" pitchFamily="34" charset="-122"/>
                <a:cs typeface="Calibri" pitchFamily="34" charset="-120"/>
              </a:rPr>
              <a:t>No puede parar cuando se lo propone, aunque quiera.</a:t>
            </a:r>
            <a:endParaRPr lang="en-US" sz="1300" dirty="0"/>
          </a:p>
        </p:txBody>
      </p:sp>
      <p:sp>
        <p:nvSpPr>
          <p:cNvPr id="11" name="Shape 9"/>
          <p:cNvSpPr/>
          <p:nvPr/>
        </p:nvSpPr>
        <p:spPr>
          <a:xfrm>
            <a:off x="3482264" y="2834640"/>
            <a:ext cx="2430704" cy="1691640"/>
          </a:xfrm>
          <a:prstGeom prst="rect">
            <a:avLst/>
          </a:prstGeom>
          <a:solidFill>
            <a:srgbClr val="16304C"/>
          </a:solidFill>
          <a:ln w="12700">
            <a:solidFill>
              <a:srgbClr val="16304C"/>
            </a:solidFill>
            <a:prstDash val="solid"/>
          </a:ln>
        </p:spPr>
      </p:sp>
      <p:sp>
        <p:nvSpPr>
          <p:cNvPr id="12" name="Shape 10"/>
          <p:cNvSpPr/>
          <p:nvPr/>
        </p:nvSpPr>
        <p:spPr>
          <a:xfrm>
            <a:off x="3482264" y="2834640"/>
            <a:ext cx="45720" cy="1691640"/>
          </a:xfrm>
          <a:prstGeom prst="rect">
            <a:avLst/>
          </a:prstGeom>
          <a:solidFill>
            <a:srgbClr val="C5A059"/>
          </a:solidFill>
          <a:ln w="12700">
            <a:solidFill>
              <a:srgbClr val="C5A059"/>
            </a:solidFill>
            <a:prstDash val="solid"/>
          </a:ln>
        </p:spPr>
      </p:sp>
      <p:sp>
        <p:nvSpPr>
          <p:cNvPr id="13" name="Text 11"/>
          <p:cNvSpPr/>
          <p:nvPr/>
        </p:nvSpPr>
        <p:spPr>
          <a:xfrm>
            <a:off x="3738296" y="3017520"/>
            <a:ext cx="1973504"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INTERFERENCIA</a:t>
            </a:r>
            <a:endParaRPr lang="en-US" sz="1100" dirty="0"/>
          </a:p>
        </p:txBody>
      </p:sp>
      <p:sp>
        <p:nvSpPr>
          <p:cNvPr id="14" name="Text 12"/>
          <p:cNvSpPr/>
          <p:nvPr/>
        </p:nvSpPr>
        <p:spPr>
          <a:xfrm>
            <a:off x="3738296" y="3364992"/>
            <a:ext cx="1927784" cy="1005840"/>
          </a:xfrm>
          <a:prstGeom prst="rect">
            <a:avLst/>
          </a:prstGeom>
          <a:noFill/>
          <a:ln/>
        </p:spPr>
        <p:txBody>
          <a:bodyPr wrap="square" rtlCol="0" anchor="t"/>
          <a:lstStyle/>
          <a:p>
            <a:pPr indent="0" marL="0">
              <a:lnSpc>
                <a:spcPct val="135000"/>
              </a:lnSpc>
              <a:buNone/>
            </a:pPr>
            <a:r>
              <a:rPr lang="en-US" sz="1300" dirty="0">
                <a:solidFill>
                  <a:srgbClr val="D3E4FB"/>
                </a:solidFill>
                <a:latin typeface="Calibri" pitchFamily="34" charset="0"/>
                <a:ea typeface="Calibri" pitchFamily="34" charset="-122"/>
                <a:cs typeface="Calibri" pitchFamily="34" charset="-120"/>
              </a:rPr>
              <a:t>Desplaza estudio, trabajo, deporte y vínculos.</a:t>
            </a:r>
            <a:endParaRPr lang="en-US" sz="1300" dirty="0"/>
          </a:p>
        </p:txBody>
      </p:sp>
      <p:sp>
        <p:nvSpPr>
          <p:cNvPr id="15" name="Shape 13"/>
          <p:cNvSpPr/>
          <p:nvPr/>
        </p:nvSpPr>
        <p:spPr>
          <a:xfrm>
            <a:off x="6278728" y="2834640"/>
            <a:ext cx="2430704" cy="1691640"/>
          </a:xfrm>
          <a:prstGeom prst="rect">
            <a:avLst/>
          </a:prstGeom>
          <a:solidFill>
            <a:srgbClr val="16304C"/>
          </a:solidFill>
          <a:ln w="12700">
            <a:solidFill>
              <a:srgbClr val="16304C"/>
            </a:solidFill>
            <a:prstDash val="solid"/>
          </a:ln>
        </p:spPr>
      </p:sp>
      <p:sp>
        <p:nvSpPr>
          <p:cNvPr id="16" name="Shape 14"/>
          <p:cNvSpPr/>
          <p:nvPr/>
        </p:nvSpPr>
        <p:spPr>
          <a:xfrm>
            <a:off x="6278728" y="2834640"/>
            <a:ext cx="45720" cy="1691640"/>
          </a:xfrm>
          <a:prstGeom prst="rect">
            <a:avLst/>
          </a:prstGeom>
          <a:solidFill>
            <a:srgbClr val="C5A059"/>
          </a:solidFill>
          <a:ln w="12700">
            <a:solidFill>
              <a:srgbClr val="C5A059"/>
            </a:solidFill>
            <a:prstDash val="solid"/>
          </a:ln>
        </p:spPr>
      </p:sp>
      <p:sp>
        <p:nvSpPr>
          <p:cNvPr id="17" name="Text 15"/>
          <p:cNvSpPr/>
          <p:nvPr/>
        </p:nvSpPr>
        <p:spPr>
          <a:xfrm>
            <a:off x="6534760" y="3017520"/>
            <a:ext cx="1973504"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MALESTAR AL INTERRUMPIR</a:t>
            </a:r>
            <a:endParaRPr lang="en-US" sz="1100" dirty="0"/>
          </a:p>
        </p:txBody>
      </p:sp>
      <p:sp>
        <p:nvSpPr>
          <p:cNvPr id="18" name="Text 16"/>
          <p:cNvSpPr/>
          <p:nvPr/>
        </p:nvSpPr>
        <p:spPr>
          <a:xfrm>
            <a:off x="6534760" y="3364992"/>
            <a:ext cx="1927784" cy="1005840"/>
          </a:xfrm>
          <a:prstGeom prst="rect">
            <a:avLst/>
          </a:prstGeom>
          <a:noFill/>
          <a:ln/>
        </p:spPr>
        <p:txBody>
          <a:bodyPr wrap="square" rtlCol="0" anchor="t"/>
          <a:lstStyle/>
          <a:p>
            <a:pPr indent="0" marL="0">
              <a:lnSpc>
                <a:spcPct val="135000"/>
              </a:lnSpc>
              <a:buNone/>
            </a:pPr>
            <a:r>
              <a:rPr lang="en-US" sz="1300" dirty="0">
                <a:solidFill>
                  <a:srgbClr val="D3E4FB"/>
                </a:solidFill>
                <a:latin typeface="Calibri" pitchFamily="34" charset="0"/>
                <a:ea typeface="Calibri" pitchFamily="34" charset="-122"/>
                <a:cs typeface="Calibri" pitchFamily="34" charset="-120"/>
              </a:rPr>
              <a:t>Irritabilidad, ansiedad o inquietud si no puede jugar.</a:t>
            </a:r>
            <a:endParaRPr lang="en-US" sz="1300" dirty="0"/>
          </a:p>
        </p:txBody>
      </p:sp>
      <p:sp>
        <p:nvSpPr>
          <p:cNvPr id="19" name="Shape 17"/>
          <p:cNvSpPr/>
          <p:nvPr/>
        </p:nvSpPr>
        <p:spPr>
          <a:xfrm>
            <a:off x="9075191" y="2834640"/>
            <a:ext cx="2430704" cy="1691640"/>
          </a:xfrm>
          <a:prstGeom prst="rect">
            <a:avLst/>
          </a:prstGeom>
          <a:solidFill>
            <a:srgbClr val="16304C"/>
          </a:solidFill>
          <a:ln w="12700">
            <a:solidFill>
              <a:srgbClr val="16304C"/>
            </a:solidFill>
            <a:prstDash val="solid"/>
          </a:ln>
        </p:spPr>
      </p:sp>
      <p:sp>
        <p:nvSpPr>
          <p:cNvPr id="20" name="Shape 18"/>
          <p:cNvSpPr/>
          <p:nvPr/>
        </p:nvSpPr>
        <p:spPr>
          <a:xfrm>
            <a:off x="9075191" y="2834640"/>
            <a:ext cx="45720" cy="1691640"/>
          </a:xfrm>
          <a:prstGeom prst="rect">
            <a:avLst/>
          </a:prstGeom>
          <a:solidFill>
            <a:srgbClr val="C5A059"/>
          </a:solidFill>
          <a:ln w="12700">
            <a:solidFill>
              <a:srgbClr val="C5A059"/>
            </a:solidFill>
            <a:prstDash val="solid"/>
          </a:ln>
        </p:spPr>
      </p:sp>
      <p:sp>
        <p:nvSpPr>
          <p:cNvPr id="21" name="Text 19"/>
          <p:cNvSpPr/>
          <p:nvPr/>
        </p:nvSpPr>
        <p:spPr>
          <a:xfrm>
            <a:off x="9331223" y="3017520"/>
            <a:ext cx="1973504"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PERSISTENCIA PESE AL DAÑO</a:t>
            </a:r>
            <a:endParaRPr lang="en-US" sz="1100" dirty="0"/>
          </a:p>
        </p:txBody>
      </p:sp>
      <p:sp>
        <p:nvSpPr>
          <p:cNvPr id="22" name="Text 20"/>
          <p:cNvSpPr/>
          <p:nvPr/>
        </p:nvSpPr>
        <p:spPr>
          <a:xfrm>
            <a:off x="9331223" y="3364992"/>
            <a:ext cx="1927784" cy="1005840"/>
          </a:xfrm>
          <a:prstGeom prst="rect">
            <a:avLst/>
          </a:prstGeom>
          <a:noFill/>
          <a:ln/>
        </p:spPr>
        <p:txBody>
          <a:bodyPr wrap="square" rtlCol="0" anchor="t"/>
          <a:lstStyle/>
          <a:p>
            <a:pPr indent="0" marL="0">
              <a:lnSpc>
                <a:spcPct val="135000"/>
              </a:lnSpc>
              <a:buNone/>
            </a:pPr>
            <a:r>
              <a:rPr lang="en-US" sz="1300" dirty="0">
                <a:solidFill>
                  <a:srgbClr val="D3E4FB"/>
                </a:solidFill>
                <a:latin typeface="Calibri" pitchFamily="34" charset="0"/>
                <a:ea typeface="Calibri" pitchFamily="34" charset="-122"/>
                <a:cs typeface="Calibri" pitchFamily="34" charset="-120"/>
              </a:rPr>
              <a:t>Sigue aunque ya perdió dinero, tiempo o confianza.</a:t>
            </a:r>
            <a:endParaRPr lang="en-US" sz="1300" dirty="0"/>
          </a:p>
        </p:txBody>
      </p:sp>
      <p:sp>
        <p:nvSpPr>
          <p:cNvPr id="23" name="Text 21"/>
          <p:cNvSpPr/>
          <p:nvPr/>
        </p:nvSpPr>
        <p:spPr>
          <a:xfrm>
            <a:off x="685800" y="4846320"/>
            <a:ext cx="10820095" cy="548640"/>
          </a:xfrm>
          <a:prstGeom prst="rect">
            <a:avLst/>
          </a:prstGeom>
          <a:noFill/>
          <a:ln/>
        </p:spPr>
        <p:txBody>
          <a:bodyPr wrap="square" rtlCol="0" anchor="ctr"/>
          <a:lstStyle/>
          <a:p>
            <a:pPr indent="0" marL="0">
              <a:buNone/>
            </a:pPr>
            <a:r>
              <a:rPr lang="en-US" sz="1400" i="1" dirty="0">
                <a:solidFill>
                  <a:srgbClr val="D3E4FB"/>
                </a:solidFill>
                <a:latin typeface="Calibri" pitchFamily="34" charset="0"/>
                <a:ea typeface="Calibri" pitchFamily="34" charset="-122"/>
                <a:cs typeface="Calibri" pitchFamily="34" charset="-120"/>
              </a:rPr>
              <a:t>Estos cuatro criterios son los que permiten distinguir a un adolescente que apuesta de un adolescente con un problema de juego. La frecuencia sola no alcanza.</a:t>
            </a:r>
            <a:endParaRPr lang="en-US" sz="1400" dirty="0"/>
          </a:p>
        </p:txBody>
      </p:sp>
      <p:sp>
        <p:nvSpPr>
          <p:cNvPr id="24" name="Shape 22"/>
          <p:cNvSpPr/>
          <p:nvPr/>
        </p:nvSpPr>
        <p:spPr>
          <a:xfrm>
            <a:off x="685800" y="6144768"/>
            <a:ext cx="10820095" cy="20117"/>
          </a:xfrm>
          <a:prstGeom prst="rect">
            <a:avLst/>
          </a:prstGeom>
          <a:solidFill>
            <a:srgbClr val="C5A059"/>
          </a:solidFill>
          <a:ln w="12700">
            <a:solidFill>
              <a:srgbClr val="C5A059"/>
            </a:solidFill>
            <a:prstDash val="solid"/>
          </a:ln>
        </p:spPr>
      </p:sp>
      <p:sp>
        <p:nvSpPr>
          <p:cNvPr id="25" name="Text 23"/>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Griffiths, M. D. (2005). “A ‘components’ model of addiction within a biopsychosocial framework”. Journal of Substance Use, 10(4), 191-197.  ·  Echeburúa, E., &amp; Corral, P. (2010). “Adicción a las nuevas tecnologías y a las redes sociales en jóvenes: un nuevo reto”. Adicciones, 22(2), 91-96.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1 — MARCO CONCEPTUAL</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No es un problema moral: son 45 años de diagnóstico</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20095" cy="914400"/>
        </p:xfrm>
        <a:graphic>
          <a:graphicData uri="http://schemas.openxmlformats.org/drawingml/2006/table">
            <a:tbl>
              <a:tblPr/>
              <a:tblGrid>
                <a:gridCol w="1371600"/>
                <a:gridCol w="9448495"/>
              </a:tblGrid>
              <a:tr h="0">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Año</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Qué cambió en la clasificación internacional</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r>
              <a:tr h="0">
                <a:tc>
                  <a:txBody>
                    <a:bodyPr/>
                    <a:lstStyle/>
                    <a:p>
                      <a:pPr algn="l" indent="0" marL="0">
                        <a:buNone/>
                      </a:pPr>
                      <a:r>
                        <a:rPr lang="en-US" sz="1350" b="1" dirty="0">
                          <a:solidFill>
                            <a:srgbClr val="E0C68A"/>
                          </a:solidFill>
                          <a:latin typeface="Calibri" pitchFamily="34" charset="0"/>
                          <a:ea typeface="Calibri" pitchFamily="34" charset="-122"/>
                          <a:cs typeface="Calibri" pitchFamily="34" charset="-120"/>
                        </a:rPr>
                        <a:t>1980</a:t>
                      </a:r>
                      <a:endParaRPr lang="en-US" sz="13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350" dirty="0">
                          <a:solidFill>
                            <a:srgbClr val="D3E4FB"/>
                          </a:solidFill>
                          <a:latin typeface="Calibri" pitchFamily="34" charset="0"/>
                          <a:ea typeface="Calibri" pitchFamily="34" charset="-122"/>
                          <a:cs typeface="Calibri" pitchFamily="34" charset="-120"/>
                        </a:rPr>
                        <a:t>DSM-III incorpora el juego patológico como trastorno del control de los impulsos.</a:t>
                      </a:r>
                      <a:endParaRPr lang="en-US" sz="13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350" b="1" dirty="0">
                          <a:solidFill>
                            <a:srgbClr val="E0C68A"/>
                          </a:solidFill>
                          <a:latin typeface="Calibri" pitchFamily="34" charset="0"/>
                          <a:ea typeface="Calibri" pitchFamily="34" charset="-122"/>
                          <a:cs typeface="Calibri" pitchFamily="34" charset="-120"/>
                        </a:rPr>
                        <a:t>1994</a:t>
                      </a:r>
                      <a:endParaRPr lang="en-US" sz="13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350" dirty="0">
                          <a:solidFill>
                            <a:srgbClr val="D3E4FB"/>
                          </a:solidFill>
                          <a:latin typeface="Calibri" pitchFamily="34" charset="0"/>
                          <a:ea typeface="Calibri" pitchFamily="34" charset="-122"/>
                          <a:cs typeface="Calibri" pitchFamily="34" charset="-120"/>
                        </a:rPr>
                        <a:t>DSM-IV mantiene la categoría y refina los criterios diagnósticos.</a:t>
                      </a:r>
                      <a:endParaRPr lang="en-US" sz="13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r h="0">
                <a:tc>
                  <a:txBody>
                    <a:bodyPr/>
                    <a:lstStyle/>
                    <a:p>
                      <a:pPr algn="l" indent="0" marL="0">
                        <a:buNone/>
                      </a:pPr>
                      <a:r>
                        <a:rPr lang="en-US" sz="1350" b="1" dirty="0">
                          <a:solidFill>
                            <a:srgbClr val="E0C68A"/>
                          </a:solidFill>
                          <a:latin typeface="Calibri" pitchFamily="34" charset="0"/>
                          <a:ea typeface="Calibri" pitchFamily="34" charset="-122"/>
                          <a:cs typeface="Calibri" pitchFamily="34" charset="-120"/>
                        </a:rPr>
                        <a:t>2013</a:t>
                      </a:r>
                      <a:endParaRPr lang="en-US" sz="13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350" dirty="0">
                          <a:solidFill>
                            <a:srgbClr val="D3E4FB"/>
                          </a:solidFill>
                          <a:latin typeface="Calibri" pitchFamily="34" charset="0"/>
                          <a:ea typeface="Calibri" pitchFamily="34" charset="-122"/>
                          <a:cs typeface="Calibri" pitchFamily="34" charset="-120"/>
                        </a:rPr>
                        <a:t>DSM-5 lo traslada al capítulo de trastornos adictivos. Es la primera conducta sin sustancia reconocida como adicción. Pasa a llamarse trastorno por juego.</a:t>
                      </a:r>
                      <a:endParaRPr lang="en-US" sz="13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350" b="1" dirty="0">
                          <a:solidFill>
                            <a:srgbClr val="E0C68A"/>
                          </a:solidFill>
                          <a:latin typeface="Calibri" pitchFamily="34" charset="0"/>
                          <a:ea typeface="Calibri" pitchFamily="34" charset="-122"/>
                          <a:cs typeface="Calibri" pitchFamily="34" charset="-120"/>
                        </a:rPr>
                        <a:t>2018</a:t>
                      </a:r>
                      <a:endParaRPr lang="en-US" sz="13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350" dirty="0">
                          <a:solidFill>
                            <a:srgbClr val="D3E4FB"/>
                          </a:solidFill>
                          <a:latin typeface="Calibri" pitchFamily="34" charset="0"/>
                          <a:ea typeface="Calibri" pitchFamily="34" charset="-122"/>
                          <a:cs typeface="Calibri" pitchFamily="34" charset="-120"/>
                        </a:rPr>
                        <a:t>La CIE-11 de la OMS incorpora el trastorno por juego y, por primera vez, el trastorno por videojuegos.</a:t>
                      </a:r>
                      <a:endParaRPr lang="en-US" sz="13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bl>
          </a:graphicData>
        </a:graphic>
      </p:graphicFrame>
      <p:sp>
        <p:nvSpPr>
          <p:cNvPr id="6" name="Text 3"/>
          <p:cNvSpPr/>
          <p:nvPr/>
        </p:nvSpPr>
        <p:spPr>
          <a:xfrm>
            <a:off x="685800" y="5257800"/>
            <a:ext cx="10820095" cy="640080"/>
          </a:xfrm>
          <a:prstGeom prst="rect">
            <a:avLst/>
          </a:prstGeom>
          <a:noFill/>
          <a:ln/>
        </p:spPr>
        <p:txBody>
          <a:bodyPr wrap="square" rtlCol="0" anchor="ctr"/>
          <a:lstStyle/>
          <a:p>
            <a:pPr indent="0" marL="0">
              <a:lnSpc>
                <a:spcPct val="120000"/>
              </a:lnSpc>
              <a:buNone/>
            </a:pPr>
            <a:r>
              <a:rPr lang="en-US" sz="1600" i="1" dirty="0">
                <a:solidFill>
                  <a:srgbClr val="E0C68A"/>
                </a:solidFill>
                <a:latin typeface="Georgia" pitchFamily="34" charset="0"/>
                <a:ea typeface="Georgia" pitchFamily="34" charset="-122"/>
                <a:cs typeface="Georgia" pitchFamily="34" charset="-120"/>
              </a:rPr>
              <a:t>Para quien detecta, esto tiene una consecuencia práctica: lo que ve no es una falla de carácter ni una cuestión de voluntad. Es un cuadro clínico reconocido, y como tal tiene tratamiento.</a:t>
            </a:r>
            <a:endParaRPr lang="en-US" sz="1600" dirty="0"/>
          </a:p>
        </p:txBody>
      </p:sp>
      <p:sp>
        <p:nvSpPr>
          <p:cNvPr id="7" name="Shape 4"/>
          <p:cNvSpPr/>
          <p:nvPr/>
        </p:nvSpPr>
        <p:spPr>
          <a:xfrm>
            <a:off x="685800" y="6144768"/>
            <a:ext cx="10820095" cy="20117"/>
          </a:xfrm>
          <a:prstGeom prst="rect">
            <a:avLst/>
          </a:prstGeom>
          <a:solidFill>
            <a:srgbClr val="C5A059"/>
          </a:solidFill>
          <a:ln w="12700">
            <a:solidFill>
              <a:srgbClr val="C5A059"/>
            </a:solidFill>
            <a:prstDash val="solid"/>
          </a:ln>
        </p:spPr>
      </p:sp>
      <p:sp>
        <p:nvSpPr>
          <p:cNvPr id="8" name="Text 5"/>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American Psychiatric Association (1980). DSM-III. Washington DC: APA.  ·  American Psychiatric Association (2013). DSM-5: Diagnostic and Statistical Manual of Mental Disorders (5ª ed.). Washington DC: APA.  ·  World Health Organization (2018). ICD-11. Ginebra: OMS.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1 — MARCO CONCEPTUAL</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Lo que cambió no es el juego: es el acceso</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820095" cy="914400"/>
        </p:xfrm>
        <a:graphic>
          <a:graphicData uri="http://schemas.openxmlformats.org/drawingml/2006/table">
            <a:tbl>
              <a:tblPr/>
              <a:tblGrid>
                <a:gridCol w="1371600"/>
                <a:gridCol w="9448495"/>
              </a:tblGrid>
              <a:tr h="0">
                <a:tc>
                  <a:txBody>
                    <a:bodyPr/>
                    <a:lstStyle/>
                    <a:p>
                      <a:pPr algn="l" indent="0" marL="0">
                        <a:buNone/>
                      </a:pP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Hitos de la industria y de su regulación</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r>
              <a:tr h="0">
                <a:tc>
                  <a:txBody>
                    <a:bodyPr/>
                    <a:lstStyle/>
                    <a:p>
                      <a:pPr algn="l" indent="0" marL="0">
                        <a:buNone/>
                      </a:pPr>
                      <a:r>
                        <a:rPr lang="en-US" sz="1250" b="1" dirty="0">
                          <a:solidFill>
                            <a:srgbClr val="E0C68A"/>
                          </a:solidFill>
                          <a:latin typeface="Calibri" pitchFamily="34" charset="0"/>
                          <a:ea typeface="Calibri" pitchFamily="34" charset="-122"/>
                          <a:cs typeface="Calibri" pitchFamily="34" charset="-120"/>
                        </a:rPr>
                        <a:t>2011</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España regula el juego online. La Ley Garzón (2020) refuerza el marco con restricciones sobre publicidad, patrocinios y bonos de bienvenida.</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250" b="1" dirty="0">
                          <a:solidFill>
                            <a:srgbClr val="E0C68A"/>
                          </a:solidFill>
                          <a:latin typeface="Calibri" pitchFamily="34" charset="0"/>
                          <a:ea typeface="Calibri" pitchFamily="34" charset="-122"/>
                          <a:cs typeface="Calibri" pitchFamily="34" charset="-120"/>
                        </a:rPr>
                        <a:t>2018</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La Corte Suprema de EE.UU. levanta la prohibición federal de las apuestas deportivas online.</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r h="0">
                <a:tc>
                  <a:txBody>
                    <a:bodyPr/>
                    <a:lstStyle/>
                    <a:p>
                      <a:pPr algn="l" indent="0" marL="0">
                        <a:buNone/>
                      </a:pPr>
                      <a:r>
                        <a:rPr lang="en-US" sz="1250" b="1" dirty="0">
                          <a:solidFill>
                            <a:srgbClr val="E0C68A"/>
                          </a:solidFill>
                          <a:latin typeface="Calibri" pitchFamily="34" charset="0"/>
                          <a:ea typeface="Calibri" pitchFamily="34" charset="-122"/>
                          <a:cs typeface="Calibri" pitchFamily="34" charset="-120"/>
                        </a:rPr>
                        <a:t>2022</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Mundial de Qatar y legalización del juego online en la mayoría de las provincias argentinas, en el mismo año.</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250" b="1" dirty="0">
                          <a:solidFill>
                            <a:srgbClr val="E0C68A"/>
                          </a:solidFill>
                          <a:latin typeface="Calibri" pitchFamily="34" charset="0"/>
                          <a:ea typeface="Calibri" pitchFamily="34" charset="-122"/>
                          <a:cs typeface="Calibri" pitchFamily="34" charset="-120"/>
                        </a:rPr>
                        <a:t>2022-23</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Una sola casa de apuestas invierte más de $6.265 millones en publicidad en Argentina.</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r h="0">
                <a:tc>
                  <a:txBody>
                    <a:bodyPr/>
                    <a:lstStyle/>
                    <a:p>
                      <a:pPr algn="l" indent="0" marL="0">
                        <a:buNone/>
                      </a:pPr>
                      <a:r>
                        <a:rPr lang="en-US" sz="1250" b="1" dirty="0">
                          <a:solidFill>
                            <a:srgbClr val="E0C68A"/>
                          </a:solidFill>
                          <a:latin typeface="Calibri" pitchFamily="34" charset="0"/>
                          <a:ea typeface="Calibri" pitchFamily="34" charset="-122"/>
                          <a:cs typeface="Calibri" pitchFamily="34" charset="-120"/>
                        </a:rPr>
                        <a:t>nov. 2024</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Media sanción en Diputados: prohibición de publicidad en medios y eventos deportivos, y verificación de identidad. Pendiente en el Senado.</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bl>
          </a:graphicData>
        </a:graphic>
      </p:graphicFrame>
      <p:sp>
        <p:nvSpPr>
          <p:cNvPr id="6" name="Shape 3"/>
          <p:cNvSpPr/>
          <p:nvPr/>
        </p:nvSpPr>
        <p:spPr>
          <a:xfrm>
            <a:off x="685800" y="6144768"/>
            <a:ext cx="10820095" cy="20117"/>
          </a:xfrm>
          <a:prstGeom prst="rect">
            <a:avLst/>
          </a:prstGeom>
          <a:solidFill>
            <a:srgbClr val="C5A059"/>
          </a:solidFill>
          <a:ln w="12700">
            <a:solidFill>
              <a:srgbClr val="C5A059"/>
            </a:solidFill>
            <a:prstDash val="solid"/>
          </a:ln>
        </p:spPr>
      </p:sp>
      <p:sp>
        <p:nvSpPr>
          <p:cNvPr id="7" name="Text 4"/>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Defensoría del Pueblo de la Provincia de Buenos Aires — Observatorio de Adicciones y Consumos Problemáticos (2024). Informe sobre publicidad de apuestas online.  ·  Cámara de Diputados de la Nación Argentina (2024). Proyecto de Ley de Prevención de Ludopatía y Regulación de Apuestas en Línea — media sanción, noviembre de 2024.  ·  Ley 13/2011, de regulación del juego (España) y Real Decreto 958/2020 de comunicaciones comerciales de juego.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1 — EL MECANISMO</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Lo que engancha no es ganar: es no saber</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737360"/>
            <a:ext cx="10820095" cy="1371600"/>
          </a:xfrm>
          <a:prstGeom prst="rect">
            <a:avLst/>
          </a:prstGeom>
          <a:solidFill>
            <a:srgbClr val="16304C"/>
          </a:solidFill>
          <a:ln w="12700">
            <a:solidFill>
              <a:srgbClr val="16304C"/>
            </a:solidFill>
            <a:prstDash val="solid"/>
          </a:ln>
        </p:spPr>
      </p:sp>
      <p:sp>
        <p:nvSpPr>
          <p:cNvPr id="6" name="Shape 4"/>
          <p:cNvSpPr/>
          <p:nvPr/>
        </p:nvSpPr>
        <p:spPr>
          <a:xfrm>
            <a:off x="685800" y="1737360"/>
            <a:ext cx="45720" cy="1371600"/>
          </a:xfrm>
          <a:prstGeom prst="rect">
            <a:avLst/>
          </a:prstGeom>
          <a:solidFill>
            <a:srgbClr val="C5A059"/>
          </a:solidFill>
          <a:ln w="12700">
            <a:solidFill>
              <a:srgbClr val="C5A059"/>
            </a:solidFill>
            <a:prstDash val="solid"/>
          </a:ln>
        </p:spPr>
      </p:sp>
      <p:sp>
        <p:nvSpPr>
          <p:cNvPr id="7" name="Text 5"/>
          <p:cNvSpPr/>
          <p:nvPr/>
        </p:nvSpPr>
        <p:spPr>
          <a:xfrm>
            <a:off x="1005840" y="1883664"/>
            <a:ext cx="10180015" cy="804672"/>
          </a:xfrm>
          <a:prstGeom prst="rect">
            <a:avLst/>
          </a:prstGeom>
          <a:noFill/>
          <a:ln/>
        </p:spPr>
        <p:txBody>
          <a:bodyPr wrap="square" rtlCol="0" anchor="ctr"/>
          <a:lstStyle/>
          <a:p>
            <a:pPr indent="0" marL="0">
              <a:lnSpc>
                <a:spcPct val="125000"/>
              </a:lnSpc>
              <a:buNone/>
            </a:pPr>
            <a:r>
              <a:rPr lang="en-US" sz="1800" i="1" dirty="0">
                <a:solidFill>
                  <a:srgbClr val="FFFFFF"/>
                </a:solidFill>
                <a:latin typeface="Georgia" pitchFamily="34" charset="0"/>
                <a:ea typeface="Georgia" pitchFamily="34" charset="-122"/>
                <a:cs typeface="Georgia" pitchFamily="34" charset="-120"/>
              </a:rPr>
              <a:t>“El pico de dopamina empieza a ocurrir antes de tocar la palanca, no después. Lo que los vuelve adictos ya no es que van a comer, sino la incertidumbre de qué va a pasar.”</a:t>
            </a:r>
            <a:endParaRPr lang="en-US" sz="1800" dirty="0"/>
          </a:p>
        </p:txBody>
      </p:sp>
      <p:sp>
        <p:nvSpPr>
          <p:cNvPr id="8" name="Text 6"/>
          <p:cNvSpPr/>
          <p:nvPr/>
        </p:nvSpPr>
        <p:spPr>
          <a:xfrm>
            <a:off x="1005840" y="2670048"/>
            <a:ext cx="10180015" cy="292608"/>
          </a:xfrm>
          <a:prstGeom prst="rect">
            <a:avLst/>
          </a:prstGeom>
          <a:noFill/>
          <a:ln/>
        </p:spPr>
        <p:txBody>
          <a:bodyPr wrap="square" rtlCol="0" anchor="ctr"/>
          <a:lstStyle/>
          <a:p>
            <a:pPr indent="0" marL="0">
              <a:buNone/>
            </a:pPr>
            <a:r>
              <a:rPr lang="en-US" sz="1100" dirty="0">
                <a:solidFill>
                  <a:srgbClr val="C5A059"/>
                </a:solidFill>
                <a:latin typeface="Calibri" pitchFamily="34" charset="0"/>
                <a:ea typeface="Calibri" pitchFamily="34" charset="-122"/>
                <a:cs typeface="Calibri" pitchFamily="34" charset="-120"/>
              </a:rPr>
              <a:t>Santiago Bilinkis, divulgador — Futuro en Construcción, T13 E10</a:t>
            </a:r>
            <a:endParaRPr lang="en-US" sz="1100" dirty="0"/>
          </a:p>
        </p:txBody>
      </p:sp>
      <p:sp>
        <p:nvSpPr>
          <p:cNvPr id="9" name="Text 7"/>
          <p:cNvSpPr/>
          <p:nvPr/>
        </p:nvSpPr>
        <p:spPr>
          <a:xfrm>
            <a:off x="685800" y="3291840"/>
            <a:ext cx="10820095" cy="320040"/>
          </a:xfrm>
          <a:prstGeom prst="rect">
            <a:avLst/>
          </a:prstGeom>
          <a:noFill/>
          <a:ln/>
        </p:spPr>
        <p:txBody>
          <a:bodyPr wrap="square" rtlCol="0" anchor="ctr"/>
          <a:lstStyle/>
          <a:p>
            <a:pPr indent="0" marL="0">
              <a:buNone/>
            </a:pPr>
            <a:r>
              <a:rPr lang="en-US" sz="1400" b="1" dirty="0">
                <a:solidFill>
                  <a:srgbClr val="C5A059"/>
                </a:solidFill>
                <a:latin typeface="Calibri" pitchFamily="34" charset="0"/>
                <a:ea typeface="Calibri" pitchFamily="34" charset="-122"/>
                <a:cs typeface="Calibri" pitchFamily="34" charset="-120"/>
              </a:rPr>
              <a:t>Qué hay detrás de esa frase</a:t>
            </a:r>
            <a:endParaRPr lang="en-US" sz="1400" dirty="0"/>
          </a:p>
        </p:txBody>
      </p:sp>
      <p:sp>
        <p:nvSpPr>
          <p:cNvPr id="10" name="Shape 8"/>
          <p:cNvSpPr/>
          <p:nvPr/>
        </p:nvSpPr>
        <p:spPr>
          <a:xfrm>
            <a:off x="685800" y="3703320"/>
            <a:ext cx="5181448" cy="2103120"/>
          </a:xfrm>
          <a:prstGeom prst="rect">
            <a:avLst/>
          </a:prstGeom>
          <a:solidFill>
            <a:srgbClr val="16304C"/>
          </a:solidFill>
          <a:ln w="12700">
            <a:solidFill>
              <a:srgbClr val="16304C"/>
            </a:solidFill>
            <a:prstDash val="solid"/>
          </a:ln>
        </p:spPr>
      </p:sp>
      <p:sp>
        <p:nvSpPr>
          <p:cNvPr id="11" name="Shape 9"/>
          <p:cNvSpPr/>
          <p:nvPr/>
        </p:nvSpPr>
        <p:spPr>
          <a:xfrm>
            <a:off x="685800" y="3703320"/>
            <a:ext cx="45720" cy="2103120"/>
          </a:xfrm>
          <a:prstGeom prst="rect">
            <a:avLst/>
          </a:prstGeom>
          <a:solidFill>
            <a:srgbClr val="C5A059"/>
          </a:solidFill>
          <a:ln w="12700">
            <a:solidFill>
              <a:srgbClr val="C5A059"/>
            </a:solidFill>
            <a:prstDash val="solid"/>
          </a:ln>
        </p:spPr>
      </p:sp>
      <p:sp>
        <p:nvSpPr>
          <p:cNvPr id="12" name="Text 10"/>
          <p:cNvSpPr/>
          <p:nvPr/>
        </p:nvSpPr>
        <p:spPr>
          <a:xfrm>
            <a:off x="941832" y="3886200"/>
            <a:ext cx="472424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SKINNER, 1938 — REFUERZO INTERMITENTE</a:t>
            </a:r>
            <a:endParaRPr lang="en-US" sz="1100" dirty="0"/>
          </a:p>
        </p:txBody>
      </p:sp>
      <p:sp>
        <p:nvSpPr>
          <p:cNvPr id="13" name="Text 11"/>
          <p:cNvSpPr/>
          <p:nvPr/>
        </p:nvSpPr>
        <p:spPr>
          <a:xfrm>
            <a:off x="941832" y="4233672"/>
            <a:ext cx="4678528" cy="141732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Cuando la recompensa es variable e impredecible, la conducta se vuelve mucho más resistente a extinguirse que cuando la recompensa es segura. Es el principio de diseño de la tragamonedas y hoy de la app de apuestas.</a:t>
            </a:r>
            <a:endParaRPr lang="en-US" sz="1350" dirty="0"/>
          </a:p>
        </p:txBody>
      </p:sp>
      <p:sp>
        <p:nvSpPr>
          <p:cNvPr id="14" name="Shape 12"/>
          <p:cNvSpPr/>
          <p:nvPr/>
        </p:nvSpPr>
        <p:spPr>
          <a:xfrm>
            <a:off x="6324448" y="3703320"/>
            <a:ext cx="5181448" cy="2103120"/>
          </a:xfrm>
          <a:prstGeom prst="rect">
            <a:avLst/>
          </a:prstGeom>
          <a:solidFill>
            <a:srgbClr val="16304C"/>
          </a:solidFill>
          <a:ln w="12700">
            <a:solidFill>
              <a:srgbClr val="16304C"/>
            </a:solidFill>
            <a:prstDash val="solid"/>
          </a:ln>
        </p:spPr>
      </p:sp>
      <p:sp>
        <p:nvSpPr>
          <p:cNvPr id="15" name="Shape 13"/>
          <p:cNvSpPr/>
          <p:nvPr/>
        </p:nvSpPr>
        <p:spPr>
          <a:xfrm>
            <a:off x="6324448" y="3703320"/>
            <a:ext cx="45720" cy="2103120"/>
          </a:xfrm>
          <a:prstGeom prst="rect">
            <a:avLst/>
          </a:prstGeom>
          <a:solidFill>
            <a:srgbClr val="C5A059"/>
          </a:solidFill>
          <a:ln w="12700">
            <a:solidFill>
              <a:srgbClr val="C5A059"/>
            </a:solidFill>
            <a:prstDash val="solid"/>
          </a:ln>
        </p:spPr>
      </p:sp>
      <p:sp>
        <p:nvSpPr>
          <p:cNvPr id="16" name="Text 14"/>
          <p:cNvSpPr/>
          <p:nvPr/>
        </p:nvSpPr>
        <p:spPr>
          <a:xfrm>
            <a:off x="6580480" y="3886200"/>
            <a:ext cx="472424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SCHULTZ, DAYAN Y MONTAGUE, 1997</a:t>
            </a:r>
            <a:endParaRPr lang="en-US" sz="1100" dirty="0"/>
          </a:p>
        </p:txBody>
      </p:sp>
      <p:sp>
        <p:nvSpPr>
          <p:cNvPr id="17" name="Text 15"/>
          <p:cNvSpPr/>
          <p:nvPr/>
        </p:nvSpPr>
        <p:spPr>
          <a:xfrm>
            <a:off x="6580480" y="4233672"/>
            <a:ext cx="4678528" cy="141732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Las neuronas dopaminérgicas no se activan ante el premio: se activan ante la predicción del premio, y su respuesta se dispara cuando el resultado es incierto. Por eso la espera es más potente que el resultado.</a:t>
            </a:r>
            <a:endParaRPr lang="en-US" sz="1350" dirty="0"/>
          </a:p>
        </p:txBody>
      </p:sp>
      <p:sp>
        <p:nvSpPr>
          <p:cNvPr id="18" name="Shape 16"/>
          <p:cNvSpPr/>
          <p:nvPr/>
        </p:nvSpPr>
        <p:spPr>
          <a:xfrm>
            <a:off x="685800" y="6144768"/>
            <a:ext cx="10820095" cy="20117"/>
          </a:xfrm>
          <a:prstGeom prst="rect">
            <a:avLst/>
          </a:prstGeom>
          <a:solidFill>
            <a:srgbClr val="C5A059"/>
          </a:solidFill>
          <a:ln w="12700">
            <a:solidFill>
              <a:srgbClr val="C5A059"/>
            </a:solidFill>
            <a:prstDash val="solid"/>
          </a:ln>
        </p:spPr>
      </p:sp>
      <p:sp>
        <p:nvSpPr>
          <p:cNvPr id="19" name="Text 17"/>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Skinner, B. F. (1938). The Behavior of Organisms: An Experimental Analysis. Nueva York: Appleton-Century-Crofts.  ·  Schultz, W., Dayan, P., &amp; Montague, P. R. (1997). “A neural substrate of prediction and reward”. Science, 275(5306), 1593-1599.  ·  Griffiths, M. D. (1993). “Fruit machine gambling: The importance of structural characteristics”. Journal of Gambling Studies, 9(2), 101-120.  ·  Bilinkis, S. (2024). “Apuestas online: el método infalible para perder plata y más”. Futuro en Construcción, T13 E10.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1 — EL MECANISMO</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Por qué el adolescente está más expuesto</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874520"/>
            <a:ext cx="3362858" cy="2468880"/>
          </a:xfrm>
          <a:prstGeom prst="rect">
            <a:avLst/>
          </a:prstGeom>
          <a:solidFill>
            <a:srgbClr val="16304C"/>
          </a:solidFill>
          <a:ln w="12700">
            <a:solidFill>
              <a:srgbClr val="16304C"/>
            </a:solidFill>
            <a:prstDash val="solid"/>
          </a:ln>
        </p:spPr>
      </p:sp>
      <p:sp>
        <p:nvSpPr>
          <p:cNvPr id="6" name="Shape 4"/>
          <p:cNvSpPr/>
          <p:nvPr/>
        </p:nvSpPr>
        <p:spPr>
          <a:xfrm>
            <a:off x="685800" y="1874520"/>
            <a:ext cx="45720" cy="2468880"/>
          </a:xfrm>
          <a:prstGeom prst="rect">
            <a:avLst/>
          </a:prstGeom>
          <a:solidFill>
            <a:srgbClr val="C5A059"/>
          </a:solidFill>
          <a:ln w="12700">
            <a:solidFill>
              <a:srgbClr val="C5A059"/>
            </a:solidFill>
            <a:prstDash val="solid"/>
          </a:ln>
        </p:spPr>
      </p:sp>
      <p:sp>
        <p:nvSpPr>
          <p:cNvPr id="7" name="Text 5"/>
          <p:cNvSpPr/>
          <p:nvPr/>
        </p:nvSpPr>
        <p:spPr>
          <a:xfrm>
            <a:off x="941832" y="205740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UN DESBALANCE DE TIEMPOS</a:t>
            </a:r>
            <a:endParaRPr lang="en-US" sz="1100" dirty="0"/>
          </a:p>
        </p:txBody>
      </p:sp>
      <p:sp>
        <p:nvSpPr>
          <p:cNvPr id="8" name="Text 6"/>
          <p:cNvSpPr/>
          <p:nvPr/>
        </p:nvSpPr>
        <p:spPr>
          <a:xfrm>
            <a:off x="941832" y="2404872"/>
            <a:ext cx="2859938" cy="178308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El sistema de recompensa madura temprano. La corteza prefrontal, que frena y anticipa consecuencias, sigue en desarrollo hasta bien entrados los veinte. No es imprudencia: es un desfasaje del desarrollo.</a:t>
            </a:r>
            <a:endParaRPr lang="en-US" sz="1350" dirty="0"/>
          </a:p>
        </p:txBody>
      </p:sp>
      <p:sp>
        <p:nvSpPr>
          <p:cNvPr id="9" name="Shape 7"/>
          <p:cNvSpPr/>
          <p:nvPr/>
        </p:nvSpPr>
        <p:spPr>
          <a:xfrm>
            <a:off x="4414418" y="1874520"/>
            <a:ext cx="3362858" cy="2468880"/>
          </a:xfrm>
          <a:prstGeom prst="rect">
            <a:avLst/>
          </a:prstGeom>
          <a:solidFill>
            <a:srgbClr val="16304C"/>
          </a:solidFill>
          <a:ln w="12700">
            <a:solidFill>
              <a:srgbClr val="16304C"/>
            </a:solidFill>
            <a:prstDash val="solid"/>
          </a:ln>
        </p:spPr>
      </p:sp>
      <p:sp>
        <p:nvSpPr>
          <p:cNvPr id="10" name="Shape 8"/>
          <p:cNvSpPr/>
          <p:nvPr/>
        </p:nvSpPr>
        <p:spPr>
          <a:xfrm>
            <a:off x="4414418" y="1874520"/>
            <a:ext cx="45720" cy="2468880"/>
          </a:xfrm>
          <a:prstGeom prst="rect">
            <a:avLst/>
          </a:prstGeom>
          <a:solidFill>
            <a:srgbClr val="C5A059"/>
          </a:solidFill>
          <a:ln w="12700">
            <a:solidFill>
              <a:srgbClr val="C5A059"/>
            </a:solidFill>
            <a:prstDash val="solid"/>
          </a:ln>
        </p:spPr>
      </p:sp>
      <p:sp>
        <p:nvSpPr>
          <p:cNvPr id="11" name="Text 9"/>
          <p:cNvSpPr/>
          <p:nvPr/>
        </p:nvSpPr>
        <p:spPr>
          <a:xfrm>
            <a:off x="4670450" y="205740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EL PESO DEL GRUPO</a:t>
            </a:r>
            <a:endParaRPr lang="en-US" sz="1100" dirty="0"/>
          </a:p>
        </p:txBody>
      </p:sp>
      <p:sp>
        <p:nvSpPr>
          <p:cNvPr id="12" name="Text 10"/>
          <p:cNvSpPr/>
          <p:nvPr/>
        </p:nvSpPr>
        <p:spPr>
          <a:xfrm>
            <a:off x="4670450" y="2404872"/>
            <a:ext cx="2859938" cy="178308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En la adolescencia, la presencia de pares aumenta de forma medible la toma de riesgos. Apostar es, muchas veces, una actividad social antes que económica: se comparte el pronóstico, el grupo y el resultado.</a:t>
            </a:r>
            <a:endParaRPr lang="en-US" sz="1350" dirty="0"/>
          </a:p>
        </p:txBody>
      </p:sp>
      <p:sp>
        <p:nvSpPr>
          <p:cNvPr id="13" name="Shape 11"/>
          <p:cNvSpPr/>
          <p:nvPr/>
        </p:nvSpPr>
        <p:spPr>
          <a:xfrm>
            <a:off x="8143037" y="1874520"/>
            <a:ext cx="3362858" cy="2468880"/>
          </a:xfrm>
          <a:prstGeom prst="rect">
            <a:avLst/>
          </a:prstGeom>
          <a:solidFill>
            <a:srgbClr val="16304C"/>
          </a:solidFill>
          <a:ln w="12700">
            <a:solidFill>
              <a:srgbClr val="16304C"/>
            </a:solidFill>
            <a:prstDash val="solid"/>
          </a:ln>
        </p:spPr>
      </p:sp>
      <p:sp>
        <p:nvSpPr>
          <p:cNvPr id="14" name="Shape 12"/>
          <p:cNvSpPr/>
          <p:nvPr/>
        </p:nvSpPr>
        <p:spPr>
          <a:xfrm>
            <a:off x="8143037" y="1874520"/>
            <a:ext cx="45720" cy="2468880"/>
          </a:xfrm>
          <a:prstGeom prst="rect">
            <a:avLst/>
          </a:prstGeom>
          <a:solidFill>
            <a:srgbClr val="C5A059"/>
          </a:solidFill>
          <a:ln w="12700">
            <a:solidFill>
              <a:srgbClr val="C5A059"/>
            </a:solidFill>
            <a:prstDash val="solid"/>
          </a:ln>
        </p:spPr>
      </p:sp>
      <p:sp>
        <p:nvSpPr>
          <p:cNvPr id="15" name="Text 13"/>
          <p:cNvSpPr/>
          <p:nvPr/>
        </p:nvSpPr>
        <p:spPr>
          <a:xfrm>
            <a:off x="8399069" y="205740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Y EMPIEZA TEMPRANO</a:t>
            </a:r>
            <a:endParaRPr lang="en-US" sz="1100" dirty="0"/>
          </a:p>
        </p:txBody>
      </p:sp>
      <p:sp>
        <p:nvSpPr>
          <p:cNvPr id="16" name="Text 14"/>
          <p:cNvSpPr/>
          <p:nvPr/>
        </p:nvSpPr>
        <p:spPr>
          <a:xfrm>
            <a:off x="8399069" y="2404872"/>
            <a:ext cx="2859938" cy="178308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En España, la edad media de inicio en el juego con dinero es de 14,7 años online y 14,8 presencial. Es decir: cuando el problema aparece, la conducta suele llevar años.</a:t>
            </a:r>
            <a:endParaRPr lang="en-US" sz="1350" dirty="0"/>
          </a:p>
        </p:txBody>
      </p:sp>
      <p:sp>
        <p:nvSpPr>
          <p:cNvPr id="17" name="Text 15"/>
          <p:cNvSpPr/>
          <p:nvPr/>
        </p:nvSpPr>
        <p:spPr>
          <a:xfrm>
            <a:off x="685800" y="4663440"/>
            <a:ext cx="10820095" cy="548640"/>
          </a:xfrm>
          <a:prstGeom prst="rect">
            <a:avLst/>
          </a:prstGeom>
          <a:noFill/>
          <a:ln/>
        </p:spPr>
        <p:txBody>
          <a:bodyPr wrap="square" rtlCol="0" anchor="ctr"/>
          <a:lstStyle/>
          <a:p>
            <a:pPr indent="0" marL="0">
              <a:buNone/>
            </a:pPr>
            <a:r>
              <a:rPr lang="en-US" sz="1700" i="1" dirty="0">
                <a:solidFill>
                  <a:srgbClr val="E0C68A"/>
                </a:solidFill>
                <a:latin typeface="Georgia" pitchFamily="34" charset="0"/>
                <a:ea typeface="Georgia" pitchFamily="34" charset="-122"/>
                <a:cs typeface="Georgia" pitchFamily="34" charset="-120"/>
              </a:rPr>
              <a:t>Consecuencia para la detección: la ventana útil está en la secundaria y en el club, no en el consultorio de adultos.</a:t>
            </a:r>
            <a:endParaRPr lang="en-US" sz="1700" dirty="0"/>
          </a:p>
        </p:txBody>
      </p:sp>
      <p:sp>
        <p:nvSpPr>
          <p:cNvPr id="18" name="Shape 16"/>
          <p:cNvSpPr/>
          <p:nvPr/>
        </p:nvSpPr>
        <p:spPr>
          <a:xfrm>
            <a:off x="685800" y="6144768"/>
            <a:ext cx="10820095" cy="20117"/>
          </a:xfrm>
          <a:prstGeom prst="rect">
            <a:avLst/>
          </a:prstGeom>
          <a:solidFill>
            <a:srgbClr val="C5A059"/>
          </a:solidFill>
          <a:ln w="12700">
            <a:solidFill>
              <a:srgbClr val="C5A059"/>
            </a:solidFill>
            <a:prstDash val="solid"/>
          </a:ln>
        </p:spPr>
      </p:sp>
      <p:sp>
        <p:nvSpPr>
          <p:cNvPr id="19" name="Text 17"/>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Casey, B. J., Jones, R. M., &amp; Hare, T. A. (2008). “The adolescent brain”. Annals of the New York Academy of Sciences, 1124(1), 111-126.  ·  Steinberg, L. (2008). “A social neuroscience perspective on adolescent risk-taking”. Developmental Review, 28(1), 78-106.  ·  Observatorio Español de las Drogas y las Adicciones (2024). Informe sobre Adicciones Comportamentales. Madrid: Ministerio de Sanidad (encuesta ESTUDES 2023).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1 — EL MECANISMO</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Por qué el juego online es otra cosa</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Text 3"/>
          <p:cNvSpPr/>
          <p:nvPr/>
        </p:nvSpPr>
        <p:spPr>
          <a:xfrm>
            <a:off x="685800" y="1627632"/>
            <a:ext cx="10820095" cy="548640"/>
          </a:xfrm>
          <a:prstGeom prst="rect">
            <a:avLst/>
          </a:prstGeom>
          <a:noFill/>
          <a:ln/>
        </p:spPr>
        <p:txBody>
          <a:bodyPr wrap="square" rtlCol="0" anchor="ctr"/>
          <a:lstStyle/>
          <a:p>
            <a:pPr indent="0" marL="0">
              <a:lnSpc>
                <a:spcPct val="125000"/>
              </a:lnSpc>
              <a:buNone/>
            </a:pPr>
            <a:r>
              <a:rPr lang="en-US" sz="1500" dirty="0">
                <a:solidFill>
                  <a:srgbClr val="9FB4D4"/>
                </a:solidFill>
                <a:latin typeface="Calibri" pitchFamily="34" charset="0"/>
                <a:ea typeface="Calibri" pitchFamily="34" charset="-122"/>
                <a:cs typeface="Calibri" pitchFamily="34" charset="-120"/>
              </a:rPr>
              <a:t>Griffiths y Parke señalaron desde principios de los 2000 que el juego online presenta características estructurales que amplían su potencial adictivo respecto del juego presencial.</a:t>
            </a:r>
            <a:endParaRPr lang="en-US" sz="1500" dirty="0"/>
          </a:p>
        </p:txBody>
      </p:sp>
      <p:sp>
        <p:nvSpPr>
          <p:cNvPr id="6" name="Shape 4"/>
          <p:cNvSpPr/>
          <p:nvPr/>
        </p:nvSpPr>
        <p:spPr>
          <a:xfrm>
            <a:off x="685800" y="2286000"/>
            <a:ext cx="3362858" cy="1508760"/>
          </a:xfrm>
          <a:prstGeom prst="rect">
            <a:avLst/>
          </a:prstGeom>
          <a:solidFill>
            <a:srgbClr val="16304C"/>
          </a:solidFill>
          <a:ln w="12700">
            <a:solidFill>
              <a:srgbClr val="16304C"/>
            </a:solidFill>
            <a:prstDash val="solid"/>
          </a:ln>
        </p:spPr>
      </p:sp>
      <p:sp>
        <p:nvSpPr>
          <p:cNvPr id="7" name="Shape 5"/>
          <p:cNvSpPr/>
          <p:nvPr/>
        </p:nvSpPr>
        <p:spPr>
          <a:xfrm>
            <a:off x="685800" y="2286000"/>
            <a:ext cx="45720" cy="1508760"/>
          </a:xfrm>
          <a:prstGeom prst="rect">
            <a:avLst/>
          </a:prstGeom>
          <a:solidFill>
            <a:srgbClr val="C5A059"/>
          </a:solidFill>
          <a:ln w="12700">
            <a:solidFill>
              <a:srgbClr val="C5A059"/>
            </a:solidFill>
            <a:prstDash val="solid"/>
          </a:ln>
        </p:spPr>
      </p:sp>
      <p:sp>
        <p:nvSpPr>
          <p:cNvPr id="8" name="Text 6"/>
          <p:cNvSpPr/>
          <p:nvPr/>
        </p:nvSpPr>
        <p:spPr>
          <a:xfrm>
            <a:off x="941832" y="246888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ANONIMATO</a:t>
            </a:r>
            <a:endParaRPr lang="en-US" sz="1100" dirty="0"/>
          </a:p>
        </p:txBody>
      </p:sp>
      <p:sp>
        <p:nvSpPr>
          <p:cNvPr id="9" name="Text 7"/>
          <p:cNvSpPr/>
          <p:nvPr/>
        </p:nvSpPr>
        <p:spPr>
          <a:xfrm>
            <a:off x="941832" y="2816352"/>
            <a:ext cx="2859938" cy="82296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Nadie lo ve entrar ni salir. No hay portero, no hay testigo, no hay vergüenza social.</a:t>
            </a:r>
            <a:endParaRPr lang="en-US" sz="1250" dirty="0"/>
          </a:p>
        </p:txBody>
      </p:sp>
      <p:sp>
        <p:nvSpPr>
          <p:cNvPr id="10" name="Shape 8"/>
          <p:cNvSpPr/>
          <p:nvPr/>
        </p:nvSpPr>
        <p:spPr>
          <a:xfrm>
            <a:off x="4414418" y="2286000"/>
            <a:ext cx="3362858" cy="1508760"/>
          </a:xfrm>
          <a:prstGeom prst="rect">
            <a:avLst/>
          </a:prstGeom>
          <a:solidFill>
            <a:srgbClr val="16304C"/>
          </a:solidFill>
          <a:ln w="12700">
            <a:solidFill>
              <a:srgbClr val="16304C"/>
            </a:solidFill>
            <a:prstDash val="solid"/>
          </a:ln>
        </p:spPr>
      </p:sp>
      <p:sp>
        <p:nvSpPr>
          <p:cNvPr id="11" name="Shape 9"/>
          <p:cNvSpPr/>
          <p:nvPr/>
        </p:nvSpPr>
        <p:spPr>
          <a:xfrm>
            <a:off x="4414418" y="2286000"/>
            <a:ext cx="45720" cy="1508760"/>
          </a:xfrm>
          <a:prstGeom prst="rect">
            <a:avLst/>
          </a:prstGeom>
          <a:solidFill>
            <a:srgbClr val="C5A059"/>
          </a:solidFill>
          <a:ln w="12700">
            <a:solidFill>
              <a:srgbClr val="C5A059"/>
            </a:solidFill>
            <a:prstDash val="solid"/>
          </a:ln>
        </p:spPr>
      </p:sp>
      <p:sp>
        <p:nvSpPr>
          <p:cNvPr id="12" name="Text 10"/>
          <p:cNvSpPr/>
          <p:nvPr/>
        </p:nvSpPr>
        <p:spPr>
          <a:xfrm>
            <a:off x="4670450" y="246888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ACCESO 24/7</a:t>
            </a:r>
            <a:endParaRPr lang="en-US" sz="1100" dirty="0"/>
          </a:p>
        </p:txBody>
      </p:sp>
      <p:sp>
        <p:nvSpPr>
          <p:cNvPr id="13" name="Text 11"/>
          <p:cNvSpPr/>
          <p:nvPr/>
        </p:nvSpPr>
        <p:spPr>
          <a:xfrm>
            <a:off x="4670450" y="2816352"/>
            <a:ext cx="2859938" cy="82296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No cierra. Está en el mismo aparato con el que estudia, habla con amigos y mira los partidos.</a:t>
            </a:r>
            <a:endParaRPr lang="en-US" sz="1250" dirty="0"/>
          </a:p>
        </p:txBody>
      </p:sp>
      <p:sp>
        <p:nvSpPr>
          <p:cNvPr id="14" name="Shape 12"/>
          <p:cNvSpPr/>
          <p:nvPr/>
        </p:nvSpPr>
        <p:spPr>
          <a:xfrm>
            <a:off x="8143037" y="2286000"/>
            <a:ext cx="3362858" cy="1508760"/>
          </a:xfrm>
          <a:prstGeom prst="rect">
            <a:avLst/>
          </a:prstGeom>
          <a:solidFill>
            <a:srgbClr val="16304C"/>
          </a:solidFill>
          <a:ln w="12700">
            <a:solidFill>
              <a:srgbClr val="16304C"/>
            </a:solidFill>
            <a:prstDash val="solid"/>
          </a:ln>
        </p:spPr>
      </p:sp>
      <p:sp>
        <p:nvSpPr>
          <p:cNvPr id="15" name="Shape 13"/>
          <p:cNvSpPr/>
          <p:nvPr/>
        </p:nvSpPr>
        <p:spPr>
          <a:xfrm>
            <a:off x="8143037" y="2286000"/>
            <a:ext cx="45720" cy="1508760"/>
          </a:xfrm>
          <a:prstGeom prst="rect">
            <a:avLst/>
          </a:prstGeom>
          <a:solidFill>
            <a:srgbClr val="C5A059"/>
          </a:solidFill>
          <a:ln w="12700">
            <a:solidFill>
              <a:srgbClr val="C5A059"/>
            </a:solidFill>
            <a:prstDash val="solid"/>
          </a:ln>
        </p:spPr>
      </p:sp>
      <p:sp>
        <p:nvSpPr>
          <p:cNvPr id="16" name="Text 14"/>
          <p:cNvSpPr/>
          <p:nvPr/>
        </p:nvSpPr>
        <p:spPr>
          <a:xfrm>
            <a:off x="8399069" y="246888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FRECUENCIA DE EVENTOS</a:t>
            </a:r>
            <a:endParaRPr lang="en-US" sz="1100" dirty="0"/>
          </a:p>
        </p:txBody>
      </p:sp>
      <p:sp>
        <p:nvSpPr>
          <p:cNvPr id="17" name="Text 15"/>
          <p:cNvSpPr/>
          <p:nvPr/>
        </p:nvSpPr>
        <p:spPr>
          <a:xfrm>
            <a:off x="8399069" y="2816352"/>
            <a:ext cx="2859938" cy="82296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Ya no se apuesta a un partido: se apuesta al próximo córner. El ciclo se acorta a segundos.</a:t>
            </a:r>
            <a:endParaRPr lang="en-US" sz="1250" dirty="0"/>
          </a:p>
        </p:txBody>
      </p:sp>
      <p:sp>
        <p:nvSpPr>
          <p:cNvPr id="18" name="Shape 16"/>
          <p:cNvSpPr/>
          <p:nvPr/>
        </p:nvSpPr>
        <p:spPr>
          <a:xfrm>
            <a:off x="685800" y="4023360"/>
            <a:ext cx="3362858" cy="1508760"/>
          </a:xfrm>
          <a:prstGeom prst="rect">
            <a:avLst/>
          </a:prstGeom>
          <a:solidFill>
            <a:srgbClr val="16304C"/>
          </a:solidFill>
          <a:ln w="12700">
            <a:solidFill>
              <a:srgbClr val="16304C"/>
            </a:solidFill>
            <a:prstDash val="solid"/>
          </a:ln>
        </p:spPr>
      </p:sp>
      <p:sp>
        <p:nvSpPr>
          <p:cNvPr id="19" name="Shape 17"/>
          <p:cNvSpPr/>
          <p:nvPr/>
        </p:nvSpPr>
        <p:spPr>
          <a:xfrm>
            <a:off x="685800" y="4023360"/>
            <a:ext cx="45720" cy="1508760"/>
          </a:xfrm>
          <a:prstGeom prst="rect">
            <a:avLst/>
          </a:prstGeom>
          <a:solidFill>
            <a:srgbClr val="C5A059"/>
          </a:solidFill>
          <a:ln w="12700">
            <a:solidFill>
              <a:srgbClr val="C5A059"/>
            </a:solidFill>
            <a:prstDash val="solid"/>
          </a:ln>
        </p:spPr>
      </p:sp>
      <p:sp>
        <p:nvSpPr>
          <p:cNvPr id="20" name="Text 18"/>
          <p:cNvSpPr/>
          <p:nvPr/>
        </p:nvSpPr>
        <p:spPr>
          <a:xfrm>
            <a:off x="941832" y="420624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ENTORNO INMERSIVO</a:t>
            </a:r>
            <a:endParaRPr lang="en-US" sz="1100" dirty="0"/>
          </a:p>
        </p:txBody>
      </p:sp>
      <p:sp>
        <p:nvSpPr>
          <p:cNvPr id="21" name="Text 19"/>
          <p:cNvSpPr/>
          <p:nvPr/>
        </p:nvSpPr>
        <p:spPr>
          <a:xfrm>
            <a:off x="941832" y="4553712"/>
            <a:ext cx="2859938" cy="82296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Sonido, luz, animación y notificaciones diseñadas para sostener la atención.</a:t>
            </a:r>
            <a:endParaRPr lang="en-US" sz="1250" dirty="0"/>
          </a:p>
        </p:txBody>
      </p:sp>
      <p:sp>
        <p:nvSpPr>
          <p:cNvPr id="22" name="Shape 20"/>
          <p:cNvSpPr/>
          <p:nvPr/>
        </p:nvSpPr>
        <p:spPr>
          <a:xfrm>
            <a:off x="4414418" y="4023360"/>
            <a:ext cx="3362858" cy="1508760"/>
          </a:xfrm>
          <a:prstGeom prst="rect">
            <a:avLst/>
          </a:prstGeom>
          <a:solidFill>
            <a:srgbClr val="16304C"/>
          </a:solidFill>
          <a:ln w="12700">
            <a:solidFill>
              <a:srgbClr val="16304C"/>
            </a:solidFill>
            <a:prstDash val="solid"/>
          </a:ln>
        </p:spPr>
      </p:sp>
      <p:sp>
        <p:nvSpPr>
          <p:cNvPr id="23" name="Shape 21"/>
          <p:cNvSpPr/>
          <p:nvPr/>
        </p:nvSpPr>
        <p:spPr>
          <a:xfrm>
            <a:off x="4414418" y="4023360"/>
            <a:ext cx="45720" cy="1508760"/>
          </a:xfrm>
          <a:prstGeom prst="rect">
            <a:avLst/>
          </a:prstGeom>
          <a:solidFill>
            <a:srgbClr val="C5A059"/>
          </a:solidFill>
          <a:ln w="12700">
            <a:solidFill>
              <a:srgbClr val="C5A059"/>
            </a:solidFill>
            <a:prstDash val="solid"/>
          </a:ln>
        </p:spPr>
      </p:sp>
      <p:sp>
        <p:nvSpPr>
          <p:cNvPr id="24" name="Text 22"/>
          <p:cNvSpPr/>
          <p:nvPr/>
        </p:nvSpPr>
        <p:spPr>
          <a:xfrm>
            <a:off x="4670450" y="420624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SIN BARRERAS FÍSICAS</a:t>
            </a:r>
            <a:endParaRPr lang="en-US" sz="1100" dirty="0"/>
          </a:p>
        </p:txBody>
      </p:sp>
      <p:sp>
        <p:nvSpPr>
          <p:cNvPr id="25" name="Text 23"/>
          <p:cNvSpPr/>
          <p:nvPr/>
        </p:nvSpPr>
        <p:spPr>
          <a:xfrm>
            <a:off x="4670450" y="4553712"/>
            <a:ext cx="2859938" cy="82296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Desaparecen la distancia, el horario y la edad como frenos naturales.</a:t>
            </a:r>
            <a:endParaRPr lang="en-US" sz="1250" dirty="0"/>
          </a:p>
        </p:txBody>
      </p:sp>
      <p:sp>
        <p:nvSpPr>
          <p:cNvPr id="26" name="Shape 24"/>
          <p:cNvSpPr/>
          <p:nvPr/>
        </p:nvSpPr>
        <p:spPr>
          <a:xfrm>
            <a:off x="8143037" y="4023360"/>
            <a:ext cx="3362858" cy="1508760"/>
          </a:xfrm>
          <a:prstGeom prst="rect">
            <a:avLst/>
          </a:prstGeom>
          <a:solidFill>
            <a:srgbClr val="16304C"/>
          </a:solidFill>
          <a:ln w="12700">
            <a:solidFill>
              <a:srgbClr val="16304C"/>
            </a:solidFill>
            <a:prstDash val="solid"/>
          </a:ln>
        </p:spPr>
      </p:sp>
      <p:sp>
        <p:nvSpPr>
          <p:cNvPr id="27" name="Shape 25"/>
          <p:cNvSpPr/>
          <p:nvPr/>
        </p:nvSpPr>
        <p:spPr>
          <a:xfrm>
            <a:off x="8143037" y="4023360"/>
            <a:ext cx="45720" cy="1508760"/>
          </a:xfrm>
          <a:prstGeom prst="rect">
            <a:avLst/>
          </a:prstGeom>
          <a:solidFill>
            <a:srgbClr val="C5A059"/>
          </a:solidFill>
          <a:ln w="12700">
            <a:solidFill>
              <a:srgbClr val="C5A059"/>
            </a:solidFill>
            <a:prstDash val="solid"/>
          </a:ln>
        </p:spPr>
      </p:sp>
      <p:sp>
        <p:nvSpPr>
          <p:cNvPr id="28" name="Text 26"/>
          <p:cNvSpPr/>
          <p:nvPr/>
        </p:nvSpPr>
        <p:spPr>
          <a:xfrm>
            <a:off x="8399069" y="420624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DINERO SIN PESO</a:t>
            </a:r>
            <a:endParaRPr lang="en-US" sz="1100" dirty="0"/>
          </a:p>
        </p:txBody>
      </p:sp>
      <p:sp>
        <p:nvSpPr>
          <p:cNvPr id="29" name="Text 27"/>
          <p:cNvSpPr/>
          <p:nvPr/>
        </p:nvSpPr>
        <p:spPr>
          <a:xfrm>
            <a:off x="8399069" y="4553712"/>
            <a:ext cx="2859938" cy="82296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El saldo virtual no se siente como los billetes. La pérdida se registra tarde.</a:t>
            </a:r>
            <a:endParaRPr lang="en-US" sz="1250" dirty="0"/>
          </a:p>
        </p:txBody>
      </p:sp>
      <p:sp>
        <p:nvSpPr>
          <p:cNvPr id="30" name="Shape 28"/>
          <p:cNvSpPr/>
          <p:nvPr/>
        </p:nvSpPr>
        <p:spPr>
          <a:xfrm>
            <a:off x="685800" y="6144768"/>
            <a:ext cx="10820095" cy="20117"/>
          </a:xfrm>
          <a:prstGeom prst="rect">
            <a:avLst/>
          </a:prstGeom>
          <a:solidFill>
            <a:srgbClr val="C5A059"/>
          </a:solidFill>
          <a:ln w="12700">
            <a:solidFill>
              <a:srgbClr val="C5A059"/>
            </a:solidFill>
            <a:prstDash val="solid"/>
          </a:ln>
        </p:spPr>
      </p:sp>
      <p:sp>
        <p:nvSpPr>
          <p:cNvPr id="31" name="Text 29"/>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Griffiths, M. D., &amp; Parke, J. (2002). “The social impact of internet gambling”. Social Science Computer Review, 20(3), 312-320.  ·  Gainsbury, S. M. (2015). “Online gambling addiction: The relationship between internet gambling and disordered gambling”. Current Addiction Reports, 2(2), 185-193.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2 — MAGNITUD</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Cuánto pasa: Argentina y España</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691640"/>
            <a:ext cx="5181448" cy="3703320"/>
          </a:xfrm>
          <a:prstGeom prst="rect">
            <a:avLst/>
          </a:prstGeom>
          <a:solidFill>
            <a:srgbClr val="16304C"/>
          </a:solidFill>
          <a:ln w="12700">
            <a:solidFill>
              <a:srgbClr val="16304C"/>
            </a:solidFill>
            <a:prstDash val="solid"/>
          </a:ln>
        </p:spPr>
      </p:sp>
      <p:sp>
        <p:nvSpPr>
          <p:cNvPr id="6" name="Text 4"/>
          <p:cNvSpPr/>
          <p:nvPr/>
        </p:nvSpPr>
        <p:spPr>
          <a:xfrm>
            <a:off x="960120" y="1810512"/>
            <a:ext cx="4632808" cy="274320"/>
          </a:xfrm>
          <a:prstGeom prst="rect">
            <a:avLst/>
          </a:prstGeom>
          <a:noFill/>
          <a:ln/>
        </p:spPr>
        <p:txBody>
          <a:bodyPr wrap="square" rtlCol="0" anchor="ctr"/>
          <a:lstStyle/>
          <a:p>
            <a:pPr indent="0" marL="0">
              <a:buNone/>
            </a:pPr>
            <a:r>
              <a:rPr lang="en-US" sz="1100" b="1" spc="80" kern="0" dirty="0">
                <a:solidFill>
                  <a:srgbClr val="C5A059"/>
                </a:solidFill>
                <a:latin typeface="Calibri" pitchFamily="34" charset="0"/>
                <a:ea typeface="Calibri" pitchFamily="34" charset="-122"/>
                <a:cs typeface="Calibri" pitchFamily="34" charset="-120"/>
              </a:rPr>
              <a:t>ARGENTINA</a:t>
            </a:r>
            <a:endParaRPr lang="en-US" sz="1100" dirty="0"/>
          </a:p>
        </p:txBody>
      </p:sp>
      <p:sp>
        <p:nvSpPr>
          <p:cNvPr id="7" name="Text 5"/>
          <p:cNvSpPr/>
          <p:nvPr/>
        </p:nvSpPr>
        <p:spPr>
          <a:xfrm>
            <a:off x="960120" y="2176272"/>
            <a:ext cx="4632808" cy="438912"/>
          </a:xfrm>
          <a:prstGeom prst="rect">
            <a:avLst/>
          </a:prstGeom>
          <a:noFill/>
          <a:ln/>
        </p:spPr>
        <p:txBody>
          <a:bodyPr wrap="square" rtlCol="0" anchor="ctr"/>
          <a:lstStyle/>
          <a:p>
            <a:pPr indent="0" marL="0">
              <a:buNone/>
            </a:pPr>
            <a:r>
              <a:rPr lang="en-US" sz="3000" b="1" dirty="0">
                <a:solidFill>
                  <a:srgbClr val="E0C68A"/>
                </a:solidFill>
                <a:latin typeface="Georgia" pitchFamily="34" charset="0"/>
                <a:ea typeface="Georgia" pitchFamily="34" charset="-122"/>
                <a:cs typeface="Georgia" pitchFamily="34" charset="-120"/>
              </a:rPr>
              <a:t>23,3 %</a:t>
            </a:r>
            <a:endParaRPr lang="en-US" sz="3000" dirty="0"/>
          </a:p>
        </p:txBody>
      </p:sp>
      <p:sp>
        <p:nvSpPr>
          <p:cNvPr id="8" name="Text 6"/>
          <p:cNvSpPr/>
          <p:nvPr/>
        </p:nvSpPr>
        <p:spPr>
          <a:xfrm>
            <a:off x="960120" y="2596896"/>
            <a:ext cx="4632808" cy="566928"/>
          </a:xfrm>
          <a:prstGeom prst="rect">
            <a:avLst/>
          </a:prstGeom>
          <a:noFill/>
          <a:ln/>
        </p:spPr>
        <p:txBody>
          <a:bodyPr wrap="square" rtlCol="0" anchor="t"/>
          <a:lstStyle/>
          <a:p>
            <a:pPr indent="0" marL="0">
              <a:lnSpc>
                <a:spcPct val="112000"/>
              </a:lnSpc>
              <a:buNone/>
            </a:pPr>
            <a:r>
              <a:rPr lang="en-US" sz="1200" dirty="0">
                <a:solidFill>
                  <a:srgbClr val="D3E4FB"/>
                </a:solidFill>
                <a:latin typeface="Calibri" pitchFamily="34" charset="0"/>
                <a:ea typeface="Calibri" pitchFamily="34" charset="-122"/>
                <a:cs typeface="Calibri" pitchFamily="34" charset="-120"/>
              </a:rPr>
              <a:t>de los universitarios encuestados apostó dinero en el último año. Uno de cada cinco, preocupado por su forma de apostar.</a:t>
            </a:r>
            <a:endParaRPr lang="en-US" sz="1200" dirty="0"/>
          </a:p>
        </p:txBody>
      </p:sp>
      <p:sp>
        <p:nvSpPr>
          <p:cNvPr id="9" name="Text 7"/>
          <p:cNvSpPr/>
          <p:nvPr/>
        </p:nvSpPr>
        <p:spPr>
          <a:xfrm>
            <a:off x="960120" y="3273552"/>
            <a:ext cx="4632808" cy="438912"/>
          </a:xfrm>
          <a:prstGeom prst="rect">
            <a:avLst/>
          </a:prstGeom>
          <a:noFill/>
          <a:ln/>
        </p:spPr>
        <p:txBody>
          <a:bodyPr wrap="square" rtlCol="0" anchor="ctr"/>
          <a:lstStyle/>
          <a:p>
            <a:pPr indent="0" marL="0">
              <a:buNone/>
            </a:pPr>
            <a:r>
              <a:rPr lang="en-US" sz="3000" b="1" dirty="0">
                <a:solidFill>
                  <a:srgbClr val="E0C68A"/>
                </a:solidFill>
                <a:latin typeface="Georgia" pitchFamily="34" charset="0"/>
                <a:ea typeface="Georgia" pitchFamily="34" charset="-122"/>
                <a:cs typeface="Georgia" pitchFamily="34" charset="-120"/>
              </a:rPr>
              <a:t>12,5 %</a:t>
            </a:r>
            <a:endParaRPr lang="en-US" sz="3000" dirty="0"/>
          </a:p>
        </p:txBody>
      </p:sp>
      <p:sp>
        <p:nvSpPr>
          <p:cNvPr id="10" name="Text 8"/>
          <p:cNvSpPr/>
          <p:nvPr/>
        </p:nvSpPr>
        <p:spPr>
          <a:xfrm>
            <a:off x="960120" y="3694176"/>
            <a:ext cx="4632808" cy="566928"/>
          </a:xfrm>
          <a:prstGeom prst="rect">
            <a:avLst/>
          </a:prstGeom>
          <a:noFill/>
          <a:ln/>
        </p:spPr>
        <p:txBody>
          <a:bodyPr wrap="square" rtlCol="0" anchor="t"/>
          <a:lstStyle/>
          <a:p>
            <a:pPr indent="0" marL="0">
              <a:lnSpc>
                <a:spcPct val="112000"/>
              </a:lnSpc>
              <a:buNone/>
            </a:pPr>
            <a:r>
              <a:rPr lang="en-US" sz="1200" dirty="0">
                <a:solidFill>
                  <a:srgbClr val="D3E4FB"/>
                </a:solidFill>
                <a:latin typeface="Calibri" pitchFamily="34" charset="0"/>
                <a:ea typeface="Calibri" pitchFamily="34" charset="-122"/>
                <a:cs typeface="Calibri" pitchFamily="34" charset="-120"/>
              </a:rPr>
              <a:t>de los adolescentes relevados apostó online (Defensoría del Pueblo PBA, 2024).</a:t>
            </a:r>
            <a:endParaRPr lang="en-US" sz="1200" dirty="0"/>
          </a:p>
        </p:txBody>
      </p:sp>
      <p:sp>
        <p:nvSpPr>
          <p:cNvPr id="11" name="Text 9"/>
          <p:cNvSpPr/>
          <p:nvPr/>
        </p:nvSpPr>
        <p:spPr>
          <a:xfrm>
            <a:off x="960120" y="4370832"/>
            <a:ext cx="4632808" cy="438912"/>
          </a:xfrm>
          <a:prstGeom prst="rect">
            <a:avLst/>
          </a:prstGeom>
          <a:noFill/>
          <a:ln/>
        </p:spPr>
        <p:txBody>
          <a:bodyPr wrap="square" rtlCol="0" anchor="ctr"/>
          <a:lstStyle/>
          <a:p>
            <a:pPr indent="0" marL="0">
              <a:buNone/>
            </a:pPr>
            <a:r>
              <a:rPr lang="en-US" sz="3000" b="1" dirty="0">
                <a:solidFill>
                  <a:srgbClr val="E0C68A"/>
                </a:solidFill>
                <a:latin typeface="Georgia" pitchFamily="34" charset="0"/>
                <a:ea typeface="Georgia" pitchFamily="34" charset="-122"/>
                <a:cs typeface="Georgia" pitchFamily="34" charset="-120"/>
              </a:rPr>
              <a:t>+250 %</a:t>
            </a:r>
            <a:endParaRPr lang="en-US" sz="3000" dirty="0"/>
          </a:p>
        </p:txBody>
      </p:sp>
      <p:sp>
        <p:nvSpPr>
          <p:cNvPr id="12" name="Text 10"/>
          <p:cNvSpPr/>
          <p:nvPr/>
        </p:nvSpPr>
        <p:spPr>
          <a:xfrm>
            <a:off x="960120" y="4791456"/>
            <a:ext cx="4632808" cy="566928"/>
          </a:xfrm>
          <a:prstGeom prst="rect">
            <a:avLst/>
          </a:prstGeom>
          <a:noFill/>
          <a:ln/>
        </p:spPr>
        <p:txBody>
          <a:bodyPr wrap="square" rtlCol="0" anchor="t"/>
          <a:lstStyle/>
          <a:p>
            <a:pPr indent="0" marL="0">
              <a:lnSpc>
                <a:spcPct val="112000"/>
              </a:lnSpc>
              <a:buNone/>
            </a:pPr>
            <a:r>
              <a:rPr lang="en-US" sz="1200" dirty="0">
                <a:solidFill>
                  <a:srgbClr val="D3E4FB"/>
                </a:solidFill>
                <a:latin typeface="Calibri" pitchFamily="34" charset="0"/>
                <a:ea typeface="Calibri" pitchFamily="34" charset="-122"/>
                <a:cs typeface="Calibri" pitchFamily="34" charset="-120"/>
              </a:rPr>
              <a:t>crecieron las consultas a la Línea 141 de SEDRONAR entre 2023 y 2024.</a:t>
            </a:r>
            <a:endParaRPr lang="en-US" sz="1200" dirty="0"/>
          </a:p>
        </p:txBody>
      </p:sp>
      <p:sp>
        <p:nvSpPr>
          <p:cNvPr id="13" name="Shape 11"/>
          <p:cNvSpPr/>
          <p:nvPr/>
        </p:nvSpPr>
        <p:spPr>
          <a:xfrm>
            <a:off x="6324448" y="1691640"/>
            <a:ext cx="5181448" cy="3703320"/>
          </a:xfrm>
          <a:prstGeom prst="rect">
            <a:avLst/>
          </a:prstGeom>
          <a:solidFill>
            <a:srgbClr val="1B3855"/>
          </a:solidFill>
          <a:ln w="12700">
            <a:solidFill>
              <a:srgbClr val="1B3855"/>
            </a:solidFill>
            <a:prstDash val="solid"/>
          </a:ln>
        </p:spPr>
      </p:sp>
      <p:sp>
        <p:nvSpPr>
          <p:cNvPr id="14" name="Text 12"/>
          <p:cNvSpPr/>
          <p:nvPr/>
        </p:nvSpPr>
        <p:spPr>
          <a:xfrm>
            <a:off x="6598768" y="1810512"/>
            <a:ext cx="4632808" cy="274320"/>
          </a:xfrm>
          <a:prstGeom prst="rect">
            <a:avLst/>
          </a:prstGeom>
          <a:noFill/>
          <a:ln/>
        </p:spPr>
        <p:txBody>
          <a:bodyPr wrap="square" rtlCol="0" anchor="ctr"/>
          <a:lstStyle/>
          <a:p>
            <a:pPr indent="0" marL="0">
              <a:buNone/>
            </a:pPr>
            <a:r>
              <a:rPr lang="en-US" sz="1100" b="1" spc="80" kern="0" dirty="0">
                <a:solidFill>
                  <a:srgbClr val="C5A059"/>
                </a:solidFill>
                <a:latin typeface="Calibri" pitchFamily="34" charset="0"/>
                <a:ea typeface="Calibri" pitchFamily="34" charset="-122"/>
                <a:cs typeface="Calibri" pitchFamily="34" charset="-120"/>
              </a:rPr>
              <a:t>ESPAÑA — ESTUDES 2023, 42.208 estudiantes de 14 a 18 años</a:t>
            </a:r>
            <a:endParaRPr lang="en-US" sz="1100" dirty="0"/>
          </a:p>
        </p:txBody>
      </p:sp>
      <p:sp>
        <p:nvSpPr>
          <p:cNvPr id="15" name="Text 13"/>
          <p:cNvSpPr/>
          <p:nvPr/>
        </p:nvSpPr>
        <p:spPr>
          <a:xfrm>
            <a:off x="6598768" y="2176272"/>
            <a:ext cx="4632808" cy="438912"/>
          </a:xfrm>
          <a:prstGeom prst="rect">
            <a:avLst/>
          </a:prstGeom>
          <a:noFill/>
          <a:ln/>
        </p:spPr>
        <p:txBody>
          <a:bodyPr wrap="square" rtlCol="0" anchor="ctr"/>
          <a:lstStyle/>
          <a:p>
            <a:pPr indent="0" marL="0">
              <a:buNone/>
            </a:pPr>
            <a:r>
              <a:rPr lang="en-US" sz="3000" b="1" dirty="0">
                <a:solidFill>
                  <a:srgbClr val="E0C68A"/>
                </a:solidFill>
                <a:latin typeface="Georgia" pitchFamily="34" charset="0"/>
                <a:ea typeface="Georgia" pitchFamily="34" charset="-122"/>
                <a:cs typeface="Georgia" pitchFamily="34" charset="-120"/>
              </a:rPr>
              <a:t>21,5 %</a:t>
            </a:r>
            <a:endParaRPr lang="en-US" sz="3000" dirty="0"/>
          </a:p>
        </p:txBody>
      </p:sp>
      <p:sp>
        <p:nvSpPr>
          <p:cNvPr id="16" name="Text 14"/>
          <p:cNvSpPr/>
          <p:nvPr/>
        </p:nvSpPr>
        <p:spPr>
          <a:xfrm>
            <a:off x="6598768" y="2596896"/>
            <a:ext cx="4632808" cy="566928"/>
          </a:xfrm>
          <a:prstGeom prst="rect">
            <a:avLst/>
          </a:prstGeom>
          <a:noFill/>
          <a:ln/>
        </p:spPr>
        <p:txBody>
          <a:bodyPr wrap="square" rtlCol="0" anchor="t"/>
          <a:lstStyle/>
          <a:p>
            <a:pPr indent="0" marL="0">
              <a:lnSpc>
                <a:spcPct val="112000"/>
              </a:lnSpc>
              <a:buNone/>
            </a:pPr>
            <a:r>
              <a:rPr lang="en-US" sz="1200" dirty="0">
                <a:solidFill>
                  <a:srgbClr val="D3E4FB"/>
                </a:solidFill>
                <a:latin typeface="Calibri" pitchFamily="34" charset="0"/>
                <a:ea typeface="Calibri" pitchFamily="34" charset="-122"/>
                <a:cs typeface="Calibri" pitchFamily="34" charset="-120"/>
              </a:rPr>
              <a:t>jugó dinero en los últimos 12 meses: 29,4 % de los varones y 13,3 % de las mujeres. La cifra subió respecto de 2021.</a:t>
            </a:r>
            <a:endParaRPr lang="en-US" sz="1200" dirty="0"/>
          </a:p>
        </p:txBody>
      </p:sp>
      <p:sp>
        <p:nvSpPr>
          <p:cNvPr id="17" name="Text 15"/>
          <p:cNvSpPr/>
          <p:nvPr/>
        </p:nvSpPr>
        <p:spPr>
          <a:xfrm>
            <a:off x="6598768" y="3273552"/>
            <a:ext cx="4632808" cy="438912"/>
          </a:xfrm>
          <a:prstGeom prst="rect">
            <a:avLst/>
          </a:prstGeom>
          <a:noFill/>
          <a:ln/>
        </p:spPr>
        <p:txBody>
          <a:bodyPr wrap="square" rtlCol="0" anchor="ctr"/>
          <a:lstStyle/>
          <a:p>
            <a:pPr indent="0" marL="0">
              <a:buNone/>
            </a:pPr>
            <a:r>
              <a:rPr lang="en-US" sz="3000" b="1" dirty="0">
                <a:solidFill>
                  <a:srgbClr val="E0C68A"/>
                </a:solidFill>
                <a:latin typeface="Georgia" pitchFamily="34" charset="0"/>
                <a:ea typeface="Georgia" pitchFamily="34" charset="-122"/>
                <a:cs typeface="Georgia" pitchFamily="34" charset="-120"/>
              </a:rPr>
              <a:t>23,5 %</a:t>
            </a:r>
            <a:endParaRPr lang="en-US" sz="3000" dirty="0"/>
          </a:p>
        </p:txBody>
      </p:sp>
      <p:sp>
        <p:nvSpPr>
          <p:cNvPr id="18" name="Text 16"/>
          <p:cNvSpPr/>
          <p:nvPr/>
        </p:nvSpPr>
        <p:spPr>
          <a:xfrm>
            <a:off x="6598768" y="3694176"/>
            <a:ext cx="4632808" cy="566928"/>
          </a:xfrm>
          <a:prstGeom prst="rect">
            <a:avLst/>
          </a:prstGeom>
          <a:noFill/>
          <a:ln/>
        </p:spPr>
        <p:txBody>
          <a:bodyPr wrap="square" rtlCol="0" anchor="t"/>
          <a:lstStyle/>
          <a:p>
            <a:pPr indent="0" marL="0">
              <a:lnSpc>
                <a:spcPct val="112000"/>
              </a:lnSpc>
              <a:buNone/>
            </a:pPr>
            <a:r>
              <a:rPr lang="en-US" sz="1200" dirty="0">
                <a:solidFill>
                  <a:srgbClr val="D3E4FB"/>
                </a:solidFill>
                <a:latin typeface="Calibri" pitchFamily="34" charset="0"/>
                <a:ea typeface="Calibri" pitchFamily="34" charset="-122"/>
                <a:cs typeface="Calibri" pitchFamily="34" charset="-120"/>
              </a:rPr>
              <a:t>de los que jugaron online da positivo en el cribado Lie/Bet de juego problemático.</a:t>
            </a:r>
            <a:endParaRPr lang="en-US" sz="1200" dirty="0"/>
          </a:p>
        </p:txBody>
      </p:sp>
      <p:sp>
        <p:nvSpPr>
          <p:cNvPr id="19" name="Text 17"/>
          <p:cNvSpPr/>
          <p:nvPr/>
        </p:nvSpPr>
        <p:spPr>
          <a:xfrm>
            <a:off x="6598768" y="4370832"/>
            <a:ext cx="4632808" cy="438912"/>
          </a:xfrm>
          <a:prstGeom prst="rect">
            <a:avLst/>
          </a:prstGeom>
          <a:noFill/>
          <a:ln/>
        </p:spPr>
        <p:txBody>
          <a:bodyPr wrap="square" rtlCol="0" anchor="ctr"/>
          <a:lstStyle/>
          <a:p>
            <a:pPr indent="0" marL="0">
              <a:buNone/>
            </a:pPr>
            <a:r>
              <a:rPr lang="en-US" sz="3000" b="1" dirty="0">
                <a:solidFill>
                  <a:srgbClr val="E0C68A"/>
                </a:solidFill>
                <a:latin typeface="Georgia" pitchFamily="34" charset="0"/>
                <a:ea typeface="Georgia" pitchFamily="34" charset="-122"/>
                <a:cs typeface="Georgia" pitchFamily="34" charset="-120"/>
              </a:rPr>
              <a:t>35,2 %</a:t>
            </a:r>
            <a:endParaRPr lang="en-US" sz="3000" dirty="0"/>
          </a:p>
        </p:txBody>
      </p:sp>
      <p:sp>
        <p:nvSpPr>
          <p:cNvPr id="20" name="Text 18"/>
          <p:cNvSpPr/>
          <p:nvPr/>
        </p:nvSpPr>
        <p:spPr>
          <a:xfrm>
            <a:off x="6598768" y="4791456"/>
            <a:ext cx="4632808" cy="566928"/>
          </a:xfrm>
          <a:prstGeom prst="rect">
            <a:avLst/>
          </a:prstGeom>
          <a:noFill/>
          <a:ln/>
        </p:spPr>
        <p:txBody>
          <a:bodyPr wrap="square" rtlCol="0" anchor="t"/>
          <a:lstStyle/>
          <a:p>
            <a:pPr indent="0" marL="0">
              <a:lnSpc>
                <a:spcPct val="112000"/>
              </a:lnSpc>
              <a:buNone/>
            </a:pPr>
            <a:r>
              <a:rPr lang="en-US" sz="1200" dirty="0">
                <a:solidFill>
                  <a:srgbClr val="D3E4FB"/>
                </a:solidFill>
                <a:latin typeface="Calibri" pitchFamily="34" charset="0"/>
                <a:ea typeface="Calibri" pitchFamily="34" charset="-122"/>
                <a:cs typeface="Calibri" pitchFamily="34" charset="-120"/>
              </a:rPr>
              <a:t>de los que juegan online apuesta a deportes. Entre los de juego problemático, es el primer tipo de juego.</a:t>
            </a:r>
            <a:endParaRPr lang="en-US" sz="1200" dirty="0"/>
          </a:p>
        </p:txBody>
      </p:sp>
      <p:sp>
        <p:nvSpPr>
          <p:cNvPr id="21" name="Text 19"/>
          <p:cNvSpPr/>
          <p:nvPr/>
        </p:nvSpPr>
        <p:spPr>
          <a:xfrm>
            <a:off x="685800" y="5532120"/>
            <a:ext cx="10820095" cy="548640"/>
          </a:xfrm>
          <a:prstGeom prst="rect">
            <a:avLst/>
          </a:prstGeom>
          <a:noFill/>
          <a:ln/>
        </p:spPr>
        <p:txBody>
          <a:bodyPr wrap="square" rtlCol="0" anchor="ctr"/>
          <a:lstStyle/>
          <a:p>
            <a:pPr indent="0" marL="0">
              <a:lnSpc>
                <a:spcPct val="115000"/>
              </a:lnSpc>
              <a:buNone/>
            </a:pPr>
            <a:r>
              <a:rPr lang="en-US" sz="1200" i="1" dirty="0">
                <a:solidFill>
                  <a:srgbClr val="9FB4D4"/>
                </a:solidFill>
                <a:latin typeface="Calibri" pitchFamily="34" charset="0"/>
                <a:ea typeface="Calibri" pitchFamily="34" charset="-122"/>
                <a:cs typeface="Calibri" pitchFamily="34" charset="-120"/>
              </a:rPr>
              <a:t>Un dato para tomar con cuidado: los equipos clínicos locales reportan que, desde Qatar 2022, la consulta por ludopatía se corrió de personas mayores de 50 años a jóvenes de 15 a 25. Es información de prensa especializada, no un estudio epidemiológico.</a:t>
            </a:r>
            <a:endParaRPr lang="en-US" sz="1200" dirty="0"/>
          </a:p>
        </p:txBody>
      </p:sp>
      <p:sp>
        <p:nvSpPr>
          <p:cNvPr id="22" name="Shape 20"/>
          <p:cNvSpPr/>
          <p:nvPr/>
        </p:nvSpPr>
        <p:spPr>
          <a:xfrm>
            <a:off x="685800" y="6144768"/>
            <a:ext cx="10820095" cy="20117"/>
          </a:xfrm>
          <a:prstGeom prst="rect">
            <a:avLst/>
          </a:prstGeom>
          <a:solidFill>
            <a:srgbClr val="C5A059"/>
          </a:solidFill>
          <a:ln w="12700">
            <a:solidFill>
              <a:srgbClr val="C5A059"/>
            </a:solidFill>
            <a:prstDash val="solid"/>
          </a:ln>
        </p:spPr>
      </p:sp>
      <p:sp>
        <p:nvSpPr>
          <p:cNvPr id="23" name="Text 21"/>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SEDRONAR (2023). Estudio sobre consumos problemáticos y juego en estudiantes universitarios. Buenos Aires.  ·  Defensoría del Pueblo de la Provincia de Buenos Aires — Observatorio de Adicciones y Consumos Problemáticos (2024).  ·  Observatorio Español de las Drogas y las Adicciones (2024). Informe sobre Adicciones Comportamentales. Madrid: Ministerio de Sanidad, encuesta ESTUDES 2023 (n = 42.208) y EDADES 2024 (n = 26.878).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DINÁMICA 1</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¿Lo reconocen?</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Text 3"/>
          <p:cNvSpPr/>
          <p:nvPr/>
        </p:nvSpPr>
        <p:spPr>
          <a:xfrm>
            <a:off x="685800" y="1627632"/>
            <a:ext cx="10820095" cy="548640"/>
          </a:xfrm>
          <a:prstGeom prst="rect">
            <a:avLst/>
          </a:prstGeom>
          <a:noFill/>
          <a:ln/>
        </p:spPr>
        <p:txBody>
          <a:bodyPr wrap="square" rtlCol="0" anchor="ctr"/>
          <a:lstStyle/>
          <a:p>
            <a:pPr indent="0" marL="0">
              <a:lnSpc>
                <a:spcPct val="120000"/>
              </a:lnSpc>
              <a:buNone/>
            </a:pPr>
            <a:r>
              <a:rPr lang="en-US" sz="1500" i="1" dirty="0">
                <a:solidFill>
                  <a:srgbClr val="E0C68A"/>
                </a:solidFill>
                <a:latin typeface="Calibri" pitchFamily="34" charset="0"/>
                <a:ea typeface="Calibri" pitchFamily="34" charset="-122"/>
                <a:cs typeface="Calibri" pitchFamily="34" charset="-120"/>
              </a:rPr>
              <a:t>Voy a describir un perfil. Mientras lo hago, piensen si reconocen a alguien: un alumno, un chico del club, alguien del grupo de jóvenes. No hace falta decirlo en voz alta.</a:t>
            </a:r>
            <a:endParaRPr lang="en-US" sz="1500" dirty="0"/>
          </a:p>
        </p:txBody>
      </p:sp>
      <p:sp>
        <p:nvSpPr>
          <p:cNvPr id="6" name="Text 4"/>
          <p:cNvSpPr/>
          <p:nvPr/>
        </p:nvSpPr>
        <p:spPr>
          <a:xfrm>
            <a:off x="685800" y="2377440"/>
            <a:ext cx="5181448" cy="2377440"/>
          </a:xfrm>
          <a:prstGeom prst="rect">
            <a:avLst/>
          </a:prstGeom>
          <a:noFill/>
          <a:ln/>
        </p:spPr>
        <p:txBody>
          <a:bodyPr wrap="square" rtlCol="0" anchor="t"/>
          <a:lstStyle/>
          <a:p>
            <a:pPr marL="177800" indent="-177800">
              <a:lnSpc>
                <a:spcPct val="160000"/>
              </a:lnSpc>
              <a:buSzPct val="100000"/>
              <a:buChar char="•"/>
            </a:pPr>
            <a:r>
              <a:rPr lang="en-US" sz="1550" dirty="0">
                <a:solidFill>
                  <a:srgbClr val="D3E4FB"/>
                </a:solidFill>
                <a:latin typeface="Calibri" pitchFamily="34" charset="0"/>
                <a:ea typeface="Calibri" pitchFamily="34" charset="-122"/>
                <a:cs typeface="Calibri" pitchFamily="34" charset="-120"/>
              </a:rPr>
              <a:t>Varón, entre 14 y 20 años.</a:t>
            </a:r>
            <a:endParaRPr lang="en-US" sz="1550" dirty="0"/>
          </a:p>
          <a:p>
            <a:pPr marL="177800" indent="-177800">
              <a:lnSpc>
                <a:spcPct val="160000"/>
              </a:lnSpc>
              <a:buSzPct val="100000"/>
              <a:buChar char="•"/>
            </a:pPr>
            <a:r>
              <a:rPr lang="en-US" sz="1550" dirty="0">
                <a:solidFill>
                  <a:srgbClr val="D3E4FB"/>
                </a:solidFill>
                <a:latin typeface="Calibri" pitchFamily="34" charset="0"/>
                <a:ea typeface="Calibri" pitchFamily="34" charset="-122"/>
                <a:cs typeface="Calibri" pitchFamily="34" charset="-120"/>
              </a:rPr>
              <a:t>Impulsivo, con baja tolerancia a la frustración.</a:t>
            </a:r>
            <a:endParaRPr lang="en-US" sz="1550" dirty="0"/>
          </a:p>
          <a:p>
            <a:pPr marL="177800" indent="-177800">
              <a:lnSpc>
                <a:spcPct val="160000"/>
              </a:lnSpc>
              <a:buSzPct val="100000"/>
              <a:buChar char="•"/>
            </a:pPr>
            <a:r>
              <a:rPr lang="en-US" sz="1550" dirty="0">
                <a:solidFill>
                  <a:srgbClr val="D3E4FB"/>
                </a:solidFill>
                <a:latin typeface="Calibri" pitchFamily="34" charset="0"/>
                <a:ea typeface="Calibri" pitchFamily="34" charset="-122"/>
                <a:cs typeface="Calibri" pitchFamily="34" charset="-120"/>
              </a:rPr>
              <a:t>Ánimo inestable o disfórico.</a:t>
            </a:r>
            <a:endParaRPr lang="en-US" sz="1550" dirty="0"/>
          </a:p>
          <a:p>
            <a:pPr marL="177800" indent="-177800">
              <a:lnSpc>
                <a:spcPct val="160000"/>
              </a:lnSpc>
              <a:buSzPct val="100000"/>
              <a:buChar char="•"/>
            </a:pPr>
            <a:r>
              <a:rPr lang="en-US" sz="1550" dirty="0">
                <a:solidFill>
                  <a:srgbClr val="D3E4FB"/>
                </a:solidFill>
                <a:latin typeface="Calibri" pitchFamily="34" charset="0"/>
                <a:ea typeface="Calibri" pitchFamily="34" charset="-122"/>
                <a:cs typeface="Calibri" pitchFamily="34" charset="-120"/>
              </a:rPr>
              <a:t>Búsqueda intensa de sensaciones fuertes.</a:t>
            </a:r>
            <a:endParaRPr lang="en-US" sz="1550" dirty="0"/>
          </a:p>
        </p:txBody>
      </p:sp>
      <p:sp>
        <p:nvSpPr>
          <p:cNvPr id="7" name="Text 5"/>
          <p:cNvSpPr/>
          <p:nvPr/>
        </p:nvSpPr>
        <p:spPr>
          <a:xfrm>
            <a:off x="6324448" y="2377440"/>
            <a:ext cx="5181448" cy="2377440"/>
          </a:xfrm>
          <a:prstGeom prst="rect">
            <a:avLst/>
          </a:prstGeom>
          <a:noFill/>
          <a:ln/>
        </p:spPr>
        <p:txBody>
          <a:bodyPr wrap="square" rtlCol="0" anchor="t"/>
          <a:lstStyle/>
          <a:p>
            <a:pPr marL="177800" indent="-177800">
              <a:lnSpc>
                <a:spcPct val="160000"/>
              </a:lnSpc>
              <a:buSzPct val="100000"/>
              <a:buChar char="•"/>
            </a:pPr>
            <a:r>
              <a:rPr lang="en-US" sz="1550" dirty="0">
                <a:solidFill>
                  <a:srgbClr val="D3E4FB"/>
                </a:solidFill>
                <a:latin typeface="Calibri" pitchFamily="34" charset="0"/>
                <a:ea typeface="Calibri" pitchFamily="34" charset="-122"/>
                <a:cs typeface="Calibri" pitchFamily="34" charset="-120"/>
              </a:rPr>
              <a:t>Autoestima baja y dificultades con los pares.</a:t>
            </a:r>
            <a:endParaRPr lang="en-US" sz="1550" dirty="0"/>
          </a:p>
          <a:p>
            <a:pPr marL="177800" indent="-177800">
              <a:lnSpc>
                <a:spcPct val="160000"/>
              </a:lnSpc>
              <a:buSzPct val="100000"/>
              <a:buChar char="•"/>
            </a:pPr>
            <a:r>
              <a:rPr lang="en-US" sz="1550" dirty="0">
                <a:solidFill>
                  <a:srgbClr val="D3E4FB"/>
                </a:solidFill>
                <a:latin typeface="Calibri" pitchFamily="34" charset="0"/>
                <a:ea typeface="Calibri" pitchFamily="34" charset="-122"/>
                <a:cs typeface="Calibri" pitchFamily="34" charset="-120"/>
              </a:rPr>
              <a:t>Familia con poca supervisión o con antecedentes de juego.</a:t>
            </a:r>
            <a:endParaRPr lang="en-US" sz="1550" dirty="0"/>
          </a:p>
          <a:p>
            <a:pPr marL="177800" indent="-177800">
              <a:lnSpc>
                <a:spcPct val="160000"/>
              </a:lnSpc>
              <a:buSzPct val="100000"/>
              <a:buChar char="•"/>
            </a:pPr>
            <a:r>
              <a:rPr lang="en-US" sz="1550" dirty="0">
                <a:solidFill>
                  <a:srgbClr val="D3E4FB"/>
                </a:solidFill>
                <a:latin typeface="Calibri" pitchFamily="34" charset="0"/>
                <a:ea typeface="Calibri" pitchFamily="34" charset="-122"/>
                <a:cs typeface="Calibri" pitchFamily="34" charset="-120"/>
              </a:rPr>
              <a:t>Grupo donde apostar es lo normal.</a:t>
            </a:r>
            <a:endParaRPr lang="en-US" sz="1550" dirty="0"/>
          </a:p>
          <a:p>
            <a:pPr marL="177800" indent="-177800">
              <a:lnSpc>
                <a:spcPct val="160000"/>
              </a:lnSpc>
              <a:buSzPct val="100000"/>
              <a:buChar char="•"/>
            </a:pPr>
            <a:r>
              <a:rPr lang="en-US" sz="1550" dirty="0">
                <a:solidFill>
                  <a:srgbClr val="D3E4FB"/>
                </a:solidFill>
                <a:latin typeface="Calibri" pitchFamily="34" charset="0"/>
                <a:ea typeface="Calibri" pitchFamily="34" charset="-122"/>
                <a:cs typeface="Calibri" pitchFamily="34" charset="-120"/>
              </a:rPr>
              <a:t>Celular y billetera virtual sin ninguna restricción.</a:t>
            </a:r>
            <a:endParaRPr lang="en-US" sz="1550" dirty="0"/>
          </a:p>
        </p:txBody>
      </p:sp>
      <p:sp>
        <p:nvSpPr>
          <p:cNvPr id="8" name="Text 6"/>
          <p:cNvSpPr/>
          <p:nvPr/>
        </p:nvSpPr>
        <p:spPr>
          <a:xfrm>
            <a:off x="685800" y="5074920"/>
            <a:ext cx="10820095" cy="548640"/>
          </a:xfrm>
          <a:prstGeom prst="rect">
            <a:avLst/>
          </a:prstGeom>
          <a:noFill/>
          <a:ln/>
        </p:spPr>
        <p:txBody>
          <a:bodyPr wrap="square" rtlCol="0" anchor="ctr"/>
          <a:lstStyle/>
          <a:p>
            <a:pPr algn="ctr" indent="0" marL="0">
              <a:buNone/>
            </a:pPr>
            <a:r>
              <a:rPr lang="en-US" sz="1800" i="1" dirty="0">
                <a:solidFill>
                  <a:srgbClr val="FFFFFF"/>
                </a:solidFill>
                <a:latin typeface="Georgia" pitchFamily="34" charset="0"/>
                <a:ea typeface="Georgia" pitchFamily="34" charset="-122"/>
                <a:cs typeface="Georgia" pitchFamily="34" charset="-120"/>
              </a:rPr>
              <a:t>Probablemente lo reconocieron. Ese perfil está en varias aulas y en varios clubes de esta ciudad.</a:t>
            </a:r>
            <a:endParaRPr lang="en-US" sz="1800" dirty="0"/>
          </a:p>
        </p:txBody>
      </p:sp>
      <p:sp>
        <p:nvSpPr>
          <p:cNvPr id="9" name="Shape 7"/>
          <p:cNvSpPr/>
          <p:nvPr/>
        </p:nvSpPr>
        <p:spPr>
          <a:xfrm>
            <a:off x="685800" y="6144768"/>
            <a:ext cx="10820095" cy="20117"/>
          </a:xfrm>
          <a:prstGeom prst="rect">
            <a:avLst/>
          </a:prstGeom>
          <a:solidFill>
            <a:srgbClr val="C5A059"/>
          </a:solidFill>
          <a:ln w="12700">
            <a:solidFill>
              <a:srgbClr val="C5A059"/>
            </a:solidFill>
            <a:prstDash val="solid"/>
          </a:ln>
        </p:spPr>
      </p:sp>
      <p:sp>
        <p:nvSpPr>
          <p:cNvPr id="10" name="Text 8"/>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Echeburúa, E., &amp; Corral, P. (2010). “Adicción a las nuevas tecnologías y a las redes sociales en jóvenes: un nuevo reto”. Adicciones, 22(2), 91-96.  ·  Derevensky, J. L., &amp; Gilbeau, L. (2019). “Adolescent gambling: Twenty-five years of research”. Canadian Journal of Addiction, 10(1), 10-20.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2 — VULNERABILIDAD</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Lo que aumenta el riesgo y lo que lo amortigua</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874520"/>
            <a:ext cx="3362858" cy="3200400"/>
          </a:xfrm>
          <a:prstGeom prst="rect">
            <a:avLst/>
          </a:prstGeom>
          <a:solidFill>
            <a:srgbClr val="16304C"/>
          </a:solidFill>
          <a:ln w="12700">
            <a:solidFill>
              <a:srgbClr val="16304C"/>
            </a:solidFill>
            <a:prstDash val="solid"/>
          </a:ln>
        </p:spPr>
      </p:sp>
      <p:sp>
        <p:nvSpPr>
          <p:cNvPr id="6" name="Shape 4"/>
          <p:cNvSpPr/>
          <p:nvPr/>
        </p:nvSpPr>
        <p:spPr>
          <a:xfrm>
            <a:off x="685800" y="1874520"/>
            <a:ext cx="45720" cy="3200400"/>
          </a:xfrm>
          <a:prstGeom prst="rect">
            <a:avLst/>
          </a:prstGeom>
          <a:solidFill>
            <a:srgbClr val="E0876A"/>
          </a:solidFill>
          <a:ln w="12700">
            <a:solidFill>
              <a:srgbClr val="E0876A"/>
            </a:solidFill>
            <a:prstDash val="solid"/>
          </a:ln>
        </p:spPr>
      </p:sp>
      <p:sp>
        <p:nvSpPr>
          <p:cNvPr id="7" name="Text 5"/>
          <p:cNvSpPr/>
          <p:nvPr/>
        </p:nvSpPr>
        <p:spPr>
          <a:xfrm>
            <a:off x="941832" y="2057400"/>
            <a:ext cx="2905658" cy="274320"/>
          </a:xfrm>
          <a:prstGeom prst="rect">
            <a:avLst/>
          </a:prstGeom>
          <a:noFill/>
          <a:ln/>
        </p:spPr>
        <p:txBody>
          <a:bodyPr wrap="square" rtlCol="0" anchor="ctr"/>
          <a:lstStyle/>
          <a:p>
            <a:pPr indent="0" marL="0">
              <a:buNone/>
            </a:pPr>
            <a:r>
              <a:rPr lang="en-US" sz="1100" b="1" spc="160" kern="0" dirty="0">
                <a:solidFill>
                  <a:srgbClr val="E0876A"/>
                </a:solidFill>
                <a:latin typeface="Calibri" pitchFamily="34" charset="0"/>
                <a:ea typeface="Calibri" pitchFamily="34" charset="-122"/>
                <a:cs typeface="Calibri" pitchFamily="34" charset="-120"/>
              </a:rPr>
              <a:t>NIVEL INDIVIDUAL</a:t>
            </a:r>
            <a:endParaRPr lang="en-US" sz="1100" dirty="0"/>
          </a:p>
        </p:txBody>
      </p:sp>
      <p:sp>
        <p:nvSpPr>
          <p:cNvPr id="8" name="Text 6"/>
          <p:cNvSpPr/>
          <p:nvPr/>
        </p:nvSpPr>
        <p:spPr>
          <a:xfrm>
            <a:off x="941832" y="2404872"/>
            <a:ext cx="2859938" cy="2514600"/>
          </a:xfrm>
          <a:prstGeom prst="rect">
            <a:avLst/>
          </a:prstGeom>
          <a:noFill/>
          <a:ln/>
        </p:spPr>
        <p:txBody>
          <a:bodyPr wrap="square" rtlCol="0" anchor="t"/>
          <a:lstStyle/>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Estado de ánimo disfórico</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Baja tolerancia al malestar</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Impulsividad</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Búsqueda intensa de sensaciones</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Baja autoestima</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Estilos de afrontamiento inadecuados</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Inestabilidad afectiva</a:t>
            </a:r>
            <a:endParaRPr lang="en-US" sz="1300" dirty="0"/>
          </a:p>
        </p:txBody>
      </p:sp>
      <p:sp>
        <p:nvSpPr>
          <p:cNvPr id="9" name="Shape 7"/>
          <p:cNvSpPr/>
          <p:nvPr/>
        </p:nvSpPr>
        <p:spPr>
          <a:xfrm>
            <a:off x="4414418" y="1874520"/>
            <a:ext cx="3362858" cy="3200400"/>
          </a:xfrm>
          <a:prstGeom prst="rect">
            <a:avLst/>
          </a:prstGeom>
          <a:solidFill>
            <a:srgbClr val="16304C"/>
          </a:solidFill>
          <a:ln w="12700">
            <a:solidFill>
              <a:srgbClr val="16304C"/>
            </a:solidFill>
            <a:prstDash val="solid"/>
          </a:ln>
        </p:spPr>
      </p:sp>
      <p:sp>
        <p:nvSpPr>
          <p:cNvPr id="10" name="Shape 8"/>
          <p:cNvSpPr/>
          <p:nvPr/>
        </p:nvSpPr>
        <p:spPr>
          <a:xfrm>
            <a:off x="4414418" y="1874520"/>
            <a:ext cx="45720" cy="3200400"/>
          </a:xfrm>
          <a:prstGeom prst="rect">
            <a:avLst/>
          </a:prstGeom>
          <a:solidFill>
            <a:srgbClr val="E0876A"/>
          </a:solidFill>
          <a:ln w="12700">
            <a:solidFill>
              <a:srgbClr val="E0876A"/>
            </a:solidFill>
            <a:prstDash val="solid"/>
          </a:ln>
        </p:spPr>
      </p:sp>
      <p:sp>
        <p:nvSpPr>
          <p:cNvPr id="11" name="Text 9"/>
          <p:cNvSpPr/>
          <p:nvPr/>
        </p:nvSpPr>
        <p:spPr>
          <a:xfrm>
            <a:off x="4670450" y="2057400"/>
            <a:ext cx="2905658" cy="274320"/>
          </a:xfrm>
          <a:prstGeom prst="rect">
            <a:avLst/>
          </a:prstGeom>
          <a:noFill/>
          <a:ln/>
        </p:spPr>
        <p:txBody>
          <a:bodyPr wrap="square" rtlCol="0" anchor="ctr"/>
          <a:lstStyle/>
          <a:p>
            <a:pPr indent="0" marL="0">
              <a:buNone/>
            </a:pPr>
            <a:r>
              <a:rPr lang="en-US" sz="1100" b="1" spc="160" kern="0" dirty="0">
                <a:solidFill>
                  <a:srgbClr val="E0876A"/>
                </a:solidFill>
                <a:latin typeface="Calibri" pitchFamily="34" charset="0"/>
                <a:ea typeface="Calibri" pitchFamily="34" charset="-122"/>
                <a:cs typeface="Calibri" pitchFamily="34" charset="-120"/>
              </a:rPr>
              <a:t>NIVEL PSICOSOCIAL</a:t>
            </a:r>
            <a:endParaRPr lang="en-US" sz="1100" dirty="0"/>
          </a:p>
        </p:txBody>
      </p:sp>
      <p:sp>
        <p:nvSpPr>
          <p:cNvPr id="12" name="Text 10"/>
          <p:cNvSpPr/>
          <p:nvPr/>
        </p:nvSpPr>
        <p:spPr>
          <a:xfrm>
            <a:off x="4670450" y="2404872"/>
            <a:ext cx="2859938" cy="2514600"/>
          </a:xfrm>
          <a:prstGeom prst="rect">
            <a:avLst/>
          </a:prstGeom>
          <a:noFill/>
          <a:ln/>
        </p:spPr>
        <p:txBody>
          <a:bodyPr wrap="square" rtlCol="0" anchor="t"/>
          <a:lstStyle/>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Características familiares desfavorables</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Presión del grupo</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Acceso fácil y sin restricciones</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Recompensas inmediatas</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Estrés crónico</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Sensación de vacío existencial</a:t>
            </a:r>
            <a:endParaRPr lang="en-US" sz="1300" dirty="0"/>
          </a:p>
        </p:txBody>
      </p:sp>
      <p:sp>
        <p:nvSpPr>
          <p:cNvPr id="13" name="Shape 11"/>
          <p:cNvSpPr/>
          <p:nvPr/>
        </p:nvSpPr>
        <p:spPr>
          <a:xfrm>
            <a:off x="8143037" y="1874520"/>
            <a:ext cx="3362858" cy="3200400"/>
          </a:xfrm>
          <a:prstGeom prst="rect">
            <a:avLst/>
          </a:prstGeom>
          <a:solidFill>
            <a:srgbClr val="16304C"/>
          </a:solidFill>
          <a:ln w="12700">
            <a:solidFill>
              <a:srgbClr val="16304C"/>
            </a:solidFill>
            <a:prstDash val="solid"/>
          </a:ln>
        </p:spPr>
      </p:sp>
      <p:sp>
        <p:nvSpPr>
          <p:cNvPr id="14" name="Shape 12"/>
          <p:cNvSpPr/>
          <p:nvPr/>
        </p:nvSpPr>
        <p:spPr>
          <a:xfrm>
            <a:off x="8143037" y="1874520"/>
            <a:ext cx="45720" cy="3200400"/>
          </a:xfrm>
          <a:prstGeom prst="rect">
            <a:avLst/>
          </a:prstGeom>
          <a:solidFill>
            <a:srgbClr val="8FC9A9"/>
          </a:solidFill>
          <a:ln w="12700">
            <a:solidFill>
              <a:srgbClr val="8FC9A9"/>
            </a:solidFill>
            <a:prstDash val="solid"/>
          </a:ln>
        </p:spPr>
      </p:sp>
      <p:sp>
        <p:nvSpPr>
          <p:cNvPr id="15" name="Text 13"/>
          <p:cNvSpPr/>
          <p:nvPr/>
        </p:nvSpPr>
        <p:spPr>
          <a:xfrm>
            <a:off x="8399069" y="2057400"/>
            <a:ext cx="2905658" cy="274320"/>
          </a:xfrm>
          <a:prstGeom prst="rect">
            <a:avLst/>
          </a:prstGeom>
          <a:noFill/>
          <a:ln/>
        </p:spPr>
        <p:txBody>
          <a:bodyPr wrap="square" rtlCol="0" anchor="ctr"/>
          <a:lstStyle/>
          <a:p>
            <a:pPr indent="0" marL="0">
              <a:buNone/>
            </a:pPr>
            <a:r>
              <a:rPr lang="en-US" sz="1100" b="1" spc="160" kern="0" dirty="0">
                <a:solidFill>
                  <a:srgbClr val="8FC9A9"/>
                </a:solidFill>
                <a:latin typeface="Calibri" pitchFamily="34" charset="0"/>
                <a:ea typeface="Calibri" pitchFamily="34" charset="-122"/>
                <a:cs typeface="Calibri" pitchFamily="34" charset="-120"/>
              </a:rPr>
              <a:t>FACTORES PROTECTORES</a:t>
            </a:r>
            <a:endParaRPr lang="en-US" sz="1100" dirty="0"/>
          </a:p>
        </p:txBody>
      </p:sp>
      <p:sp>
        <p:nvSpPr>
          <p:cNvPr id="16" name="Text 14"/>
          <p:cNvSpPr/>
          <p:nvPr/>
        </p:nvSpPr>
        <p:spPr>
          <a:xfrm>
            <a:off x="8399069" y="2404872"/>
            <a:ext cx="2859938" cy="2514600"/>
          </a:xfrm>
          <a:prstGeom prst="rect">
            <a:avLst/>
          </a:prstGeom>
          <a:noFill/>
          <a:ln/>
        </p:spPr>
        <p:txBody>
          <a:bodyPr wrap="square" rtlCol="0" anchor="t"/>
          <a:lstStyle/>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Autoestima adecuada</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Vínculos familiares con supervisión y comunicación</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Actividades recreativas alternativas</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Adultos referentes presentes y disponibles</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Habilidades sociales desarrolladas</a:t>
            </a:r>
            <a:endParaRPr lang="en-US" sz="1300" dirty="0"/>
          </a:p>
        </p:txBody>
      </p:sp>
      <p:sp>
        <p:nvSpPr>
          <p:cNvPr id="17" name="Text 15"/>
          <p:cNvSpPr/>
          <p:nvPr/>
        </p:nvSpPr>
        <p:spPr>
          <a:xfrm>
            <a:off x="685800" y="5257800"/>
            <a:ext cx="10820095" cy="594360"/>
          </a:xfrm>
          <a:prstGeom prst="rect">
            <a:avLst/>
          </a:prstGeom>
          <a:noFill/>
          <a:ln/>
        </p:spPr>
        <p:txBody>
          <a:bodyPr wrap="square" rtlCol="0" anchor="ctr"/>
          <a:lstStyle/>
          <a:p>
            <a:pPr indent="0" marL="0">
              <a:lnSpc>
                <a:spcPct val="115000"/>
              </a:lnSpc>
              <a:buNone/>
            </a:pPr>
            <a:r>
              <a:rPr lang="en-US" sz="1600" i="1" dirty="0">
                <a:solidFill>
                  <a:srgbClr val="E0C68A"/>
                </a:solidFill>
                <a:latin typeface="Georgia" pitchFamily="34" charset="0"/>
                <a:ea typeface="Georgia" pitchFamily="34" charset="-122"/>
                <a:cs typeface="Georgia" pitchFamily="34" charset="-120"/>
              </a:rPr>
              <a:t>La columna de la derecha es la que ustedes pueden mover. Un club que sostiene, una parroquia que acompaña o un preceptor disponible son, literalmente, factores protectores.</a:t>
            </a:r>
            <a:endParaRPr lang="en-US" sz="1600" dirty="0"/>
          </a:p>
        </p:txBody>
      </p:sp>
      <p:sp>
        <p:nvSpPr>
          <p:cNvPr id="18" name="Shape 16"/>
          <p:cNvSpPr/>
          <p:nvPr/>
        </p:nvSpPr>
        <p:spPr>
          <a:xfrm>
            <a:off x="685800" y="6144768"/>
            <a:ext cx="10820095" cy="20117"/>
          </a:xfrm>
          <a:prstGeom prst="rect">
            <a:avLst/>
          </a:prstGeom>
          <a:solidFill>
            <a:srgbClr val="C5A059"/>
          </a:solidFill>
          <a:ln w="12700">
            <a:solidFill>
              <a:srgbClr val="C5A059"/>
            </a:solidFill>
            <a:prstDash val="solid"/>
          </a:ln>
        </p:spPr>
      </p:sp>
      <p:sp>
        <p:nvSpPr>
          <p:cNvPr id="19" name="Text 17"/>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Echeburúa, E., &amp; Corral, P. (2010). Adicciones, 22(2), 91-96.  ·  Derevensky, J. L., &amp; Gilbeau, L. (2019). Canadian Journal of Addiction, 10(1), 10-20.  ·  Programa CASS (2009). Factores de vulnerabilidad a las adicciones, material de conferencia.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EL CASO — PRIMERA PARTE</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Diego, 21 años</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Text 3"/>
          <p:cNvSpPr/>
          <p:nvPr/>
        </p:nvSpPr>
        <p:spPr>
          <a:xfrm>
            <a:off x="685800" y="1783080"/>
            <a:ext cx="7528255" cy="3291840"/>
          </a:xfrm>
          <a:prstGeom prst="rect">
            <a:avLst/>
          </a:prstGeom>
          <a:noFill/>
          <a:ln/>
        </p:spPr>
        <p:txBody>
          <a:bodyPr wrap="square" rtlCol="0" anchor="t"/>
          <a:lstStyle/>
          <a:p>
            <a:pPr indent="0" marL="0">
              <a:lnSpc>
                <a:spcPct val="130000"/>
              </a:lnSpc>
              <a:buNone/>
            </a:pPr>
            <a:r>
              <a:rPr lang="en-US" sz="1500" b="1" dirty="0">
                <a:solidFill>
                  <a:srgbClr val="FFFFFF"/>
                </a:solidFill>
                <a:latin typeface="Calibri" pitchFamily="34" charset="0"/>
                <a:ea typeface="Calibri" pitchFamily="34" charset="-122"/>
                <a:cs typeface="Calibri" pitchFamily="34" charset="-120"/>
              </a:rPr>
              <a:t>Llega a consulta por ansiedad. </a:t>
            </a:r>
            <a:pPr indent="0" marL="0">
              <a:lnSpc>
                <a:spcPct val="130000"/>
              </a:lnSpc>
              <a:buNone/>
            </a:pPr>
            <a:r>
              <a:rPr lang="en-US" sz="1500" dirty="0">
                <a:solidFill>
                  <a:srgbClr val="D3E4FB"/>
                </a:solidFill>
                <a:latin typeface="Calibri" pitchFamily="34" charset="0"/>
                <a:ea typeface="Calibri" pitchFamily="34" charset="-122"/>
                <a:cs typeface="Calibri" pitchFamily="34" charset="-120"/>
              </a:rPr>
              <a:t>Durante la evaluación se confirma un diagnóstico de Trastorno Obsesivo Compulsivo. El juego no es el motivo de consulta: aparece en sesión, casi al pasar, como “un problema con las apuestas”.
</a:t>
            </a:r>
            <a:pPr indent="0" marL="0">
              <a:lnSpc>
                <a:spcPct val="130000"/>
              </a:lnSpc>
              <a:buNone/>
            </a:pPr>
            <a:r>
              <a:rPr lang="en-US" sz="1500" dirty="0">
                <a:solidFill>
                  <a:srgbClr val="D3E4FB"/>
                </a:solidFill>
                <a:latin typeface="Calibri" pitchFamily="34" charset="0"/>
                <a:ea typeface="Calibri" pitchFamily="34" charset="-122"/>
                <a:cs typeface="Calibri" pitchFamily="34" charset="-120"/>
              </a:rPr>
              <a:t>Entre septiembre y diciembre apostó en una plataforma de apuestas deportivas online el equivalente al 50 % de sus ingresos mensuales. Un familiar cercano lo descubrió. Diego prometió que iba a parar. Y paró.
</a:t>
            </a:r>
            <a:pPr indent="0" marL="0">
              <a:lnSpc>
                <a:spcPct val="130000"/>
              </a:lnSpc>
              <a:buNone/>
            </a:pPr>
            <a:r>
              <a:rPr lang="en-US" sz="1500" dirty="0">
                <a:solidFill>
                  <a:srgbClr val="D3E4FB"/>
                </a:solidFill>
                <a:latin typeface="Calibri" pitchFamily="34" charset="0"/>
                <a:ea typeface="Calibri" pitchFamily="34" charset="-122"/>
                <a:cs typeface="Calibri" pitchFamily="34" charset="-120"/>
              </a:rPr>
              <a:t>Cuatro meses después llegó el Mundial. Publicidad en todos lados. Su hermano, su cuñado y su grupo de amigos apostaban en cada partido. Diego retomó. Esta vez perdió el 70 % de sus ingresos.</a:t>
            </a:r>
            <a:endParaRPr lang="en-US" sz="1500" dirty="0"/>
          </a:p>
        </p:txBody>
      </p:sp>
      <p:sp>
        <p:nvSpPr>
          <p:cNvPr id="6" name="Shape 4"/>
          <p:cNvSpPr/>
          <p:nvPr/>
        </p:nvSpPr>
        <p:spPr>
          <a:xfrm>
            <a:off x="8488375" y="1783080"/>
            <a:ext cx="3017520" cy="3291840"/>
          </a:xfrm>
          <a:prstGeom prst="rect">
            <a:avLst/>
          </a:prstGeom>
          <a:solidFill>
            <a:srgbClr val="16304C"/>
          </a:solidFill>
          <a:ln w="12700">
            <a:solidFill>
              <a:srgbClr val="16304C"/>
            </a:solidFill>
            <a:prstDash val="solid"/>
          </a:ln>
        </p:spPr>
      </p:sp>
      <p:sp>
        <p:nvSpPr>
          <p:cNvPr id="7" name="Shape 5"/>
          <p:cNvSpPr/>
          <p:nvPr/>
        </p:nvSpPr>
        <p:spPr>
          <a:xfrm>
            <a:off x="8488375" y="1783080"/>
            <a:ext cx="45720" cy="3291840"/>
          </a:xfrm>
          <a:prstGeom prst="rect">
            <a:avLst/>
          </a:prstGeom>
          <a:solidFill>
            <a:srgbClr val="C5A059"/>
          </a:solidFill>
          <a:ln w="12700">
            <a:solidFill>
              <a:srgbClr val="C5A059"/>
            </a:solidFill>
            <a:prstDash val="solid"/>
          </a:ln>
        </p:spPr>
      </p:sp>
      <p:sp>
        <p:nvSpPr>
          <p:cNvPr id="8" name="Text 6"/>
          <p:cNvSpPr/>
          <p:nvPr/>
        </p:nvSpPr>
        <p:spPr>
          <a:xfrm>
            <a:off x="8744407" y="1965960"/>
            <a:ext cx="2560320"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QUÉ MIRAR EN ESTE CASO</a:t>
            </a:r>
            <a:endParaRPr lang="en-US" sz="1100" dirty="0"/>
          </a:p>
        </p:txBody>
      </p:sp>
      <p:sp>
        <p:nvSpPr>
          <p:cNvPr id="9" name="Text 7"/>
          <p:cNvSpPr/>
          <p:nvPr/>
        </p:nvSpPr>
        <p:spPr>
          <a:xfrm>
            <a:off x="8744407" y="2313432"/>
            <a:ext cx="2514600" cy="2606040"/>
          </a:xfrm>
          <a:prstGeom prst="rect">
            <a:avLst/>
          </a:prstGeom>
          <a:noFill/>
          <a:ln/>
        </p:spPr>
        <p:txBody>
          <a:bodyPr wrap="square" rtlCol="0" anchor="t"/>
          <a:lstStyle/>
          <a:p>
            <a:pPr marL="152400" indent="-152400">
              <a:lnSpc>
                <a:spcPct val="125000"/>
              </a:lnSpc>
              <a:buSzPct val="100000"/>
              <a:buChar char="•"/>
            </a:pPr>
            <a:r>
              <a:rPr lang="en-US" sz="1250" dirty="0">
                <a:solidFill>
                  <a:srgbClr val="D3E4FB"/>
                </a:solidFill>
                <a:latin typeface="Calibri" pitchFamily="34" charset="0"/>
                <a:ea typeface="Calibri" pitchFamily="34" charset="-122"/>
                <a:cs typeface="Calibri" pitchFamily="34" charset="-120"/>
              </a:rPr>
              <a:t>El juego llegó de costado, no de frente.</a:t>
            </a:r>
            <a:endParaRPr lang="en-US" sz="1250" dirty="0"/>
          </a:p>
          <a:p>
            <a:pPr marL="152400" indent="-152400">
              <a:lnSpc>
                <a:spcPct val="125000"/>
              </a:lnSpc>
              <a:buSzPct val="100000"/>
              <a:buChar char="•"/>
            </a:pPr>
            <a:r>
              <a:rPr lang="en-US" sz="1250" dirty="0">
                <a:solidFill>
                  <a:srgbClr val="D3E4FB"/>
                </a:solidFill>
                <a:latin typeface="Calibri" pitchFamily="34" charset="0"/>
                <a:ea typeface="Calibri" pitchFamily="34" charset="-122"/>
                <a:cs typeface="Calibri" pitchFamily="34" charset="-120"/>
              </a:rPr>
              <a:t>TOC y juego comparten el circuito de la conducta compulsiva.</a:t>
            </a:r>
            <a:endParaRPr lang="en-US" sz="1250" dirty="0"/>
          </a:p>
          <a:p>
            <a:pPr marL="152400" indent="-152400">
              <a:lnSpc>
                <a:spcPct val="125000"/>
              </a:lnSpc>
              <a:buSzPct val="100000"/>
              <a:buChar char="•"/>
            </a:pPr>
            <a:r>
              <a:rPr lang="en-US" sz="1250" dirty="0">
                <a:solidFill>
                  <a:srgbClr val="D3E4FB"/>
                </a:solidFill>
                <a:latin typeface="Calibri" pitchFamily="34" charset="0"/>
                <a:ea typeface="Calibri" pitchFamily="34" charset="-122"/>
                <a:cs typeface="Calibri" pitchFamily="34" charset="-120"/>
              </a:rPr>
              <a:t>El entorno más cercano apostaba.</a:t>
            </a:r>
            <a:endParaRPr lang="en-US" sz="1250" dirty="0"/>
          </a:p>
          <a:p>
            <a:pPr marL="152400" indent="-152400">
              <a:lnSpc>
                <a:spcPct val="125000"/>
              </a:lnSpc>
              <a:buSzPct val="100000"/>
              <a:buChar char="•"/>
            </a:pPr>
            <a:r>
              <a:rPr lang="en-US" sz="1250" dirty="0">
                <a:solidFill>
                  <a:srgbClr val="D3E4FB"/>
                </a:solidFill>
                <a:latin typeface="Calibri" pitchFamily="34" charset="0"/>
                <a:ea typeface="Calibri" pitchFamily="34" charset="-122"/>
                <a:cs typeface="Calibri" pitchFamily="34" charset="-120"/>
              </a:rPr>
              <a:t>La promesa familiar frenó, pero sola no alcanzó.</a:t>
            </a:r>
            <a:endParaRPr lang="en-US" sz="1250" dirty="0"/>
          </a:p>
          <a:p>
            <a:pPr marL="152400" indent="-152400">
              <a:lnSpc>
                <a:spcPct val="125000"/>
              </a:lnSpc>
              <a:buSzPct val="100000"/>
              <a:buChar char="•"/>
            </a:pPr>
            <a:r>
              <a:rPr lang="en-US" sz="1250" dirty="0">
                <a:solidFill>
                  <a:srgbClr val="D3E4FB"/>
                </a:solidFill>
                <a:latin typeface="Calibri" pitchFamily="34" charset="0"/>
                <a:ea typeface="Calibri" pitchFamily="34" charset="-122"/>
                <a:cs typeface="Calibri" pitchFamily="34" charset="-120"/>
              </a:rPr>
              <a:t>La escalada: del 50 % al 70 % de los ingresos.</a:t>
            </a:r>
            <a:endParaRPr lang="en-US" sz="1250" dirty="0"/>
          </a:p>
        </p:txBody>
      </p:sp>
      <p:sp>
        <p:nvSpPr>
          <p:cNvPr id="10" name="Text 8"/>
          <p:cNvSpPr/>
          <p:nvPr/>
        </p:nvSpPr>
        <p:spPr>
          <a:xfrm>
            <a:off x="685800" y="5257800"/>
            <a:ext cx="10820095" cy="320040"/>
          </a:xfrm>
          <a:prstGeom prst="rect">
            <a:avLst/>
          </a:prstGeom>
          <a:noFill/>
          <a:ln/>
        </p:spPr>
        <p:txBody>
          <a:bodyPr wrap="square" rtlCol="0" anchor="ctr"/>
          <a:lstStyle/>
          <a:p>
            <a:pPr indent="0" marL="0">
              <a:buNone/>
            </a:pPr>
            <a:r>
              <a:rPr lang="en-US" sz="1150" i="1" dirty="0">
                <a:solidFill>
                  <a:srgbClr val="9FB4D4"/>
                </a:solidFill>
                <a:latin typeface="Calibri" pitchFamily="34" charset="0"/>
                <a:ea typeface="Calibri" pitchFamily="34" charset="-122"/>
                <a:cs typeface="Calibri" pitchFamily="34" charset="-120"/>
              </a:rPr>
              <a:t>Caso compuesto. Los datos identificatorios fueron modificados; los elementos clínicos se conservan.</a:t>
            </a:r>
            <a:endParaRPr lang="en-US" sz="1150" dirty="0"/>
          </a:p>
        </p:txBody>
      </p:sp>
      <p:sp>
        <p:nvSpPr>
          <p:cNvPr id="11" name="Shape 9"/>
          <p:cNvSpPr/>
          <p:nvPr/>
        </p:nvSpPr>
        <p:spPr>
          <a:xfrm>
            <a:off x="685800" y="6144768"/>
            <a:ext cx="10820095" cy="20117"/>
          </a:xfrm>
          <a:prstGeom prst="rect">
            <a:avLst/>
          </a:prstGeom>
          <a:solidFill>
            <a:srgbClr val="C5A059"/>
          </a:solidFill>
          <a:ln w="12700">
            <a:solidFill>
              <a:srgbClr val="C5A059"/>
            </a:solidFill>
            <a:prstDash val="solid"/>
          </a:ln>
        </p:spPr>
      </p:sp>
      <p:sp>
        <p:nvSpPr>
          <p:cNvPr id="12" name="Text 10"/>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Grant, J. E., Potenza, M. N., Weinstein, A., &amp; Gorelick, D. A. (2010). “Introduction to behavioral addictions”. American Journal of Drug and Alcohol Abuse, 36(5), 233-241.  ·  Lorains, F. K., Cowlishaw, S., &amp; Thomas, S. A. (2011). “Prevalence of comorbid disorders in problem and pathological gambling: Systematic review and meta-analysis of population surveys”. Addiction, 106(3), 490-498.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3 — DETECCIÓN</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Lo que se ve, según dónde esté cada uno</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828800"/>
            <a:ext cx="2464994" cy="3017520"/>
          </a:xfrm>
          <a:prstGeom prst="rect">
            <a:avLst/>
          </a:prstGeom>
          <a:solidFill>
            <a:srgbClr val="16304C"/>
          </a:solidFill>
          <a:ln w="12700">
            <a:solidFill>
              <a:srgbClr val="16304C"/>
            </a:solidFill>
            <a:prstDash val="solid"/>
          </a:ln>
        </p:spPr>
      </p:sp>
      <p:sp>
        <p:nvSpPr>
          <p:cNvPr id="6" name="Shape 4"/>
          <p:cNvSpPr/>
          <p:nvPr/>
        </p:nvSpPr>
        <p:spPr>
          <a:xfrm>
            <a:off x="685800" y="1828800"/>
            <a:ext cx="45720" cy="3017520"/>
          </a:xfrm>
          <a:prstGeom prst="rect">
            <a:avLst/>
          </a:prstGeom>
          <a:solidFill>
            <a:srgbClr val="C5A059"/>
          </a:solidFill>
          <a:ln w="12700">
            <a:solidFill>
              <a:srgbClr val="C5A059"/>
            </a:solidFill>
            <a:prstDash val="solid"/>
          </a:ln>
        </p:spPr>
      </p:sp>
      <p:sp>
        <p:nvSpPr>
          <p:cNvPr id="7" name="Text 5"/>
          <p:cNvSpPr/>
          <p:nvPr/>
        </p:nvSpPr>
        <p:spPr>
          <a:xfrm>
            <a:off x="941832" y="2011680"/>
            <a:ext cx="2007794"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EN EL AULA Y EL EOE</a:t>
            </a:r>
            <a:endParaRPr lang="en-US" sz="1100" dirty="0"/>
          </a:p>
        </p:txBody>
      </p:sp>
      <p:sp>
        <p:nvSpPr>
          <p:cNvPr id="8" name="Text 6"/>
          <p:cNvSpPr/>
          <p:nvPr/>
        </p:nvSpPr>
        <p:spPr>
          <a:xfrm>
            <a:off x="941832" y="2359152"/>
            <a:ext cx="1962074" cy="2331720"/>
          </a:xfrm>
          <a:prstGeom prst="rect">
            <a:avLst/>
          </a:prstGeom>
          <a:noFill/>
          <a:ln/>
        </p:spPr>
        <p:txBody>
          <a:bodyPr wrap="square" rtlCol="0" anchor="t"/>
          <a:lstStyle/>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Caída del rendimiento sin causa aparente</a:t>
            </a:r>
            <a:endParaRPr lang="en-US" sz="1200" dirty="0"/>
          </a:p>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Ausentismo o llegadas tarde</a:t>
            </a:r>
            <a:endParaRPr lang="en-US" sz="1200" dirty="0"/>
          </a:p>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Celular permanente y distracción sostenida</a:t>
            </a:r>
            <a:endParaRPr lang="en-US" sz="1200" dirty="0"/>
          </a:p>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Pide plata a compañeros</a:t>
            </a:r>
            <a:endParaRPr lang="en-US" sz="1200" dirty="0"/>
          </a:p>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Grupos que comparten resultados</a:t>
            </a:r>
            <a:endParaRPr lang="en-US" sz="1200" dirty="0"/>
          </a:p>
        </p:txBody>
      </p:sp>
      <p:sp>
        <p:nvSpPr>
          <p:cNvPr id="9" name="Shape 7"/>
          <p:cNvSpPr/>
          <p:nvPr/>
        </p:nvSpPr>
        <p:spPr>
          <a:xfrm>
            <a:off x="3470834" y="1828800"/>
            <a:ext cx="2464994" cy="3017520"/>
          </a:xfrm>
          <a:prstGeom prst="rect">
            <a:avLst/>
          </a:prstGeom>
          <a:solidFill>
            <a:srgbClr val="16304C"/>
          </a:solidFill>
          <a:ln w="12700">
            <a:solidFill>
              <a:srgbClr val="16304C"/>
            </a:solidFill>
            <a:prstDash val="solid"/>
          </a:ln>
        </p:spPr>
      </p:sp>
      <p:sp>
        <p:nvSpPr>
          <p:cNvPr id="10" name="Shape 8"/>
          <p:cNvSpPr/>
          <p:nvPr/>
        </p:nvSpPr>
        <p:spPr>
          <a:xfrm>
            <a:off x="3470834" y="1828800"/>
            <a:ext cx="45720" cy="3017520"/>
          </a:xfrm>
          <a:prstGeom prst="rect">
            <a:avLst/>
          </a:prstGeom>
          <a:solidFill>
            <a:srgbClr val="C5A059"/>
          </a:solidFill>
          <a:ln w="12700">
            <a:solidFill>
              <a:srgbClr val="C5A059"/>
            </a:solidFill>
            <a:prstDash val="solid"/>
          </a:ln>
        </p:spPr>
      </p:sp>
      <p:sp>
        <p:nvSpPr>
          <p:cNvPr id="11" name="Text 9"/>
          <p:cNvSpPr/>
          <p:nvPr/>
        </p:nvSpPr>
        <p:spPr>
          <a:xfrm>
            <a:off x="3726866" y="2011680"/>
            <a:ext cx="2007794"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EN EL CLUB</a:t>
            </a:r>
            <a:endParaRPr lang="en-US" sz="1100" dirty="0"/>
          </a:p>
        </p:txBody>
      </p:sp>
      <p:sp>
        <p:nvSpPr>
          <p:cNvPr id="12" name="Text 10"/>
          <p:cNvSpPr/>
          <p:nvPr/>
        </p:nvSpPr>
        <p:spPr>
          <a:xfrm>
            <a:off x="3726866" y="2359152"/>
            <a:ext cx="1962074" cy="2331720"/>
          </a:xfrm>
          <a:prstGeom prst="rect">
            <a:avLst/>
          </a:prstGeom>
          <a:noFill/>
          <a:ln/>
        </p:spPr>
        <p:txBody>
          <a:bodyPr wrap="square" rtlCol="0" anchor="t"/>
          <a:lstStyle/>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Pierde interés en entrenar</a:t>
            </a:r>
            <a:endParaRPr lang="en-US" sz="1200" dirty="0"/>
          </a:p>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Apuesta sobre partidos propios o ajenos</a:t>
            </a:r>
            <a:endParaRPr lang="en-US" sz="1200" dirty="0"/>
          </a:p>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Deudas entre compañeros</a:t>
            </a:r>
            <a:endParaRPr lang="en-US" sz="1200" dirty="0"/>
          </a:p>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El ánimo sigue el resultado de la fecha</a:t>
            </a:r>
            <a:endParaRPr lang="en-US" sz="1200" dirty="0"/>
          </a:p>
        </p:txBody>
      </p:sp>
      <p:sp>
        <p:nvSpPr>
          <p:cNvPr id="13" name="Shape 11"/>
          <p:cNvSpPr/>
          <p:nvPr/>
        </p:nvSpPr>
        <p:spPr>
          <a:xfrm>
            <a:off x="6255868" y="1828800"/>
            <a:ext cx="2464994" cy="3017520"/>
          </a:xfrm>
          <a:prstGeom prst="rect">
            <a:avLst/>
          </a:prstGeom>
          <a:solidFill>
            <a:srgbClr val="16304C"/>
          </a:solidFill>
          <a:ln w="12700">
            <a:solidFill>
              <a:srgbClr val="16304C"/>
            </a:solidFill>
            <a:prstDash val="solid"/>
          </a:ln>
        </p:spPr>
      </p:sp>
      <p:sp>
        <p:nvSpPr>
          <p:cNvPr id="14" name="Shape 12"/>
          <p:cNvSpPr/>
          <p:nvPr/>
        </p:nvSpPr>
        <p:spPr>
          <a:xfrm>
            <a:off x="6255868" y="1828800"/>
            <a:ext cx="45720" cy="3017520"/>
          </a:xfrm>
          <a:prstGeom prst="rect">
            <a:avLst/>
          </a:prstGeom>
          <a:solidFill>
            <a:srgbClr val="C5A059"/>
          </a:solidFill>
          <a:ln w="12700">
            <a:solidFill>
              <a:srgbClr val="C5A059"/>
            </a:solidFill>
            <a:prstDash val="solid"/>
          </a:ln>
        </p:spPr>
      </p:sp>
      <p:sp>
        <p:nvSpPr>
          <p:cNvPr id="15" name="Text 13"/>
          <p:cNvSpPr/>
          <p:nvPr/>
        </p:nvSpPr>
        <p:spPr>
          <a:xfrm>
            <a:off x="6511900" y="2011680"/>
            <a:ext cx="2007794"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EN EL ESPACIO COMUNITARIO</a:t>
            </a:r>
            <a:endParaRPr lang="en-US" sz="1100" dirty="0"/>
          </a:p>
        </p:txBody>
      </p:sp>
      <p:sp>
        <p:nvSpPr>
          <p:cNvPr id="16" name="Text 14"/>
          <p:cNvSpPr/>
          <p:nvPr/>
        </p:nvSpPr>
        <p:spPr>
          <a:xfrm>
            <a:off x="6511900" y="2359152"/>
            <a:ext cx="1962074" cy="2331720"/>
          </a:xfrm>
          <a:prstGeom prst="rect">
            <a:avLst/>
          </a:prstGeom>
          <a:noFill/>
          <a:ln/>
        </p:spPr>
        <p:txBody>
          <a:bodyPr wrap="square" rtlCol="0" anchor="t"/>
          <a:lstStyle/>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Pide dinero prestado con frecuencia</a:t>
            </a:r>
            <a:endParaRPr lang="en-US" sz="1200" dirty="0"/>
          </a:p>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Aparece y desaparece del grupo</a:t>
            </a:r>
            <a:endParaRPr lang="en-US" sz="1200" dirty="0"/>
          </a:p>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Conflictos familiares por plata</a:t>
            </a:r>
            <a:endParaRPr lang="en-US" sz="1200" dirty="0"/>
          </a:p>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Cambios bruscos de humor</a:t>
            </a:r>
            <a:endParaRPr lang="en-US" sz="1200" dirty="0"/>
          </a:p>
        </p:txBody>
      </p:sp>
      <p:sp>
        <p:nvSpPr>
          <p:cNvPr id="17" name="Shape 15"/>
          <p:cNvSpPr/>
          <p:nvPr/>
        </p:nvSpPr>
        <p:spPr>
          <a:xfrm>
            <a:off x="9040901" y="1828800"/>
            <a:ext cx="2464994" cy="3017520"/>
          </a:xfrm>
          <a:prstGeom prst="rect">
            <a:avLst/>
          </a:prstGeom>
          <a:solidFill>
            <a:srgbClr val="16304C"/>
          </a:solidFill>
          <a:ln w="12700">
            <a:solidFill>
              <a:srgbClr val="16304C"/>
            </a:solidFill>
            <a:prstDash val="solid"/>
          </a:ln>
        </p:spPr>
      </p:sp>
      <p:sp>
        <p:nvSpPr>
          <p:cNvPr id="18" name="Shape 16"/>
          <p:cNvSpPr/>
          <p:nvPr/>
        </p:nvSpPr>
        <p:spPr>
          <a:xfrm>
            <a:off x="9040901" y="1828800"/>
            <a:ext cx="45720" cy="3017520"/>
          </a:xfrm>
          <a:prstGeom prst="rect">
            <a:avLst/>
          </a:prstGeom>
          <a:solidFill>
            <a:srgbClr val="C5A059"/>
          </a:solidFill>
          <a:ln w="12700">
            <a:solidFill>
              <a:srgbClr val="C5A059"/>
            </a:solidFill>
            <a:prstDash val="solid"/>
          </a:ln>
        </p:spPr>
      </p:sp>
      <p:sp>
        <p:nvSpPr>
          <p:cNvPr id="19" name="Text 17"/>
          <p:cNvSpPr/>
          <p:nvPr/>
        </p:nvSpPr>
        <p:spPr>
          <a:xfrm>
            <a:off x="9296933" y="2011680"/>
            <a:ext cx="2007794"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EN EL CONSULTORIO</a:t>
            </a:r>
            <a:endParaRPr lang="en-US" sz="1100" dirty="0"/>
          </a:p>
        </p:txBody>
      </p:sp>
      <p:sp>
        <p:nvSpPr>
          <p:cNvPr id="20" name="Text 18"/>
          <p:cNvSpPr/>
          <p:nvPr/>
        </p:nvSpPr>
        <p:spPr>
          <a:xfrm>
            <a:off x="9296933" y="2359152"/>
            <a:ext cx="1962074" cy="2331720"/>
          </a:xfrm>
          <a:prstGeom prst="rect">
            <a:avLst/>
          </a:prstGeom>
          <a:noFill/>
          <a:ln/>
        </p:spPr>
        <p:txBody>
          <a:bodyPr wrap="square" rtlCol="0" anchor="t"/>
          <a:lstStyle/>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Sueño alterado sin causa orgánica</a:t>
            </a:r>
            <a:endParaRPr lang="en-US" sz="1200" dirty="0"/>
          </a:p>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Ansiedad o irritabilidad sin explicación</a:t>
            </a:r>
            <a:endParaRPr lang="en-US" sz="1200" dirty="0"/>
          </a:p>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Consultas por deudas o conflictos por dinero</a:t>
            </a:r>
            <a:endParaRPr lang="en-US" sz="1200" dirty="0"/>
          </a:p>
          <a:p>
            <a:pPr marL="152400" indent="-152400">
              <a:lnSpc>
                <a:spcPct val="130000"/>
              </a:lnSpc>
              <a:buSzPct val="100000"/>
              <a:buChar char="•"/>
            </a:pPr>
            <a:r>
              <a:rPr lang="en-US" sz="1200" dirty="0">
                <a:solidFill>
                  <a:srgbClr val="D3E4FB"/>
                </a:solidFill>
                <a:latin typeface="Calibri" pitchFamily="34" charset="0"/>
                <a:ea typeface="Calibri" pitchFamily="34" charset="-122"/>
                <a:cs typeface="Calibri" pitchFamily="34" charset="-120"/>
              </a:rPr>
              <a:t>Minimiza o niega cuando se pregunta</a:t>
            </a:r>
            <a:endParaRPr lang="en-US" sz="1200" dirty="0"/>
          </a:p>
        </p:txBody>
      </p:sp>
      <p:sp>
        <p:nvSpPr>
          <p:cNvPr id="21" name="Text 19"/>
          <p:cNvSpPr/>
          <p:nvPr/>
        </p:nvSpPr>
        <p:spPr>
          <a:xfrm>
            <a:off x="685800" y="5074920"/>
            <a:ext cx="10820095" cy="548640"/>
          </a:xfrm>
          <a:prstGeom prst="rect">
            <a:avLst/>
          </a:prstGeom>
          <a:noFill/>
          <a:ln/>
        </p:spPr>
        <p:txBody>
          <a:bodyPr wrap="square" rtlCol="0" anchor="ctr"/>
          <a:lstStyle/>
          <a:p>
            <a:pPr indent="0" marL="0">
              <a:buNone/>
            </a:pPr>
            <a:r>
              <a:rPr lang="en-US" sz="1700" i="1" dirty="0">
                <a:solidFill>
                  <a:srgbClr val="E0C68A"/>
                </a:solidFill>
                <a:latin typeface="Georgia" pitchFamily="34" charset="0"/>
                <a:ea typeface="Georgia" pitchFamily="34" charset="-122"/>
                <a:cs typeface="Georgia" pitchFamily="34" charset="-120"/>
              </a:rPr>
              <a:t>Ninguna señal aislada significa nada. Lo que orienta es el cambio: algo que antes no pasaba y ahora sí.</a:t>
            </a:r>
            <a:endParaRPr lang="en-US" sz="1700" dirty="0"/>
          </a:p>
        </p:txBody>
      </p:sp>
      <p:sp>
        <p:nvSpPr>
          <p:cNvPr id="22" name="Shape 20"/>
          <p:cNvSpPr/>
          <p:nvPr/>
        </p:nvSpPr>
        <p:spPr>
          <a:xfrm>
            <a:off x="685800" y="6144768"/>
            <a:ext cx="10820095" cy="20117"/>
          </a:xfrm>
          <a:prstGeom prst="rect">
            <a:avLst/>
          </a:prstGeom>
          <a:solidFill>
            <a:srgbClr val="C5A059"/>
          </a:solidFill>
          <a:ln w="12700">
            <a:solidFill>
              <a:srgbClr val="C5A059"/>
            </a:solidFill>
            <a:prstDash val="solid"/>
          </a:ln>
        </p:spPr>
      </p:sp>
      <p:sp>
        <p:nvSpPr>
          <p:cNvPr id="23" name="Text 21"/>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Derevensky, J. L., &amp; Gilbeau, L. (2019). “Adolescent gambling: Twenty-five years of research”. Canadian Journal of Addiction, 10(1), 10-20.  ·  Echeburúa, E., &amp; Corral, P. (2010). Adicciones, 22(2), 91-96.  ·  American Psychiatric Association (2013). DSM-5. Washington DC: APA.</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3 — DETECCIÓN</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La frase que hay que aprender a escuchar</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920240"/>
            <a:ext cx="10820095" cy="1188720"/>
          </a:xfrm>
          <a:prstGeom prst="rect">
            <a:avLst/>
          </a:prstGeom>
          <a:solidFill>
            <a:srgbClr val="16304C"/>
          </a:solidFill>
          <a:ln w="12700">
            <a:solidFill>
              <a:srgbClr val="16304C"/>
            </a:solidFill>
            <a:prstDash val="solid"/>
          </a:ln>
        </p:spPr>
      </p:sp>
      <p:sp>
        <p:nvSpPr>
          <p:cNvPr id="6" name="Shape 4"/>
          <p:cNvSpPr/>
          <p:nvPr/>
        </p:nvSpPr>
        <p:spPr>
          <a:xfrm>
            <a:off x="685800" y="1920240"/>
            <a:ext cx="45720" cy="1188720"/>
          </a:xfrm>
          <a:prstGeom prst="rect">
            <a:avLst/>
          </a:prstGeom>
          <a:solidFill>
            <a:srgbClr val="C5A059"/>
          </a:solidFill>
          <a:ln w="12700">
            <a:solidFill>
              <a:srgbClr val="C5A059"/>
            </a:solidFill>
            <a:prstDash val="solid"/>
          </a:ln>
        </p:spPr>
      </p:sp>
      <p:sp>
        <p:nvSpPr>
          <p:cNvPr id="7" name="Text 5"/>
          <p:cNvSpPr/>
          <p:nvPr/>
        </p:nvSpPr>
        <p:spPr>
          <a:xfrm>
            <a:off x="1005840" y="2066544"/>
            <a:ext cx="10180015" cy="621792"/>
          </a:xfrm>
          <a:prstGeom prst="rect">
            <a:avLst/>
          </a:prstGeom>
          <a:noFill/>
          <a:ln/>
        </p:spPr>
        <p:txBody>
          <a:bodyPr wrap="square" rtlCol="0" anchor="ctr"/>
          <a:lstStyle/>
          <a:p>
            <a:pPr indent="0" marL="0">
              <a:lnSpc>
                <a:spcPct val="125000"/>
              </a:lnSpc>
              <a:buNone/>
            </a:pPr>
            <a:r>
              <a:rPr lang="en-US" sz="2400" i="1" dirty="0">
                <a:solidFill>
                  <a:srgbClr val="FFFFFF"/>
                </a:solidFill>
                <a:latin typeface="Georgia" pitchFamily="34" charset="0"/>
                <a:ea typeface="Georgia" pitchFamily="34" charset="-122"/>
                <a:cs typeface="Georgia" pitchFamily="34" charset="-120"/>
              </a:rPr>
              <a:t>“Estoy por recuperar lo que perdí.”</a:t>
            </a:r>
            <a:endParaRPr lang="en-US" sz="2400" dirty="0"/>
          </a:p>
        </p:txBody>
      </p:sp>
      <p:sp>
        <p:nvSpPr>
          <p:cNvPr id="8" name="Text 6"/>
          <p:cNvSpPr/>
          <p:nvPr/>
        </p:nvSpPr>
        <p:spPr>
          <a:xfrm>
            <a:off x="1005840" y="2670048"/>
            <a:ext cx="10180015" cy="292608"/>
          </a:xfrm>
          <a:prstGeom prst="rect">
            <a:avLst/>
          </a:prstGeom>
          <a:noFill/>
          <a:ln/>
        </p:spPr>
        <p:txBody>
          <a:bodyPr wrap="square" rtlCol="0" anchor="ctr"/>
          <a:lstStyle/>
          <a:p>
            <a:pPr indent="0" marL="0">
              <a:buNone/>
            </a:pPr>
            <a:endParaRPr lang="en-US" sz="1100" dirty="0"/>
          </a:p>
        </p:txBody>
      </p:sp>
      <p:sp>
        <p:nvSpPr>
          <p:cNvPr id="9" name="Text 7"/>
          <p:cNvSpPr/>
          <p:nvPr/>
        </p:nvSpPr>
        <p:spPr>
          <a:xfrm>
            <a:off x="685800" y="3429000"/>
            <a:ext cx="7528255" cy="1645920"/>
          </a:xfrm>
          <a:prstGeom prst="rect">
            <a:avLst/>
          </a:prstGeom>
          <a:noFill/>
          <a:ln/>
        </p:spPr>
        <p:txBody>
          <a:bodyPr wrap="square" rtlCol="0" anchor="ctr"/>
          <a:lstStyle/>
          <a:p>
            <a:pPr indent="0" marL="0">
              <a:lnSpc>
                <a:spcPct val="130000"/>
              </a:lnSpc>
              <a:buNone/>
            </a:pPr>
            <a:r>
              <a:rPr lang="en-US" sz="1500" dirty="0">
                <a:solidFill>
                  <a:srgbClr val="D3E4FB"/>
                </a:solidFill>
                <a:latin typeface="Calibri" pitchFamily="34" charset="0"/>
                <a:ea typeface="Calibri" pitchFamily="34" charset="-122"/>
                <a:cs typeface="Calibri" pitchFamily="34" charset="-120"/>
              </a:rPr>
              <a:t>Es la persecución de la pérdida: volver a jugar para recuperar lo perdido. Está entre los criterios diagnósticos del DSM-5 y es uno de los indicadores más característicos del trastorno por juego. Convierte cada pérdida en una razón para seguir apostando, y es lo que explica la escalada.</a:t>
            </a:r>
            <a:endParaRPr lang="en-US" sz="1500" dirty="0"/>
          </a:p>
        </p:txBody>
      </p:sp>
      <p:sp>
        <p:nvSpPr>
          <p:cNvPr id="10" name="Shape 8"/>
          <p:cNvSpPr/>
          <p:nvPr/>
        </p:nvSpPr>
        <p:spPr>
          <a:xfrm>
            <a:off x="8488375" y="3291840"/>
            <a:ext cx="3017520" cy="1920240"/>
          </a:xfrm>
          <a:prstGeom prst="rect">
            <a:avLst/>
          </a:prstGeom>
          <a:solidFill>
            <a:srgbClr val="16304C"/>
          </a:solidFill>
          <a:ln w="12700">
            <a:solidFill>
              <a:srgbClr val="16304C"/>
            </a:solidFill>
            <a:prstDash val="solid"/>
          </a:ln>
        </p:spPr>
      </p:sp>
      <p:sp>
        <p:nvSpPr>
          <p:cNvPr id="11" name="Shape 9"/>
          <p:cNvSpPr/>
          <p:nvPr/>
        </p:nvSpPr>
        <p:spPr>
          <a:xfrm>
            <a:off x="8488375" y="3291840"/>
            <a:ext cx="45720" cy="1920240"/>
          </a:xfrm>
          <a:prstGeom prst="rect">
            <a:avLst/>
          </a:prstGeom>
          <a:solidFill>
            <a:srgbClr val="C5A059"/>
          </a:solidFill>
          <a:ln w="12700">
            <a:solidFill>
              <a:srgbClr val="C5A059"/>
            </a:solidFill>
            <a:prstDash val="solid"/>
          </a:ln>
        </p:spPr>
      </p:sp>
      <p:sp>
        <p:nvSpPr>
          <p:cNvPr id="12" name="Text 10"/>
          <p:cNvSpPr/>
          <p:nvPr/>
        </p:nvSpPr>
        <p:spPr>
          <a:xfrm>
            <a:off x="8744407" y="3474720"/>
            <a:ext cx="2560320"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VARIANTES QUE VAN A ESCUCHAR</a:t>
            </a:r>
            <a:endParaRPr lang="en-US" sz="1100" dirty="0"/>
          </a:p>
        </p:txBody>
      </p:sp>
      <p:sp>
        <p:nvSpPr>
          <p:cNvPr id="13" name="Text 11"/>
          <p:cNvSpPr/>
          <p:nvPr/>
        </p:nvSpPr>
        <p:spPr>
          <a:xfrm>
            <a:off x="8744407" y="3822192"/>
            <a:ext cx="2514600" cy="1234440"/>
          </a:xfrm>
          <a:prstGeom prst="rect">
            <a:avLst/>
          </a:prstGeom>
          <a:noFill/>
          <a:ln/>
        </p:spPr>
        <p:txBody>
          <a:bodyPr wrap="square" rtlCol="0" anchor="t"/>
          <a:lstStyle/>
          <a:p>
            <a:pPr marL="152400" indent="-152400">
              <a:lnSpc>
                <a:spcPct val="135000"/>
              </a:lnSpc>
              <a:buSzPct val="100000"/>
              <a:buChar char="•"/>
            </a:pPr>
            <a:r>
              <a:rPr lang="en-US" sz="1250" dirty="0">
                <a:solidFill>
                  <a:srgbClr val="D3E4FB"/>
                </a:solidFill>
                <a:latin typeface="Calibri" pitchFamily="34" charset="0"/>
                <a:ea typeface="Calibri" pitchFamily="34" charset="-122"/>
                <a:cs typeface="Calibri" pitchFamily="34" charset="-120"/>
              </a:rPr>
              <a:t>“Ya lo tengo estudiado, sé de fútbol.”</a:t>
            </a:r>
            <a:endParaRPr lang="en-US" sz="1250" dirty="0"/>
          </a:p>
          <a:p>
            <a:pPr marL="152400" indent="-152400">
              <a:lnSpc>
                <a:spcPct val="135000"/>
              </a:lnSpc>
              <a:buSzPct val="100000"/>
              <a:buChar char="•"/>
            </a:pPr>
            <a:r>
              <a:rPr lang="en-US" sz="1250" dirty="0">
                <a:solidFill>
                  <a:srgbClr val="D3E4FB"/>
                </a:solidFill>
                <a:latin typeface="Calibri" pitchFamily="34" charset="0"/>
                <a:ea typeface="Calibri" pitchFamily="34" charset="-122"/>
                <a:cs typeface="Calibri" pitchFamily="34" charset="-120"/>
              </a:rPr>
              <a:t>“Con una sola fecha recupero.”</a:t>
            </a:r>
            <a:endParaRPr lang="en-US" sz="1250" dirty="0"/>
          </a:p>
          <a:p>
            <a:pPr marL="152400" indent="-152400">
              <a:lnSpc>
                <a:spcPct val="135000"/>
              </a:lnSpc>
              <a:buSzPct val="100000"/>
              <a:buChar char="•"/>
            </a:pPr>
            <a:r>
              <a:rPr lang="en-US" sz="1250" dirty="0">
                <a:solidFill>
                  <a:srgbClr val="D3E4FB"/>
                </a:solidFill>
                <a:latin typeface="Calibri" pitchFamily="34" charset="0"/>
                <a:ea typeface="Calibri" pitchFamily="34" charset="-122"/>
                <a:cs typeface="Calibri" pitchFamily="34" charset="-120"/>
              </a:rPr>
              <a:t>“No es un problema de juego, es un problema de plata.”</a:t>
            </a:r>
            <a:endParaRPr lang="en-US" sz="1250" dirty="0"/>
          </a:p>
        </p:txBody>
      </p:sp>
      <p:sp>
        <p:nvSpPr>
          <p:cNvPr id="14" name="Shape 12"/>
          <p:cNvSpPr/>
          <p:nvPr/>
        </p:nvSpPr>
        <p:spPr>
          <a:xfrm>
            <a:off x="685800" y="6144768"/>
            <a:ext cx="10820095" cy="20117"/>
          </a:xfrm>
          <a:prstGeom prst="rect">
            <a:avLst/>
          </a:prstGeom>
          <a:solidFill>
            <a:srgbClr val="C5A059"/>
          </a:solidFill>
          <a:ln w="12700">
            <a:solidFill>
              <a:srgbClr val="C5A059"/>
            </a:solidFill>
            <a:prstDash val="solid"/>
          </a:ln>
        </p:spPr>
      </p:sp>
      <p:sp>
        <p:nvSpPr>
          <p:cNvPr id="15" name="Text 13"/>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American Psychiatric Association (2013). DSM-5, criterios del Trastorno por Juego. Washington DC: APA.  ·  Ladouceur, R., &amp; Walker, M. (1996). “A cognitive perspective on gambling”. En P. M. Salkovskis (Ed.), Trends in Cognitive and Behavioural Therapies. Chichester: Wiley.  ·  Wagenaar, W. A. (1988). Paradoxes of Gambling Behaviour. Hove: Lawrence Erlbaum.</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3 — DETECCIÓN</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Dos preguntas que cualquiera puede hacer</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Text 3"/>
          <p:cNvSpPr/>
          <p:nvPr/>
        </p:nvSpPr>
        <p:spPr>
          <a:xfrm>
            <a:off x="685800" y="1627632"/>
            <a:ext cx="10820095" cy="502920"/>
          </a:xfrm>
          <a:prstGeom prst="rect">
            <a:avLst/>
          </a:prstGeom>
          <a:noFill/>
          <a:ln/>
        </p:spPr>
        <p:txBody>
          <a:bodyPr wrap="square" rtlCol="0" anchor="ctr"/>
          <a:lstStyle/>
          <a:p>
            <a:pPr indent="0" marL="0">
              <a:lnSpc>
                <a:spcPct val="120000"/>
              </a:lnSpc>
              <a:buNone/>
            </a:pPr>
            <a:r>
              <a:rPr lang="en-US" sz="1500" dirty="0">
                <a:solidFill>
                  <a:srgbClr val="9FB4D4"/>
                </a:solidFill>
                <a:latin typeface="Calibri" pitchFamily="34" charset="0"/>
                <a:ea typeface="Calibri" pitchFamily="34" charset="-122"/>
                <a:cs typeface="Calibri" pitchFamily="34" charset="-120"/>
              </a:rPr>
              <a:t>El cuestionario Lie/Bet tiene dos preguntas y se responde en menos de un minuto. Es el instrumento de cribado que usan las encuestas ESTUDES en España y ESPAD en Europa.</a:t>
            </a:r>
            <a:endParaRPr lang="en-US" sz="1500" dirty="0"/>
          </a:p>
        </p:txBody>
      </p:sp>
      <p:sp>
        <p:nvSpPr>
          <p:cNvPr id="6" name="Shape 4"/>
          <p:cNvSpPr/>
          <p:nvPr/>
        </p:nvSpPr>
        <p:spPr>
          <a:xfrm>
            <a:off x="685800" y="2286000"/>
            <a:ext cx="5181448" cy="1554480"/>
          </a:xfrm>
          <a:prstGeom prst="rect">
            <a:avLst/>
          </a:prstGeom>
          <a:solidFill>
            <a:srgbClr val="16304C"/>
          </a:solidFill>
          <a:ln w="12700">
            <a:solidFill>
              <a:srgbClr val="C5A059"/>
            </a:solidFill>
            <a:prstDash val="solid"/>
          </a:ln>
        </p:spPr>
      </p:sp>
      <p:sp>
        <p:nvSpPr>
          <p:cNvPr id="7" name="Text 5"/>
          <p:cNvSpPr/>
          <p:nvPr/>
        </p:nvSpPr>
        <p:spPr>
          <a:xfrm>
            <a:off x="1005840" y="2423160"/>
            <a:ext cx="914400" cy="411480"/>
          </a:xfrm>
          <a:prstGeom prst="rect">
            <a:avLst/>
          </a:prstGeom>
          <a:noFill/>
          <a:ln/>
        </p:spPr>
        <p:txBody>
          <a:bodyPr wrap="square" rtlCol="0" anchor="ctr"/>
          <a:lstStyle/>
          <a:p>
            <a:pPr indent="0" marL="0">
              <a:buNone/>
            </a:pPr>
            <a:r>
              <a:rPr lang="en-US" sz="2200" b="1" dirty="0">
                <a:solidFill>
                  <a:srgbClr val="C5A059"/>
                </a:solidFill>
                <a:latin typeface="Georgia" pitchFamily="34" charset="0"/>
                <a:ea typeface="Georgia" pitchFamily="34" charset="-122"/>
                <a:cs typeface="Georgia" pitchFamily="34" charset="-120"/>
              </a:rPr>
              <a:t>01</a:t>
            </a:r>
            <a:endParaRPr lang="en-US" sz="2200" dirty="0"/>
          </a:p>
        </p:txBody>
      </p:sp>
      <p:sp>
        <p:nvSpPr>
          <p:cNvPr id="8" name="Text 6"/>
          <p:cNvSpPr/>
          <p:nvPr/>
        </p:nvSpPr>
        <p:spPr>
          <a:xfrm>
            <a:off x="1005840" y="2834640"/>
            <a:ext cx="4541368" cy="868680"/>
          </a:xfrm>
          <a:prstGeom prst="rect">
            <a:avLst/>
          </a:prstGeom>
          <a:noFill/>
          <a:ln/>
        </p:spPr>
        <p:txBody>
          <a:bodyPr wrap="square" rtlCol="0" anchor="ctr"/>
          <a:lstStyle/>
          <a:p>
            <a:pPr indent="0" marL="0">
              <a:lnSpc>
                <a:spcPct val="120000"/>
              </a:lnSpc>
              <a:buNone/>
            </a:pPr>
            <a:r>
              <a:rPr lang="en-US" sz="1650" dirty="0">
                <a:solidFill>
                  <a:srgbClr val="FFFFFF"/>
                </a:solidFill>
                <a:latin typeface="Georgia" pitchFamily="34" charset="0"/>
                <a:ea typeface="Georgia" pitchFamily="34" charset="-122"/>
                <a:cs typeface="Georgia" pitchFamily="34" charset="-120"/>
              </a:rPr>
              <a:t>¿Alguna vez sentiste la necesidad de apostar cada vez más dinero?</a:t>
            </a:r>
            <a:endParaRPr lang="en-US" sz="1650" dirty="0"/>
          </a:p>
        </p:txBody>
      </p:sp>
      <p:sp>
        <p:nvSpPr>
          <p:cNvPr id="9" name="Shape 7"/>
          <p:cNvSpPr/>
          <p:nvPr/>
        </p:nvSpPr>
        <p:spPr>
          <a:xfrm>
            <a:off x="6324448" y="2286000"/>
            <a:ext cx="5181448" cy="1554480"/>
          </a:xfrm>
          <a:prstGeom prst="rect">
            <a:avLst/>
          </a:prstGeom>
          <a:solidFill>
            <a:srgbClr val="16304C"/>
          </a:solidFill>
          <a:ln w="12700">
            <a:solidFill>
              <a:srgbClr val="C5A059"/>
            </a:solidFill>
            <a:prstDash val="solid"/>
          </a:ln>
        </p:spPr>
      </p:sp>
      <p:sp>
        <p:nvSpPr>
          <p:cNvPr id="10" name="Text 8"/>
          <p:cNvSpPr/>
          <p:nvPr/>
        </p:nvSpPr>
        <p:spPr>
          <a:xfrm>
            <a:off x="6644488" y="2423160"/>
            <a:ext cx="914400" cy="411480"/>
          </a:xfrm>
          <a:prstGeom prst="rect">
            <a:avLst/>
          </a:prstGeom>
          <a:noFill/>
          <a:ln/>
        </p:spPr>
        <p:txBody>
          <a:bodyPr wrap="square" rtlCol="0" anchor="ctr"/>
          <a:lstStyle/>
          <a:p>
            <a:pPr indent="0" marL="0">
              <a:buNone/>
            </a:pPr>
            <a:r>
              <a:rPr lang="en-US" sz="2200" b="1" dirty="0">
                <a:solidFill>
                  <a:srgbClr val="C5A059"/>
                </a:solidFill>
                <a:latin typeface="Georgia" pitchFamily="34" charset="0"/>
                <a:ea typeface="Georgia" pitchFamily="34" charset="-122"/>
                <a:cs typeface="Georgia" pitchFamily="34" charset="-120"/>
              </a:rPr>
              <a:t>02</a:t>
            </a:r>
            <a:endParaRPr lang="en-US" sz="2200" dirty="0"/>
          </a:p>
        </p:txBody>
      </p:sp>
      <p:sp>
        <p:nvSpPr>
          <p:cNvPr id="11" name="Text 9"/>
          <p:cNvSpPr/>
          <p:nvPr/>
        </p:nvSpPr>
        <p:spPr>
          <a:xfrm>
            <a:off x="6644488" y="2834640"/>
            <a:ext cx="4541368" cy="868680"/>
          </a:xfrm>
          <a:prstGeom prst="rect">
            <a:avLst/>
          </a:prstGeom>
          <a:noFill/>
          <a:ln/>
        </p:spPr>
        <p:txBody>
          <a:bodyPr wrap="square" rtlCol="0" anchor="ctr"/>
          <a:lstStyle/>
          <a:p>
            <a:pPr indent="0" marL="0">
              <a:lnSpc>
                <a:spcPct val="120000"/>
              </a:lnSpc>
              <a:buNone/>
            </a:pPr>
            <a:r>
              <a:rPr lang="en-US" sz="1650" dirty="0">
                <a:solidFill>
                  <a:srgbClr val="FFFFFF"/>
                </a:solidFill>
                <a:latin typeface="Georgia" pitchFamily="34" charset="0"/>
                <a:ea typeface="Georgia" pitchFamily="34" charset="-122"/>
                <a:cs typeface="Georgia" pitchFamily="34" charset="-120"/>
              </a:rPr>
              <a:t>¿Alguna vez mentiste a personas importantes para vos sobre cuánto gastás en el juego?</a:t>
            </a:r>
            <a:endParaRPr lang="en-US" sz="1650" dirty="0"/>
          </a:p>
        </p:txBody>
      </p:sp>
      <p:sp>
        <p:nvSpPr>
          <p:cNvPr id="12" name="Text 10"/>
          <p:cNvSpPr/>
          <p:nvPr/>
        </p:nvSpPr>
        <p:spPr>
          <a:xfrm>
            <a:off x="685800" y="4069080"/>
            <a:ext cx="10820095" cy="365760"/>
          </a:xfrm>
          <a:prstGeom prst="rect">
            <a:avLst/>
          </a:prstGeom>
          <a:noFill/>
          <a:ln/>
        </p:spPr>
        <p:txBody>
          <a:bodyPr wrap="square" rtlCol="0" anchor="ctr"/>
          <a:lstStyle/>
          <a:p>
            <a:pPr indent="0" marL="0">
              <a:buNone/>
            </a:pPr>
            <a:r>
              <a:rPr lang="en-US" sz="1500" i="1" dirty="0">
                <a:solidFill>
                  <a:srgbClr val="E0C68A"/>
                </a:solidFill>
                <a:latin typeface="Calibri" pitchFamily="34" charset="0"/>
                <a:ea typeface="Calibri" pitchFamily="34" charset="-122"/>
                <a:cs typeface="Calibri" pitchFamily="34" charset="-120"/>
              </a:rPr>
              <a:t>Una sola respuesta afirmativa ya justifica explorar más. No diagnostica nada: abre una conversación.</a:t>
            </a:r>
            <a:endParaRPr lang="en-US" sz="1500" dirty="0"/>
          </a:p>
        </p:txBody>
      </p:sp>
      <p:sp>
        <p:nvSpPr>
          <p:cNvPr id="13" name="Text 11"/>
          <p:cNvSpPr/>
          <p:nvPr/>
        </p:nvSpPr>
        <p:spPr>
          <a:xfrm>
            <a:off x="685800" y="4617720"/>
            <a:ext cx="10820095" cy="320040"/>
          </a:xfrm>
          <a:prstGeom prst="rect">
            <a:avLst/>
          </a:prstGeom>
          <a:noFill/>
          <a:ln/>
        </p:spPr>
        <p:txBody>
          <a:bodyPr wrap="square" rtlCol="0" anchor="ctr"/>
          <a:lstStyle/>
          <a:p>
            <a:pPr indent="0" marL="0">
              <a:buNone/>
            </a:pPr>
            <a:r>
              <a:rPr lang="en-US" sz="1400" b="1" dirty="0">
                <a:solidFill>
                  <a:srgbClr val="C5A059"/>
                </a:solidFill>
                <a:latin typeface="Calibri" pitchFamily="34" charset="0"/>
                <a:ea typeface="Calibri" pitchFamily="34" charset="-122"/>
                <a:cs typeface="Calibri" pitchFamily="34" charset="-120"/>
              </a:rPr>
              <a:t>Y si la conversación se abre, estas tres, en este orden:</a:t>
            </a:r>
            <a:endParaRPr lang="en-US" sz="1400" dirty="0"/>
          </a:p>
        </p:txBody>
      </p:sp>
      <p:sp>
        <p:nvSpPr>
          <p:cNvPr id="14" name="Text 12"/>
          <p:cNvSpPr/>
          <p:nvPr/>
        </p:nvSpPr>
        <p:spPr>
          <a:xfrm>
            <a:off x="685800" y="4983480"/>
            <a:ext cx="10820095" cy="457200"/>
          </a:xfrm>
          <a:prstGeom prst="rect">
            <a:avLst/>
          </a:prstGeom>
          <a:noFill/>
          <a:ln/>
        </p:spPr>
        <p:txBody>
          <a:bodyPr wrap="square" rtlCol="0" anchor="ctr"/>
          <a:lstStyle/>
          <a:p>
            <a:pPr indent="0" marL="0">
              <a:buNone/>
            </a:pPr>
            <a:r>
              <a:rPr lang="en-US" sz="1600" dirty="0">
                <a:solidFill>
                  <a:srgbClr val="D3E4FB"/>
                </a:solidFill>
                <a:latin typeface="Georgia" pitchFamily="34" charset="0"/>
                <a:ea typeface="Georgia" pitchFamily="34" charset="-122"/>
                <a:cs typeface="Georgia" pitchFamily="34" charset="-120"/>
              </a:rPr>
              <a:t>¿Jugás a las apuestas online?   ·   ¿Con qué frecuencia?   ·   ¿Alguna vez sentiste que gastaste más de lo que querías?</a:t>
            </a:r>
            <a:endParaRPr lang="en-US" sz="1600" dirty="0"/>
          </a:p>
        </p:txBody>
      </p:sp>
      <p:sp>
        <p:nvSpPr>
          <p:cNvPr id="15" name="Shape 13"/>
          <p:cNvSpPr/>
          <p:nvPr/>
        </p:nvSpPr>
        <p:spPr>
          <a:xfrm>
            <a:off x="685800" y="6144768"/>
            <a:ext cx="10820095" cy="20117"/>
          </a:xfrm>
          <a:prstGeom prst="rect">
            <a:avLst/>
          </a:prstGeom>
          <a:solidFill>
            <a:srgbClr val="C5A059"/>
          </a:solidFill>
          <a:ln w="12700">
            <a:solidFill>
              <a:srgbClr val="C5A059"/>
            </a:solidFill>
            <a:prstDash val="solid"/>
          </a:ln>
        </p:spPr>
      </p:sp>
      <p:sp>
        <p:nvSpPr>
          <p:cNvPr id="16" name="Text 14"/>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Johnson, E. E., Hamer, R., Nora, R. M., Tan, B., Eisenstein, N., &amp; Engelhart, C. (1997). “The Lie/Bet Questionnaire for screening pathological gamblers”. Psychological Reports, 80(1), 83-88.  ·  Observatorio Español de las Drogas y las Adicciones (2024). Informe sobre Adicciones Comportamentales, encuesta ESTUDES 2023. Madrid: Ministerio de Sanidad.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3 — DETECCIÓN</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Qué instrumento usa cada uno</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20095" cy="914400"/>
        </p:xfrm>
        <a:graphic>
          <a:graphicData uri="http://schemas.openxmlformats.org/drawingml/2006/table">
            <a:tbl>
              <a:tblPr/>
              <a:tblGrid>
                <a:gridCol w="1828800"/>
                <a:gridCol w="822960"/>
                <a:gridCol w="3931920"/>
                <a:gridCol w="4236415"/>
              </a:tblGrid>
              <a:tr h="0">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Instrumento</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Ítems</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Quién puede usarlo</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Para qué sirve</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r>
              <a:tr h="0">
                <a:tc>
                  <a:txBody>
                    <a:bodyPr/>
                    <a:lstStyle/>
                    <a:p>
                      <a:pPr algn="l" indent="0" marL="0">
                        <a:buNone/>
                      </a:pPr>
                      <a:r>
                        <a:rPr lang="en-US" sz="1250" b="1" dirty="0">
                          <a:solidFill>
                            <a:srgbClr val="E0C68A"/>
                          </a:solidFill>
                          <a:latin typeface="Calibri" pitchFamily="34" charset="0"/>
                          <a:ea typeface="Calibri" pitchFamily="34" charset="-122"/>
                          <a:cs typeface="Calibri" pitchFamily="34" charset="-120"/>
                        </a:rPr>
                        <a:t>Lie/Bet</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Cualquier adulto referente: escuela, club, parroquia, Juventud</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Cribado rápido. Una respuesta positiva habilita explorar.</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250" b="1" dirty="0">
                          <a:solidFill>
                            <a:srgbClr val="E0C68A"/>
                          </a:solidFill>
                          <a:latin typeface="Calibri" pitchFamily="34" charset="0"/>
                          <a:ea typeface="Calibri" pitchFamily="34" charset="-122"/>
                          <a:cs typeface="Calibri" pitchFamily="34" charset="-120"/>
                        </a:rPr>
                        <a:t>CPGI</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Equipos de orientación escolar y salud comunitaria</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Clasifica en cuatro niveles y considera el contexto social.</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r h="0">
                <a:tc>
                  <a:txBody>
                    <a:bodyPr/>
                    <a:lstStyle/>
                    <a:p>
                      <a:pPr algn="l" indent="0" marL="0">
                        <a:buNone/>
                      </a:pPr>
                      <a:r>
                        <a:rPr lang="en-US" sz="1250" b="1" dirty="0">
                          <a:solidFill>
                            <a:srgbClr val="E0C68A"/>
                          </a:solidFill>
                          <a:latin typeface="Calibri" pitchFamily="34" charset="0"/>
                          <a:ea typeface="Calibri" pitchFamily="34" charset="-122"/>
                          <a:cs typeface="Calibri" pitchFamily="34" charset="-120"/>
                        </a:rPr>
                        <a:t>SOGS</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Profesional de salud</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El más usado internacionalmente. Punto de corte: 5 o más.</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250" b="1" dirty="0">
                          <a:solidFill>
                            <a:srgbClr val="E0C68A"/>
                          </a:solidFill>
                          <a:latin typeface="Calibri" pitchFamily="34" charset="0"/>
                          <a:ea typeface="Calibri" pitchFamily="34" charset="-122"/>
                          <a:cs typeface="Calibri" pitchFamily="34" charset="-120"/>
                        </a:rPr>
                        <a:t>Criterios DSM-5</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Clínico</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50" dirty="0">
                          <a:solidFill>
                            <a:srgbClr val="D3E4FB"/>
                          </a:solidFill>
                          <a:latin typeface="Calibri" pitchFamily="34" charset="0"/>
                          <a:ea typeface="Calibri" pitchFamily="34" charset="-122"/>
                          <a:cs typeface="Calibri" pitchFamily="34" charset="-120"/>
                        </a:rPr>
                        <a:t>Guía de entrevista. Diagnóstico con 4 o más en 12 meses.</a:t>
                      </a:r>
                      <a:endParaRPr lang="en-US" sz="12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bl>
          </a:graphicData>
        </a:graphic>
      </p:graphicFrame>
      <p:sp>
        <p:nvSpPr>
          <p:cNvPr id="6" name="Text 3"/>
          <p:cNvSpPr/>
          <p:nvPr/>
        </p:nvSpPr>
        <p:spPr>
          <a:xfrm>
            <a:off x="685800" y="4892040"/>
            <a:ext cx="10820095" cy="640080"/>
          </a:xfrm>
          <a:prstGeom prst="rect">
            <a:avLst/>
          </a:prstGeom>
          <a:noFill/>
          <a:ln/>
        </p:spPr>
        <p:txBody>
          <a:bodyPr wrap="square" rtlCol="0" anchor="ctr"/>
          <a:lstStyle/>
          <a:p>
            <a:pPr indent="0" marL="0">
              <a:lnSpc>
                <a:spcPct val="120000"/>
              </a:lnSpc>
              <a:buNone/>
            </a:pPr>
            <a:r>
              <a:rPr lang="en-US" sz="1600" i="1" dirty="0">
                <a:solidFill>
                  <a:srgbClr val="E0C68A"/>
                </a:solidFill>
                <a:latin typeface="Georgia" pitchFamily="34" charset="0"/>
                <a:ea typeface="Georgia" pitchFamily="34" charset="-122"/>
                <a:cs typeface="Georgia" pitchFamily="34" charset="-120"/>
              </a:rPr>
              <a:t>La regla práctica: usen el instrumento que corresponde a su rol. Nadie espera que un entrenador administre el SOGS, y nadie necesita un SOGS para hacer las dos preguntas del Lie/Bet.</a:t>
            </a:r>
            <a:endParaRPr lang="en-US" sz="1600" dirty="0"/>
          </a:p>
        </p:txBody>
      </p:sp>
      <p:sp>
        <p:nvSpPr>
          <p:cNvPr id="7" name="Shape 4"/>
          <p:cNvSpPr/>
          <p:nvPr/>
        </p:nvSpPr>
        <p:spPr>
          <a:xfrm>
            <a:off x="685800" y="6144768"/>
            <a:ext cx="10820095" cy="20117"/>
          </a:xfrm>
          <a:prstGeom prst="rect">
            <a:avLst/>
          </a:prstGeom>
          <a:solidFill>
            <a:srgbClr val="C5A059"/>
          </a:solidFill>
          <a:ln w="12700">
            <a:solidFill>
              <a:srgbClr val="C5A059"/>
            </a:solidFill>
            <a:prstDash val="solid"/>
          </a:ln>
        </p:spPr>
      </p:sp>
      <p:sp>
        <p:nvSpPr>
          <p:cNvPr id="8" name="Text 5"/>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Johnson, E. E. et al. (1997). Psychological Reports, 80(1), 83-88.  ·  Ferris, J., &amp; Wynne, H. (2001). The Canadian Problem Gambling Index: Final Report. Ottawa: Canadian Centre on Substance Abuse.  ·  Lesieur, H. R., &amp; Blume, S. B. (1987). “The South Oaks Gambling Screen (SOGS)”. American Journal of Psychiatry, 144(9), 1184-1188.  ·  American Psychiatric Association (2013). DSM-5. Washington DC: APA.</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DINÁMICA 2 — TRES SITUACIONES BREVES</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Caso 1 — Martín, 16 años</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Text 3"/>
          <p:cNvSpPr/>
          <p:nvPr/>
        </p:nvSpPr>
        <p:spPr>
          <a:xfrm>
            <a:off x="685800" y="1627632"/>
            <a:ext cx="10820095" cy="365760"/>
          </a:xfrm>
          <a:prstGeom prst="rect">
            <a:avLst/>
          </a:prstGeom>
          <a:noFill/>
          <a:ln/>
        </p:spPr>
        <p:txBody>
          <a:bodyPr wrap="square" rtlCol="0" anchor="ctr"/>
          <a:lstStyle/>
          <a:p>
            <a:pPr indent="0" marL="0">
              <a:buNone/>
            </a:pPr>
            <a:r>
              <a:rPr lang="en-US" sz="1450" i="1" dirty="0">
                <a:solidFill>
                  <a:srgbClr val="E0C68A"/>
                </a:solidFill>
                <a:latin typeface="Calibri" pitchFamily="34" charset="0"/>
                <a:ea typeface="Calibri" pitchFamily="34" charset="-122"/>
                <a:cs typeface="Calibri" pitchFamily="34" charset="-120"/>
              </a:rPr>
              <a:t>Para cada una: ¿derivarían? ¿a quién? ¿cómo lo abordarían desde su lugar?</a:t>
            </a:r>
            <a:endParaRPr lang="en-US" sz="1450" dirty="0"/>
          </a:p>
        </p:txBody>
      </p:sp>
      <p:sp>
        <p:nvSpPr>
          <p:cNvPr id="6" name="Text 4"/>
          <p:cNvSpPr/>
          <p:nvPr/>
        </p:nvSpPr>
        <p:spPr>
          <a:xfrm>
            <a:off x="685800" y="2148840"/>
            <a:ext cx="7253935" cy="2011680"/>
          </a:xfrm>
          <a:prstGeom prst="rect">
            <a:avLst/>
          </a:prstGeom>
          <a:noFill/>
          <a:ln/>
        </p:spPr>
        <p:txBody>
          <a:bodyPr wrap="square" rtlCol="0" anchor="t"/>
          <a:lstStyle/>
          <a:p>
            <a:pPr indent="0" marL="0">
              <a:lnSpc>
                <a:spcPct val="130000"/>
              </a:lnSpc>
              <a:buNone/>
            </a:pPr>
            <a:r>
              <a:rPr lang="en-US" sz="1900" dirty="0">
                <a:solidFill>
                  <a:srgbClr val="FFFFFF"/>
                </a:solidFill>
                <a:latin typeface="Georgia" pitchFamily="34" charset="0"/>
                <a:ea typeface="Georgia" pitchFamily="34" charset="-122"/>
                <a:cs typeface="Georgia" pitchFamily="34" charset="-120"/>
              </a:rPr>
              <a:t>Una docente lo nota distraído, con el celular todo el tiempo. Al mirarlo de reojo ve una app de apuestas deportivas abierta. Martín dice que “solo apuesta con amigos, es para divertirse”.</a:t>
            </a:r>
            <a:endParaRPr lang="en-US" sz="1900" dirty="0"/>
          </a:p>
        </p:txBody>
      </p:sp>
      <p:sp>
        <p:nvSpPr>
          <p:cNvPr id="7" name="Shape 5"/>
          <p:cNvSpPr/>
          <p:nvPr/>
        </p:nvSpPr>
        <p:spPr>
          <a:xfrm>
            <a:off x="8214055" y="2148840"/>
            <a:ext cx="3291840" cy="2194560"/>
          </a:xfrm>
          <a:prstGeom prst="rect">
            <a:avLst/>
          </a:prstGeom>
          <a:solidFill>
            <a:srgbClr val="16304C"/>
          </a:solidFill>
          <a:ln w="12700">
            <a:solidFill>
              <a:srgbClr val="16304C"/>
            </a:solidFill>
            <a:prstDash val="solid"/>
          </a:ln>
        </p:spPr>
      </p:sp>
      <p:sp>
        <p:nvSpPr>
          <p:cNvPr id="8" name="Shape 6"/>
          <p:cNvSpPr/>
          <p:nvPr/>
        </p:nvSpPr>
        <p:spPr>
          <a:xfrm>
            <a:off x="8214055" y="2148840"/>
            <a:ext cx="45720" cy="2194560"/>
          </a:xfrm>
          <a:prstGeom prst="rect">
            <a:avLst/>
          </a:prstGeom>
          <a:solidFill>
            <a:srgbClr val="C5A059"/>
          </a:solidFill>
          <a:ln w="12700">
            <a:solidFill>
              <a:srgbClr val="C5A059"/>
            </a:solidFill>
            <a:prstDash val="solid"/>
          </a:ln>
        </p:spPr>
      </p:sp>
      <p:sp>
        <p:nvSpPr>
          <p:cNvPr id="9" name="Text 7"/>
          <p:cNvSpPr/>
          <p:nvPr/>
        </p:nvSpPr>
        <p:spPr>
          <a:xfrm>
            <a:off x="8470087" y="2331720"/>
            <a:ext cx="2834640"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PARA DISCUTIR</a:t>
            </a:r>
            <a:endParaRPr lang="en-US" sz="1100" dirty="0"/>
          </a:p>
        </p:txBody>
      </p:sp>
      <p:sp>
        <p:nvSpPr>
          <p:cNvPr id="10" name="Text 8"/>
          <p:cNvSpPr/>
          <p:nvPr/>
        </p:nvSpPr>
        <p:spPr>
          <a:xfrm>
            <a:off x="8470087" y="2679192"/>
            <a:ext cx="2788920" cy="1508760"/>
          </a:xfrm>
          <a:prstGeom prst="rect">
            <a:avLst/>
          </a:prstGeom>
          <a:noFill/>
          <a:ln/>
        </p:spPr>
        <p:txBody>
          <a:bodyPr wrap="square" rtlCol="0" anchor="t"/>
          <a:lstStyle/>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¿Señal de alerta o conducta esperable a esa edad?</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¿Qué hace la docente hoy mismo?</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¿A quién lo comunica dentro de la escuela?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DINÁMICA 2</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Caso 2 — Lucas, 15 años</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Text 3"/>
          <p:cNvSpPr/>
          <p:nvPr/>
        </p:nvSpPr>
        <p:spPr>
          <a:xfrm>
            <a:off x="685800" y="1920240"/>
            <a:ext cx="7253935" cy="2011680"/>
          </a:xfrm>
          <a:prstGeom prst="rect">
            <a:avLst/>
          </a:prstGeom>
          <a:noFill/>
          <a:ln/>
        </p:spPr>
        <p:txBody>
          <a:bodyPr wrap="square" rtlCol="0" anchor="t"/>
          <a:lstStyle/>
          <a:p>
            <a:pPr indent="0" marL="0">
              <a:lnSpc>
                <a:spcPct val="130000"/>
              </a:lnSpc>
              <a:buNone/>
            </a:pPr>
            <a:r>
              <a:rPr lang="en-US" sz="1900" dirty="0">
                <a:solidFill>
                  <a:srgbClr val="FFFFFF"/>
                </a:solidFill>
                <a:latin typeface="Georgia" pitchFamily="34" charset="0"/>
                <a:ea typeface="Georgia" pitchFamily="34" charset="-122"/>
                <a:cs typeface="Georgia" pitchFamily="34" charset="-120"/>
              </a:rPr>
              <a:t>Su madre consulta al pediatra porque el chico “se quedó sin la plata de la semana en dos días” y “está raro, agresivo”. El médico no sabe cómo preguntar sobre juego sin que la madre se alarme ni el chico se cierre.</a:t>
            </a:r>
            <a:endParaRPr lang="en-US" sz="1900" dirty="0"/>
          </a:p>
        </p:txBody>
      </p:sp>
      <p:sp>
        <p:nvSpPr>
          <p:cNvPr id="6" name="Shape 4"/>
          <p:cNvSpPr/>
          <p:nvPr/>
        </p:nvSpPr>
        <p:spPr>
          <a:xfrm>
            <a:off x="8214055" y="1920240"/>
            <a:ext cx="3291840" cy="2194560"/>
          </a:xfrm>
          <a:prstGeom prst="rect">
            <a:avLst/>
          </a:prstGeom>
          <a:solidFill>
            <a:srgbClr val="16304C"/>
          </a:solidFill>
          <a:ln w="12700">
            <a:solidFill>
              <a:srgbClr val="16304C"/>
            </a:solidFill>
            <a:prstDash val="solid"/>
          </a:ln>
        </p:spPr>
      </p:sp>
      <p:sp>
        <p:nvSpPr>
          <p:cNvPr id="7" name="Shape 5"/>
          <p:cNvSpPr/>
          <p:nvPr/>
        </p:nvSpPr>
        <p:spPr>
          <a:xfrm>
            <a:off x="8214055" y="1920240"/>
            <a:ext cx="45720" cy="2194560"/>
          </a:xfrm>
          <a:prstGeom prst="rect">
            <a:avLst/>
          </a:prstGeom>
          <a:solidFill>
            <a:srgbClr val="C5A059"/>
          </a:solidFill>
          <a:ln w="12700">
            <a:solidFill>
              <a:srgbClr val="C5A059"/>
            </a:solidFill>
            <a:prstDash val="solid"/>
          </a:ln>
        </p:spPr>
      </p:sp>
      <p:sp>
        <p:nvSpPr>
          <p:cNvPr id="8" name="Text 6"/>
          <p:cNvSpPr/>
          <p:nvPr/>
        </p:nvSpPr>
        <p:spPr>
          <a:xfrm>
            <a:off x="8470087" y="2103120"/>
            <a:ext cx="2834640"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PARA DISCUTIR</a:t>
            </a:r>
            <a:endParaRPr lang="en-US" sz="1100" dirty="0"/>
          </a:p>
        </p:txBody>
      </p:sp>
      <p:sp>
        <p:nvSpPr>
          <p:cNvPr id="9" name="Text 7"/>
          <p:cNvSpPr/>
          <p:nvPr/>
        </p:nvSpPr>
        <p:spPr>
          <a:xfrm>
            <a:off x="8470087" y="2450592"/>
            <a:ext cx="2788920" cy="1508760"/>
          </a:xfrm>
          <a:prstGeom prst="rect">
            <a:avLst/>
          </a:prstGeom>
          <a:noFill/>
          <a:ln/>
        </p:spPr>
        <p:txBody>
          <a:bodyPr wrap="square" rtlCol="0" anchor="t"/>
          <a:lstStyle/>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¿Cómo abre el pediatra esa conversación?</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¿Habla con Lucas a solas o con la madre presente?</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¿Qué instrumento usa en ese momento?</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DINÁMICA 2</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Caso 3 — Diego, 17 años</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Text 3"/>
          <p:cNvSpPr/>
          <p:nvPr/>
        </p:nvSpPr>
        <p:spPr>
          <a:xfrm>
            <a:off x="685800" y="1920240"/>
            <a:ext cx="7253935" cy="2011680"/>
          </a:xfrm>
          <a:prstGeom prst="rect">
            <a:avLst/>
          </a:prstGeom>
          <a:noFill/>
          <a:ln/>
        </p:spPr>
        <p:txBody>
          <a:bodyPr wrap="square" rtlCol="0" anchor="t"/>
          <a:lstStyle/>
          <a:p>
            <a:pPr indent="0" marL="0">
              <a:lnSpc>
                <a:spcPct val="130000"/>
              </a:lnSpc>
              <a:buNone/>
            </a:pPr>
            <a:r>
              <a:rPr lang="en-US" sz="1900" dirty="0">
                <a:solidFill>
                  <a:srgbClr val="FFFFFF"/>
                </a:solidFill>
                <a:latin typeface="Georgia" pitchFamily="34" charset="0"/>
                <a:ea typeface="Georgia" pitchFamily="34" charset="-122"/>
                <a:cs typeface="Georgia" pitchFamily="34" charset="-120"/>
              </a:rPr>
              <a:t>Llega al gabinete escolar derivado por bajo rendimiento. En la entrevista menciona que “debe plata a algunos compañeros”. Cuando se le pregunta directamente por el juego, responde: “eso no tiene nada que ver”.</a:t>
            </a:r>
            <a:endParaRPr lang="en-US" sz="1900" dirty="0"/>
          </a:p>
        </p:txBody>
      </p:sp>
      <p:sp>
        <p:nvSpPr>
          <p:cNvPr id="6" name="Shape 4"/>
          <p:cNvSpPr/>
          <p:nvPr/>
        </p:nvSpPr>
        <p:spPr>
          <a:xfrm>
            <a:off x="8214055" y="1920240"/>
            <a:ext cx="3291840" cy="2194560"/>
          </a:xfrm>
          <a:prstGeom prst="rect">
            <a:avLst/>
          </a:prstGeom>
          <a:solidFill>
            <a:srgbClr val="16304C"/>
          </a:solidFill>
          <a:ln w="12700">
            <a:solidFill>
              <a:srgbClr val="16304C"/>
            </a:solidFill>
            <a:prstDash val="solid"/>
          </a:ln>
        </p:spPr>
      </p:sp>
      <p:sp>
        <p:nvSpPr>
          <p:cNvPr id="7" name="Shape 5"/>
          <p:cNvSpPr/>
          <p:nvPr/>
        </p:nvSpPr>
        <p:spPr>
          <a:xfrm>
            <a:off x="8214055" y="1920240"/>
            <a:ext cx="45720" cy="2194560"/>
          </a:xfrm>
          <a:prstGeom prst="rect">
            <a:avLst/>
          </a:prstGeom>
          <a:solidFill>
            <a:srgbClr val="C5A059"/>
          </a:solidFill>
          <a:ln w="12700">
            <a:solidFill>
              <a:srgbClr val="C5A059"/>
            </a:solidFill>
            <a:prstDash val="solid"/>
          </a:ln>
        </p:spPr>
      </p:sp>
      <p:sp>
        <p:nvSpPr>
          <p:cNvPr id="8" name="Text 6"/>
          <p:cNvSpPr/>
          <p:nvPr/>
        </p:nvSpPr>
        <p:spPr>
          <a:xfrm>
            <a:off x="8470087" y="2103120"/>
            <a:ext cx="2834640"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PARA DISCUTIR</a:t>
            </a:r>
            <a:endParaRPr lang="en-US" sz="1100" dirty="0"/>
          </a:p>
        </p:txBody>
      </p:sp>
      <p:sp>
        <p:nvSpPr>
          <p:cNvPr id="9" name="Text 7"/>
          <p:cNvSpPr/>
          <p:nvPr/>
        </p:nvSpPr>
        <p:spPr>
          <a:xfrm>
            <a:off x="8470087" y="2450592"/>
            <a:ext cx="2788920" cy="1508760"/>
          </a:xfrm>
          <a:prstGeom prst="rect">
            <a:avLst/>
          </a:prstGeom>
          <a:noFill/>
          <a:ln/>
        </p:spPr>
        <p:txBody>
          <a:bodyPr wrap="square" rtlCol="0" anchor="t"/>
          <a:lstStyle/>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¿Cómo sigue la entrevista después de esa respuesta?</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¿Confrontar el dato o dejarlo pasar por ahora?</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¿En qué etapa del cambio está Diego?</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4 — INTERVENCIÓN</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La respuesta más frecuente es la menos efectiva</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2103120"/>
            <a:ext cx="3301898" cy="1554480"/>
          </a:xfrm>
          <a:prstGeom prst="rect">
            <a:avLst/>
          </a:prstGeom>
          <a:solidFill>
            <a:srgbClr val="16304C"/>
          </a:solidFill>
          <a:ln w="12700">
            <a:solidFill>
              <a:srgbClr val="16304C"/>
            </a:solidFill>
            <a:prstDash val="solid"/>
          </a:ln>
        </p:spPr>
      </p:sp>
      <p:sp>
        <p:nvSpPr>
          <p:cNvPr id="6" name="Text 4"/>
          <p:cNvSpPr/>
          <p:nvPr/>
        </p:nvSpPr>
        <p:spPr>
          <a:xfrm>
            <a:off x="960120" y="2286000"/>
            <a:ext cx="2753258" cy="365760"/>
          </a:xfrm>
          <a:prstGeom prst="rect">
            <a:avLst/>
          </a:prstGeom>
          <a:noFill/>
          <a:ln/>
        </p:spPr>
        <p:txBody>
          <a:bodyPr wrap="square" rtlCol="0" anchor="ctr"/>
          <a:lstStyle/>
          <a:p>
            <a:pPr indent="0" marL="0">
              <a:buNone/>
            </a:pPr>
            <a:r>
              <a:rPr lang="en-US" sz="1200" b="1" spc="120" kern="0" dirty="0">
                <a:solidFill>
                  <a:srgbClr val="C5A059"/>
                </a:solidFill>
                <a:latin typeface="Calibri" pitchFamily="34" charset="0"/>
                <a:ea typeface="Calibri" pitchFamily="34" charset="-122"/>
                <a:cs typeface="Calibri" pitchFamily="34" charset="-120"/>
              </a:rPr>
              <a:t>Confrontamos</a:t>
            </a:r>
            <a:endParaRPr lang="en-US" sz="1200" dirty="0"/>
          </a:p>
        </p:txBody>
      </p:sp>
      <p:sp>
        <p:nvSpPr>
          <p:cNvPr id="7" name="Text 5"/>
          <p:cNvSpPr/>
          <p:nvPr/>
        </p:nvSpPr>
        <p:spPr>
          <a:xfrm>
            <a:off x="960120" y="2697480"/>
            <a:ext cx="2753258" cy="822960"/>
          </a:xfrm>
          <a:prstGeom prst="rect">
            <a:avLst/>
          </a:prstGeom>
          <a:noFill/>
          <a:ln/>
        </p:spPr>
        <p:txBody>
          <a:bodyPr wrap="square" rtlCol="0" anchor="ctr"/>
          <a:lstStyle/>
          <a:p>
            <a:pPr indent="0" marL="0">
              <a:lnSpc>
                <a:spcPct val="115000"/>
              </a:lnSpc>
              <a:buNone/>
            </a:pPr>
            <a:r>
              <a:rPr lang="en-US" sz="1600" dirty="0">
                <a:solidFill>
                  <a:srgbClr val="FFFFFF"/>
                </a:solidFill>
                <a:latin typeface="Georgia" pitchFamily="34" charset="0"/>
                <a:ea typeface="Georgia" pitchFamily="34" charset="-122"/>
                <a:cs typeface="Georgia" pitchFamily="34" charset="-120"/>
              </a:rPr>
              <a:t>“Tenés un problema, tenés que parar.”</a:t>
            </a:r>
            <a:endParaRPr lang="en-US" sz="1600" dirty="0"/>
          </a:p>
        </p:txBody>
      </p:sp>
      <p:sp>
        <p:nvSpPr>
          <p:cNvPr id="8" name="Text 6"/>
          <p:cNvSpPr/>
          <p:nvPr/>
        </p:nvSpPr>
        <p:spPr>
          <a:xfrm>
            <a:off x="4033418" y="2103120"/>
            <a:ext cx="365760" cy="1554480"/>
          </a:xfrm>
          <a:prstGeom prst="rect">
            <a:avLst/>
          </a:prstGeom>
          <a:noFill/>
          <a:ln/>
        </p:spPr>
        <p:txBody>
          <a:bodyPr wrap="square" rtlCol="0" anchor="ctr"/>
          <a:lstStyle/>
          <a:p>
            <a:pPr algn="ctr" indent="0" marL="0">
              <a:buNone/>
            </a:pPr>
            <a:r>
              <a:rPr lang="en-US" sz="2200" dirty="0">
                <a:solidFill>
                  <a:srgbClr val="C5A059"/>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4444898" y="2103120"/>
            <a:ext cx="3301898" cy="1554480"/>
          </a:xfrm>
          <a:prstGeom prst="rect">
            <a:avLst/>
          </a:prstGeom>
          <a:solidFill>
            <a:srgbClr val="16304C"/>
          </a:solidFill>
          <a:ln w="12700">
            <a:solidFill>
              <a:srgbClr val="16304C"/>
            </a:solidFill>
            <a:prstDash val="solid"/>
          </a:ln>
        </p:spPr>
      </p:sp>
      <p:sp>
        <p:nvSpPr>
          <p:cNvPr id="10" name="Text 8"/>
          <p:cNvSpPr/>
          <p:nvPr/>
        </p:nvSpPr>
        <p:spPr>
          <a:xfrm>
            <a:off x="4719218" y="2286000"/>
            <a:ext cx="2753258" cy="365760"/>
          </a:xfrm>
          <a:prstGeom prst="rect">
            <a:avLst/>
          </a:prstGeom>
          <a:noFill/>
          <a:ln/>
        </p:spPr>
        <p:txBody>
          <a:bodyPr wrap="square" rtlCol="0" anchor="ctr"/>
          <a:lstStyle/>
          <a:p>
            <a:pPr indent="0" marL="0">
              <a:buNone/>
            </a:pPr>
            <a:r>
              <a:rPr lang="en-US" sz="1200" b="1" spc="120" kern="0" dirty="0">
                <a:solidFill>
                  <a:srgbClr val="C5A059"/>
                </a:solidFill>
                <a:latin typeface="Calibri" pitchFamily="34" charset="0"/>
                <a:ea typeface="Calibri" pitchFamily="34" charset="-122"/>
                <a:cs typeface="Calibri" pitchFamily="34" charset="-120"/>
              </a:rPr>
              <a:t>Aparece resistencia</a:t>
            </a:r>
            <a:endParaRPr lang="en-US" sz="1200" dirty="0"/>
          </a:p>
        </p:txBody>
      </p:sp>
      <p:sp>
        <p:nvSpPr>
          <p:cNvPr id="11" name="Text 9"/>
          <p:cNvSpPr/>
          <p:nvPr/>
        </p:nvSpPr>
        <p:spPr>
          <a:xfrm>
            <a:off x="4719218" y="2697480"/>
            <a:ext cx="2753258" cy="822960"/>
          </a:xfrm>
          <a:prstGeom prst="rect">
            <a:avLst/>
          </a:prstGeom>
          <a:noFill/>
          <a:ln/>
        </p:spPr>
        <p:txBody>
          <a:bodyPr wrap="square" rtlCol="0" anchor="ctr"/>
          <a:lstStyle/>
          <a:p>
            <a:pPr indent="0" marL="0">
              <a:lnSpc>
                <a:spcPct val="115000"/>
              </a:lnSpc>
              <a:buNone/>
            </a:pPr>
            <a:r>
              <a:rPr lang="en-US" sz="1600" dirty="0">
                <a:solidFill>
                  <a:srgbClr val="FFFFFF"/>
                </a:solidFill>
                <a:latin typeface="Georgia" pitchFamily="34" charset="0"/>
                <a:ea typeface="Georgia" pitchFamily="34" charset="-122"/>
                <a:cs typeface="Georgia" pitchFamily="34" charset="-120"/>
              </a:rPr>
              <a:t>Niega, minimiza, se cierra, se enoja.</a:t>
            </a:r>
            <a:endParaRPr lang="en-US" sz="1600" dirty="0"/>
          </a:p>
        </p:txBody>
      </p:sp>
      <p:sp>
        <p:nvSpPr>
          <p:cNvPr id="12" name="Text 10"/>
          <p:cNvSpPr/>
          <p:nvPr/>
        </p:nvSpPr>
        <p:spPr>
          <a:xfrm>
            <a:off x="7792517" y="2103120"/>
            <a:ext cx="365760" cy="1554480"/>
          </a:xfrm>
          <a:prstGeom prst="rect">
            <a:avLst/>
          </a:prstGeom>
          <a:noFill/>
          <a:ln/>
        </p:spPr>
        <p:txBody>
          <a:bodyPr wrap="square" rtlCol="0" anchor="ctr"/>
          <a:lstStyle/>
          <a:p>
            <a:pPr algn="ctr" indent="0" marL="0">
              <a:buNone/>
            </a:pPr>
            <a:r>
              <a:rPr lang="en-US" sz="2200" dirty="0">
                <a:solidFill>
                  <a:srgbClr val="C5A059"/>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8203997" y="2103120"/>
            <a:ext cx="3301898" cy="1554480"/>
          </a:xfrm>
          <a:prstGeom prst="rect">
            <a:avLst/>
          </a:prstGeom>
          <a:solidFill>
            <a:srgbClr val="16304C"/>
          </a:solidFill>
          <a:ln w="12700">
            <a:solidFill>
              <a:srgbClr val="16304C"/>
            </a:solidFill>
            <a:prstDash val="solid"/>
          </a:ln>
        </p:spPr>
      </p:sp>
      <p:sp>
        <p:nvSpPr>
          <p:cNvPr id="14" name="Text 12"/>
          <p:cNvSpPr/>
          <p:nvPr/>
        </p:nvSpPr>
        <p:spPr>
          <a:xfrm>
            <a:off x="8478317" y="2286000"/>
            <a:ext cx="2753258" cy="365760"/>
          </a:xfrm>
          <a:prstGeom prst="rect">
            <a:avLst/>
          </a:prstGeom>
          <a:noFill/>
          <a:ln/>
        </p:spPr>
        <p:txBody>
          <a:bodyPr wrap="square" rtlCol="0" anchor="ctr"/>
          <a:lstStyle/>
          <a:p>
            <a:pPr indent="0" marL="0">
              <a:buNone/>
            </a:pPr>
            <a:r>
              <a:rPr lang="en-US" sz="1200" b="1" spc="120" kern="0" dirty="0">
                <a:solidFill>
                  <a:srgbClr val="C5A059"/>
                </a:solidFill>
                <a:latin typeface="Calibri" pitchFamily="34" charset="0"/>
                <a:ea typeface="Calibri" pitchFamily="34" charset="-122"/>
                <a:cs typeface="Calibri" pitchFamily="34" charset="-120"/>
              </a:rPr>
              <a:t>Concluimos mal</a:t>
            </a:r>
            <a:endParaRPr lang="en-US" sz="1200" dirty="0"/>
          </a:p>
        </p:txBody>
      </p:sp>
      <p:sp>
        <p:nvSpPr>
          <p:cNvPr id="15" name="Text 13"/>
          <p:cNvSpPr/>
          <p:nvPr/>
        </p:nvSpPr>
        <p:spPr>
          <a:xfrm>
            <a:off x="8478317" y="2697480"/>
            <a:ext cx="2753258" cy="822960"/>
          </a:xfrm>
          <a:prstGeom prst="rect">
            <a:avLst/>
          </a:prstGeom>
          <a:noFill/>
          <a:ln/>
        </p:spPr>
        <p:txBody>
          <a:bodyPr wrap="square" rtlCol="0" anchor="ctr"/>
          <a:lstStyle/>
          <a:p>
            <a:pPr indent="0" marL="0">
              <a:lnSpc>
                <a:spcPct val="115000"/>
              </a:lnSpc>
              <a:buNone/>
            </a:pPr>
            <a:r>
              <a:rPr lang="en-US" sz="1600" dirty="0">
                <a:solidFill>
                  <a:srgbClr val="FFFFFF"/>
                </a:solidFill>
                <a:latin typeface="Georgia" pitchFamily="34" charset="0"/>
                <a:ea typeface="Georgia" pitchFamily="34" charset="-122"/>
                <a:cs typeface="Georgia" pitchFamily="34" charset="-120"/>
              </a:rPr>
              <a:t>“No tiene motivación para cambiar.”</a:t>
            </a:r>
            <a:endParaRPr lang="en-US" sz="1600" dirty="0"/>
          </a:p>
        </p:txBody>
      </p:sp>
      <p:sp>
        <p:nvSpPr>
          <p:cNvPr id="16" name="Shape 14"/>
          <p:cNvSpPr/>
          <p:nvPr/>
        </p:nvSpPr>
        <p:spPr>
          <a:xfrm>
            <a:off x="685800" y="4114800"/>
            <a:ext cx="10820095" cy="1371600"/>
          </a:xfrm>
          <a:prstGeom prst="rect">
            <a:avLst/>
          </a:prstGeom>
          <a:solidFill>
            <a:srgbClr val="16304C"/>
          </a:solidFill>
          <a:ln w="12700">
            <a:solidFill>
              <a:srgbClr val="16304C"/>
            </a:solidFill>
            <a:prstDash val="solid"/>
          </a:ln>
        </p:spPr>
      </p:sp>
      <p:sp>
        <p:nvSpPr>
          <p:cNvPr id="17" name="Shape 15"/>
          <p:cNvSpPr/>
          <p:nvPr/>
        </p:nvSpPr>
        <p:spPr>
          <a:xfrm>
            <a:off x="685800" y="4114800"/>
            <a:ext cx="45720" cy="1371600"/>
          </a:xfrm>
          <a:prstGeom prst="rect">
            <a:avLst/>
          </a:prstGeom>
          <a:solidFill>
            <a:srgbClr val="C5A059"/>
          </a:solidFill>
          <a:ln w="12700">
            <a:solidFill>
              <a:srgbClr val="C5A059"/>
            </a:solidFill>
            <a:prstDash val="solid"/>
          </a:ln>
        </p:spPr>
      </p:sp>
      <p:sp>
        <p:nvSpPr>
          <p:cNvPr id="18" name="Text 16"/>
          <p:cNvSpPr/>
          <p:nvPr/>
        </p:nvSpPr>
        <p:spPr>
          <a:xfrm>
            <a:off x="1005840" y="4261104"/>
            <a:ext cx="10180015" cy="804672"/>
          </a:xfrm>
          <a:prstGeom prst="rect">
            <a:avLst/>
          </a:prstGeom>
          <a:noFill/>
          <a:ln/>
        </p:spPr>
        <p:txBody>
          <a:bodyPr wrap="square" rtlCol="0" anchor="ctr"/>
          <a:lstStyle/>
          <a:p>
            <a:pPr indent="0" marL="0">
              <a:lnSpc>
                <a:spcPct val="125000"/>
              </a:lnSpc>
              <a:buNone/>
            </a:pPr>
            <a:r>
              <a:rPr lang="en-US" sz="2200" i="1" dirty="0">
                <a:solidFill>
                  <a:srgbClr val="FFFFFF"/>
                </a:solidFill>
                <a:latin typeface="Georgia" pitchFamily="34" charset="0"/>
                <a:ea typeface="Georgia" pitchFamily="34" charset="-122"/>
                <a:cs typeface="Georgia" pitchFamily="34" charset="-120"/>
              </a:rPr>
              <a:t>“La resistencia es una señal que indica que se deben cambiar las estrategias que se han estado utilizando.”</a:t>
            </a:r>
            <a:endParaRPr lang="en-US" sz="2200" dirty="0"/>
          </a:p>
        </p:txBody>
      </p:sp>
      <p:sp>
        <p:nvSpPr>
          <p:cNvPr id="19" name="Text 17"/>
          <p:cNvSpPr/>
          <p:nvPr/>
        </p:nvSpPr>
        <p:spPr>
          <a:xfrm>
            <a:off x="1005840" y="5047488"/>
            <a:ext cx="10180015" cy="292608"/>
          </a:xfrm>
          <a:prstGeom prst="rect">
            <a:avLst/>
          </a:prstGeom>
          <a:noFill/>
          <a:ln/>
        </p:spPr>
        <p:txBody>
          <a:bodyPr wrap="square" rtlCol="0" anchor="ctr"/>
          <a:lstStyle/>
          <a:p>
            <a:pPr indent="0" marL="0">
              <a:buNone/>
            </a:pPr>
            <a:r>
              <a:rPr lang="en-US" sz="1100" dirty="0">
                <a:solidFill>
                  <a:srgbClr val="C5A059"/>
                </a:solidFill>
                <a:latin typeface="Calibri" pitchFamily="34" charset="0"/>
                <a:ea typeface="Calibri" pitchFamily="34" charset="-122"/>
                <a:cs typeface="Calibri" pitchFamily="34" charset="-120"/>
              </a:rPr>
              <a:t>Miller y Rollnick, La entrevista motivacional</a:t>
            </a:r>
            <a:endParaRPr lang="en-US" sz="1100" dirty="0"/>
          </a:p>
        </p:txBody>
      </p:sp>
      <p:sp>
        <p:nvSpPr>
          <p:cNvPr id="20" name="Shape 18"/>
          <p:cNvSpPr/>
          <p:nvPr/>
        </p:nvSpPr>
        <p:spPr>
          <a:xfrm>
            <a:off x="685800" y="6144768"/>
            <a:ext cx="10820095" cy="20117"/>
          </a:xfrm>
          <a:prstGeom prst="rect">
            <a:avLst/>
          </a:prstGeom>
          <a:solidFill>
            <a:srgbClr val="C5A059"/>
          </a:solidFill>
          <a:ln w="12700">
            <a:solidFill>
              <a:srgbClr val="C5A059"/>
            </a:solidFill>
            <a:prstDash val="solid"/>
          </a:ln>
        </p:spPr>
      </p:sp>
      <p:sp>
        <p:nvSpPr>
          <p:cNvPr id="21" name="Text 19"/>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Miller, W. R., &amp; Rollnick, S. (1999). La entrevista motivacional: preparar para el cambio de conductas adictivas. Barcelona: Paidós, cap. 8 “Afrontando la resistencia”. [Original: Motivational Interviewing: Preparing People for Change. Nueva York: Guilford Press, 1991.]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4 — INTERVENCIÓN</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El giro: la motivación no es un rasgo</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828800"/>
            <a:ext cx="10820095" cy="1828800"/>
          </a:xfrm>
          <a:prstGeom prst="rect">
            <a:avLst/>
          </a:prstGeom>
          <a:solidFill>
            <a:srgbClr val="16304C"/>
          </a:solidFill>
          <a:ln w="12700">
            <a:solidFill>
              <a:srgbClr val="16304C"/>
            </a:solidFill>
            <a:prstDash val="solid"/>
          </a:ln>
        </p:spPr>
      </p:sp>
      <p:sp>
        <p:nvSpPr>
          <p:cNvPr id="6" name="Shape 4"/>
          <p:cNvSpPr/>
          <p:nvPr/>
        </p:nvSpPr>
        <p:spPr>
          <a:xfrm>
            <a:off x="685800" y="1828800"/>
            <a:ext cx="45720" cy="1828800"/>
          </a:xfrm>
          <a:prstGeom prst="rect">
            <a:avLst/>
          </a:prstGeom>
          <a:solidFill>
            <a:srgbClr val="C5A059"/>
          </a:solidFill>
          <a:ln w="12700">
            <a:solidFill>
              <a:srgbClr val="C5A059"/>
            </a:solidFill>
            <a:prstDash val="solid"/>
          </a:ln>
        </p:spPr>
      </p:sp>
      <p:sp>
        <p:nvSpPr>
          <p:cNvPr id="7" name="Text 5"/>
          <p:cNvSpPr/>
          <p:nvPr/>
        </p:nvSpPr>
        <p:spPr>
          <a:xfrm>
            <a:off x="1005840" y="1975104"/>
            <a:ext cx="10180015" cy="1261872"/>
          </a:xfrm>
          <a:prstGeom prst="rect">
            <a:avLst/>
          </a:prstGeom>
          <a:noFill/>
          <a:ln/>
        </p:spPr>
        <p:txBody>
          <a:bodyPr wrap="square" rtlCol="0" anchor="ctr"/>
          <a:lstStyle/>
          <a:p>
            <a:pPr indent="0" marL="0">
              <a:lnSpc>
                <a:spcPct val="125000"/>
              </a:lnSpc>
              <a:buNone/>
            </a:pPr>
            <a:r>
              <a:rPr lang="en-US" sz="1800" i="1" dirty="0">
                <a:solidFill>
                  <a:srgbClr val="FFFFFF"/>
                </a:solidFill>
                <a:latin typeface="Georgia" pitchFamily="34" charset="0"/>
                <a:ea typeface="Georgia" pitchFamily="34" charset="-122"/>
                <a:cs typeface="Georgia" pitchFamily="34" charset="-120"/>
              </a:rPr>
              <a:t>“La motivación no se debe entender como un problema de personalidad, o como un rasgo que una persona lleva consigo cuando cruza la puerta de salida de la consulta del terapeuta. Más bien, la motivación es un estado de disponibilidad o deseo de cambiar, el cual puede fluctuar de un momento a otro o de una situación a otra.”</a:t>
            </a:r>
            <a:endParaRPr lang="en-US" sz="1800" dirty="0"/>
          </a:p>
        </p:txBody>
      </p:sp>
      <p:sp>
        <p:nvSpPr>
          <p:cNvPr id="8" name="Text 6"/>
          <p:cNvSpPr/>
          <p:nvPr/>
        </p:nvSpPr>
        <p:spPr>
          <a:xfrm>
            <a:off x="1005840" y="3218688"/>
            <a:ext cx="10180015" cy="292608"/>
          </a:xfrm>
          <a:prstGeom prst="rect">
            <a:avLst/>
          </a:prstGeom>
          <a:noFill/>
          <a:ln/>
        </p:spPr>
        <p:txBody>
          <a:bodyPr wrap="square" rtlCol="0" anchor="ctr"/>
          <a:lstStyle/>
          <a:p>
            <a:pPr indent="0" marL="0">
              <a:buNone/>
            </a:pPr>
            <a:r>
              <a:rPr lang="en-US" sz="1100" dirty="0">
                <a:solidFill>
                  <a:srgbClr val="C5A059"/>
                </a:solidFill>
                <a:latin typeface="Calibri" pitchFamily="34" charset="0"/>
                <a:ea typeface="Calibri" pitchFamily="34" charset="-122"/>
                <a:cs typeface="Calibri" pitchFamily="34" charset="-120"/>
              </a:rPr>
              <a:t>Miller y Rollnick, La entrevista motivacional</a:t>
            </a:r>
            <a:endParaRPr lang="en-US" sz="1100" dirty="0"/>
          </a:p>
        </p:txBody>
      </p:sp>
      <p:sp>
        <p:nvSpPr>
          <p:cNvPr id="9" name="Shape 7"/>
          <p:cNvSpPr/>
          <p:nvPr/>
        </p:nvSpPr>
        <p:spPr>
          <a:xfrm>
            <a:off x="685800" y="3931920"/>
            <a:ext cx="5181448" cy="1737360"/>
          </a:xfrm>
          <a:prstGeom prst="rect">
            <a:avLst/>
          </a:prstGeom>
          <a:solidFill>
            <a:srgbClr val="16304C"/>
          </a:solidFill>
          <a:ln w="12700">
            <a:solidFill>
              <a:srgbClr val="16304C"/>
            </a:solidFill>
            <a:prstDash val="solid"/>
          </a:ln>
        </p:spPr>
      </p:sp>
      <p:sp>
        <p:nvSpPr>
          <p:cNvPr id="10" name="Shape 8"/>
          <p:cNvSpPr/>
          <p:nvPr/>
        </p:nvSpPr>
        <p:spPr>
          <a:xfrm>
            <a:off x="685800" y="3931920"/>
            <a:ext cx="45720" cy="1737360"/>
          </a:xfrm>
          <a:prstGeom prst="rect">
            <a:avLst/>
          </a:prstGeom>
          <a:solidFill>
            <a:srgbClr val="C5A059"/>
          </a:solidFill>
          <a:ln w="12700">
            <a:solidFill>
              <a:srgbClr val="C5A059"/>
            </a:solidFill>
            <a:prstDash val="solid"/>
          </a:ln>
        </p:spPr>
      </p:sp>
      <p:sp>
        <p:nvSpPr>
          <p:cNvPr id="11" name="Text 9"/>
          <p:cNvSpPr/>
          <p:nvPr/>
        </p:nvSpPr>
        <p:spPr>
          <a:xfrm>
            <a:off x="941832" y="4114800"/>
            <a:ext cx="472424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LO QUE SOLEMOS PENSAR</a:t>
            </a:r>
            <a:endParaRPr lang="en-US" sz="1100" dirty="0"/>
          </a:p>
        </p:txBody>
      </p:sp>
      <p:sp>
        <p:nvSpPr>
          <p:cNvPr id="12" name="Text 10"/>
          <p:cNvSpPr/>
          <p:nvPr/>
        </p:nvSpPr>
        <p:spPr>
          <a:xfrm>
            <a:off x="941832" y="4462272"/>
            <a:ext cx="4678528" cy="105156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“Este chico no quiere cambiar.” La motivación se lee como una característica del adolescente: la tiene o no la tiene. Si no la tiene, no hay nada que hacer.</a:t>
            </a:r>
            <a:endParaRPr lang="en-US" sz="1350" dirty="0"/>
          </a:p>
        </p:txBody>
      </p:sp>
      <p:sp>
        <p:nvSpPr>
          <p:cNvPr id="13" name="Shape 11"/>
          <p:cNvSpPr/>
          <p:nvPr/>
        </p:nvSpPr>
        <p:spPr>
          <a:xfrm>
            <a:off x="6324448" y="3931920"/>
            <a:ext cx="5181448" cy="1737360"/>
          </a:xfrm>
          <a:prstGeom prst="rect">
            <a:avLst/>
          </a:prstGeom>
          <a:solidFill>
            <a:srgbClr val="16304C"/>
          </a:solidFill>
          <a:ln w="12700">
            <a:solidFill>
              <a:srgbClr val="16304C"/>
            </a:solidFill>
            <a:prstDash val="solid"/>
          </a:ln>
        </p:spPr>
      </p:sp>
      <p:sp>
        <p:nvSpPr>
          <p:cNvPr id="14" name="Shape 12"/>
          <p:cNvSpPr/>
          <p:nvPr/>
        </p:nvSpPr>
        <p:spPr>
          <a:xfrm>
            <a:off x="6324448" y="3931920"/>
            <a:ext cx="45720" cy="1737360"/>
          </a:xfrm>
          <a:prstGeom prst="rect">
            <a:avLst/>
          </a:prstGeom>
          <a:solidFill>
            <a:srgbClr val="C5A059"/>
          </a:solidFill>
          <a:ln w="12700">
            <a:solidFill>
              <a:srgbClr val="C5A059"/>
            </a:solidFill>
            <a:prstDash val="solid"/>
          </a:ln>
        </p:spPr>
      </p:sp>
      <p:sp>
        <p:nvSpPr>
          <p:cNvPr id="15" name="Text 13"/>
          <p:cNvSpPr/>
          <p:nvPr/>
        </p:nvSpPr>
        <p:spPr>
          <a:xfrm>
            <a:off x="6580480" y="4114800"/>
            <a:ext cx="472424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LO QUE MUESTRA LA EVIDENCIA</a:t>
            </a:r>
            <a:endParaRPr lang="en-US" sz="1100" dirty="0"/>
          </a:p>
        </p:txBody>
      </p:sp>
      <p:sp>
        <p:nvSpPr>
          <p:cNvPr id="16" name="Text 14"/>
          <p:cNvSpPr/>
          <p:nvPr/>
        </p:nvSpPr>
        <p:spPr>
          <a:xfrm>
            <a:off x="6580480" y="4462272"/>
            <a:ext cx="4678528" cy="105156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La motivación es un estado que fluctúa y que se ve directamente influido por cómo lo tratamos. El adolescente “que no quiere” no es un caso perdido: es alguien cuya disposición podemos mover.</a:t>
            </a:r>
            <a:endParaRPr lang="en-US" sz="1350" dirty="0"/>
          </a:p>
        </p:txBody>
      </p:sp>
      <p:sp>
        <p:nvSpPr>
          <p:cNvPr id="17" name="Shape 15"/>
          <p:cNvSpPr/>
          <p:nvPr/>
        </p:nvSpPr>
        <p:spPr>
          <a:xfrm>
            <a:off x="685800" y="6144768"/>
            <a:ext cx="10820095" cy="20117"/>
          </a:xfrm>
          <a:prstGeom prst="rect">
            <a:avLst/>
          </a:prstGeom>
          <a:solidFill>
            <a:srgbClr val="C5A059"/>
          </a:solidFill>
          <a:ln w="12700">
            <a:solidFill>
              <a:srgbClr val="C5A059"/>
            </a:solidFill>
            <a:prstDash val="solid"/>
          </a:ln>
        </p:spPr>
      </p:sp>
      <p:sp>
        <p:nvSpPr>
          <p:cNvPr id="18" name="Text 16"/>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Miller, W. R., &amp; Rollnick, S. (1999). La entrevista motivacional: preparar para el cambio de conductas adictivas. Barcelona: Paidós, cap. 1 y 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4 — INTERVENCIÓN</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La ambivalencia no es negación</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783080"/>
            <a:ext cx="10820095" cy="1371600"/>
          </a:xfrm>
          <a:prstGeom prst="rect">
            <a:avLst/>
          </a:prstGeom>
          <a:solidFill>
            <a:srgbClr val="16304C"/>
          </a:solidFill>
          <a:ln w="12700">
            <a:solidFill>
              <a:srgbClr val="16304C"/>
            </a:solidFill>
            <a:prstDash val="solid"/>
          </a:ln>
        </p:spPr>
      </p:sp>
      <p:sp>
        <p:nvSpPr>
          <p:cNvPr id="6" name="Shape 4"/>
          <p:cNvSpPr/>
          <p:nvPr/>
        </p:nvSpPr>
        <p:spPr>
          <a:xfrm>
            <a:off x="685800" y="1783080"/>
            <a:ext cx="45720" cy="1371600"/>
          </a:xfrm>
          <a:prstGeom prst="rect">
            <a:avLst/>
          </a:prstGeom>
          <a:solidFill>
            <a:srgbClr val="C5A059"/>
          </a:solidFill>
          <a:ln w="12700">
            <a:solidFill>
              <a:srgbClr val="C5A059"/>
            </a:solidFill>
            <a:prstDash val="solid"/>
          </a:ln>
        </p:spPr>
      </p:sp>
      <p:sp>
        <p:nvSpPr>
          <p:cNvPr id="7" name="Text 5"/>
          <p:cNvSpPr/>
          <p:nvPr/>
        </p:nvSpPr>
        <p:spPr>
          <a:xfrm>
            <a:off x="1005840" y="1929384"/>
            <a:ext cx="10180015" cy="804672"/>
          </a:xfrm>
          <a:prstGeom prst="rect">
            <a:avLst/>
          </a:prstGeom>
          <a:noFill/>
          <a:ln/>
        </p:spPr>
        <p:txBody>
          <a:bodyPr wrap="square" rtlCol="0" anchor="ctr"/>
          <a:lstStyle/>
          <a:p>
            <a:pPr indent="0" marL="0">
              <a:lnSpc>
                <a:spcPct val="125000"/>
              </a:lnSpc>
              <a:buNone/>
            </a:pPr>
            <a:r>
              <a:rPr lang="en-US" sz="1700" i="1" dirty="0">
                <a:solidFill>
                  <a:srgbClr val="FFFFFF"/>
                </a:solidFill>
                <a:latin typeface="Georgia" pitchFamily="34" charset="0"/>
                <a:ea typeface="Georgia" pitchFamily="34" charset="-122"/>
                <a:cs typeface="Georgia" pitchFamily="34" charset="-120"/>
              </a:rPr>
              <a:t>“Los pacientes alcohólicos, los adictos a drogas ilegales, las bulímicas y los jugadores patológicos a menudo reconocen los riesgos, costos y daños que acarrean sus conductas. Pero se sienten muy atrapados y atraídos hacia su conducta adictiva por una serie de razones.”</a:t>
            </a:r>
            <a:endParaRPr lang="en-US" sz="1700" dirty="0"/>
          </a:p>
        </p:txBody>
      </p:sp>
      <p:sp>
        <p:nvSpPr>
          <p:cNvPr id="8" name="Text 6"/>
          <p:cNvSpPr/>
          <p:nvPr/>
        </p:nvSpPr>
        <p:spPr>
          <a:xfrm>
            <a:off x="1005840" y="2715768"/>
            <a:ext cx="10180015" cy="292608"/>
          </a:xfrm>
          <a:prstGeom prst="rect">
            <a:avLst/>
          </a:prstGeom>
          <a:noFill/>
          <a:ln/>
        </p:spPr>
        <p:txBody>
          <a:bodyPr wrap="square" rtlCol="0" anchor="ctr"/>
          <a:lstStyle/>
          <a:p>
            <a:pPr indent="0" marL="0">
              <a:buNone/>
            </a:pPr>
            <a:r>
              <a:rPr lang="en-US" sz="1100" dirty="0">
                <a:solidFill>
                  <a:srgbClr val="C5A059"/>
                </a:solidFill>
                <a:latin typeface="Calibri" pitchFamily="34" charset="0"/>
                <a:ea typeface="Calibri" pitchFamily="34" charset="-122"/>
                <a:cs typeface="Calibri" pitchFamily="34" charset="-120"/>
              </a:rPr>
              <a:t>Miller y Rollnick, La entrevista motivacional</a:t>
            </a:r>
            <a:endParaRPr lang="en-US" sz="1100" dirty="0"/>
          </a:p>
        </p:txBody>
      </p:sp>
      <p:sp>
        <p:nvSpPr>
          <p:cNvPr id="9" name="Shape 7"/>
          <p:cNvSpPr/>
          <p:nvPr/>
        </p:nvSpPr>
        <p:spPr>
          <a:xfrm>
            <a:off x="685800" y="3429000"/>
            <a:ext cx="5181448" cy="2194560"/>
          </a:xfrm>
          <a:prstGeom prst="rect">
            <a:avLst/>
          </a:prstGeom>
          <a:solidFill>
            <a:srgbClr val="16304C"/>
          </a:solidFill>
          <a:ln w="12700">
            <a:solidFill>
              <a:srgbClr val="16304C"/>
            </a:solidFill>
            <a:prstDash val="solid"/>
          </a:ln>
        </p:spPr>
      </p:sp>
      <p:sp>
        <p:nvSpPr>
          <p:cNvPr id="10" name="Shape 8"/>
          <p:cNvSpPr/>
          <p:nvPr/>
        </p:nvSpPr>
        <p:spPr>
          <a:xfrm>
            <a:off x="685800" y="3429000"/>
            <a:ext cx="45720" cy="2194560"/>
          </a:xfrm>
          <a:prstGeom prst="rect">
            <a:avLst/>
          </a:prstGeom>
          <a:solidFill>
            <a:srgbClr val="C5A059"/>
          </a:solidFill>
          <a:ln w="12700">
            <a:solidFill>
              <a:srgbClr val="C5A059"/>
            </a:solidFill>
            <a:prstDash val="solid"/>
          </a:ln>
        </p:spPr>
      </p:sp>
      <p:sp>
        <p:nvSpPr>
          <p:cNvPr id="11" name="Text 9"/>
          <p:cNvSpPr/>
          <p:nvPr/>
        </p:nvSpPr>
        <p:spPr>
          <a:xfrm>
            <a:off x="941832" y="3611880"/>
            <a:ext cx="472424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LA TRAMPA CONFRONTACIÓN-NEGACIÓN</a:t>
            </a:r>
            <a:endParaRPr lang="en-US" sz="1100" dirty="0"/>
          </a:p>
        </p:txBody>
      </p:sp>
      <p:sp>
        <p:nvSpPr>
          <p:cNvPr id="12" name="Text 10"/>
          <p:cNvSpPr/>
          <p:nvPr/>
        </p:nvSpPr>
        <p:spPr>
          <a:xfrm>
            <a:off x="941832" y="3959352"/>
            <a:ext cx="4678528" cy="150876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Cuando el adulto toma el lado del cambio (“tenés que dejar”), el adolescente ocupa automáticamente el lado opuesto y defiende la conducta. No está mintiendo: está expresando la otra mitad de su ambivalencia, la que nosotros dejamos libre.</a:t>
            </a:r>
            <a:endParaRPr lang="en-US" sz="1350" dirty="0"/>
          </a:p>
        </p:txBody>
      </p:sp>
      <p:sp>
        <p:nvSpPr>
          <p:cNvPr id="13" name="Shape 11"/>
          <p:cNvSpPr/>
          <p:nvPr/>
        </p:nvSpPr>
        <p:spPr>
          <a:xfrm>
            <a:off x="6324448" y="3429000"/>
            <a:ext cx="5181448" cy="2194560"/>
          </a:xfrm>
          <a:prstGeom prst="rect">
            <a:avLst/>
          </a:prstGeom>
          <a:solidFill>
            <a:srgbClr val="16304C"/>
          </a:solidFill>
          <a:ln w="12700">
            <a:solidFill>
              <a:srgbClr val="16304C"/>
            </a:solidFill>
            <a:prstDash val="solid"/>
          </a:ln>
        </p:spPr>
      </p:sp>
      <p:sp>
        <p:nvSpPr>
          <p:cNvPr id="14" name="Shape 12"/>
          <p:cNvSpPr/>
          <p:nvPr/>
        </p:nvSpPr>
        <p:spPr>
          <a:xfrm>
            <a:off x="6324448" y="3429000"/>
            <a:ext cx="45720" cy="2194560"/>
          </a:xfrm>
          <a:prstGeom prst="rect">
            <a:avLst/>
          </a:prstGeom>
          <a:solidFill>
            <a:srgbClr val="C5A059"/>
          </a:solidFill>
          <a:ln w="12700">
            <a:solidFill>
              <a:srgbClr val="C5A059"/>
            </a:solidFill>
            <a:prstDash val="solid"/>
          </a:ln>
        </p:spPr>
      </p:sp>
      <p:sp>
        <p:nvSpPr>
          <p:cNvPr id="15" name="Text 13"/>
          <p:cNvSpPr/>
          <p:nvPr/>
        </p:nvSpPr>
        <p:spPr>
          <a:xfrm>
            <a:off x="6580480" y="3611880"/>
            <a:ext cx="472424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VOLVAMOS A DIEGO</a:t>
            </a:r>
            <a:endParaRPr lang="en-US" sz="1100" dirty="0"/>
          </a:p>
        </p:txBody>
      </p:sp>
      <p:sp>
        <p:nvSpPr>
          <p:cNvPr id="16" name="Text 14"/>
          <p:cNvSpPr/>
          <p:nvPr/>
        </p:nvSpPr>
        <p:spPr>
          <a:xfrm>
            <a:off x="6580480" y="3959352"/>
            <a:ext cx="4678528" cy="150876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Diego no mintió cuando prometió que iba a parar. Prometió desde un lado de su ambivalencia, y recayó desde el otro. Leerlo como “falta de voluntad” lleva al reproche. Leerlo como ambivalencia lleva a la pregunta correcta: ¿qué le da el juego que hoy no encuentra en otro lado?</a:t>
            </a:r>
            <a:endParaRPr lang="en-US" sz="1350" dirty="0"/>
          </a:p>
        </p:txBody>
      </p:sp>
      <p:sp>
        <p:nvSpPr>
          <p:cNvPr id="17" name="Shape 15"/>
          <p:cNvSpPr/>
          <p:nvPr/>
        </p:nvSpPr>
        <p:spPr>
          <a:xfrm>
            <a:off x="685800" y="6144768"/>
            <a:ext cx="10820095" cy="20117"/>
          </a:xfrm>
          <a:prstGeom prst="rect">
            <a:avLst/>
          </a:prstGeom>
          <a:solidFill>
            <a:srgbClr val="C5A059"/>
          </a:solidFill>
          <a:ln w="12700">
            <a:solidFill>
              <a:srgbClr val="C5A059"/>
            </a:solidFill>
            <a:prstDash val="solid"/>
          </a:ln>
        </p:spPr>
      </p:sp>
      <p:sp>
        <p:nvSpPr>
          <p:cNvPr id="18" name="Text 16"/>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Miller, W. R., &amp; Rollnick, S. (1999). La entrevista motivacional: preparar para el cambio de conductas adictivas. Barcelona: Paidós, cap. 4 “La ambivalencia: el dilema del cambio”.</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4 — INTERVENCIÓN</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En qué etapa está y qué corresponde hacer</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820095" cy="914400"/>
        </p:xfrm>
        <a:graphic>
          <a:graphicData uri="http://schemas.openxmlformats.org/drawingml/2006/table">
            <a:tbl>
              <a:tblPr/>
              <a:tblGrid>
                <a:gridCol w="2103120"/>
                <a:gridCol w="3840480"/>
                <a:gridCol w="4876495"/>
              </a:tblGrid>
              <a:tr h="0">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Etapa</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Cómo se presenta</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Tarea del adulto</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r>
              <a:tr h="0">
                <a:tc>
                  <a:txBody>
                    <a:bodyPr/>
                    <a:lstStyle/>
                    <a:p>
                      <a:pPr algn="l" indent="0" marL="0">
                        <a:buNone/>
                      </a:pPr>
                      <a:r>
                        <a:rPr lang="en-US" sz="1200" b="1" dirty="0">
                          <a:solidFill>
                            <a:srgbClr val="E0C68A"/>
                          </a:solidFill>
                          <a:latin typeface="Calibri" pitchFamily="34" charset="0"/>
                          <a:ea typeface="Calibri" pitchFamily="34" charset="-122"/>
                          <a:cs typeface="Calibri" pitchFamily="34" charset="-120"/>
                        </a:rPr>
                        <a:t>Precontemplación</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00" dirty="0">
                          <a:solidFill>
                            <a:srgbClr val="D3E4FB"/>
                          </a:solidFill>
                          <a:latin typeface="Calibri" pitchFamily="34" charset="0"/>
                          <a:ea typeface="Calibri" pitchFamily="34" charset="-122"/>
                          <a:cs typeface="Calibri" pitchFamily="34" charset="-120"/>
                        </a:rPr>
                        <a:t>No ve el problema. “A mí no me pasa nada.”</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00" dirty="0">
                          <a:solidFill>
                            <a:srgbClr val="D3E4FB"/>
                          </a:solidFill>
                          <a:latin typeface="Calibri" pitchFamily="34" charset="0"/>
                          <a:ea typeface="Calibri" pitchFamily="34" charset="-122"/>
                          <a:cs typeface="Calibri" pitchFamily="34" charset="-120"/>
                        </a:rPr>
                        <a:t>Aumentar la duda. Informar sin juzgar, sin exigir una decisión.</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200" b="1" dirty="0">
                          <a:solidFill>
                            <a:srgbClr val="E0C68A"/>
                          </a:solidFill>
                          <a:latin typeface="Calibri" pitchFamily="34" charset="0"/>
                          <a:ea typeface="Calibri" pitchFamily="34" charset="-122"/>
                          <a:cs typeface="Calibri" pitchFamily="34" charset="-120"/>
                        </a:rPr>
                        <a:t>Contemplación</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00" dirty="0">
                          <a:solidFill>
                            <a:srgbClr val="D3E4FB"/>
                          </a:solidFill>
                          <a:latin typeface="Calibri" pitchFamily="34" charset="0"/>
                          <a:ea typeface="Calibri" pitchFamily="34" charset="-122"/>
                          <a:cs typeface="Calibri" pitchFamily="34" charset="-120"/>
                        </a:rPr>
                        <a:t>Empieza a dudar. Reconoce algo pero relativiza.</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00" dirty="0">
                          <a:solidFill>
                            <a:srgbClr val="D3E4FB"/>
                          </a:solidFill>
                          <a:latin typeface="Calibri" pitchFamily="34" charset="0"/>
                          <a:ea typeface="Calibri" pitchFamily="34" charset="-122"/>
                          <a:cs typeface="Calibri" pitchFamily="34" charset="-120"/>
                        </a:rPr>
                        <a:t>Inclinar la balanza. Que sea él quien enumere sus razones.</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r h="0">
                <a:tc>
                  <a:txBody>
                    <a:bodyPr/>
                    <a:lstStyle/>
                    <a:p>
                      <a:pPr algn="l" indent="0" marL="0">
                        <a:buNone/>
                      </a:pPr>
                      <a:r>
                        <a:rPr lang="en-US" sz="1200" b="1" dirty="0">
                          <a:solidFill>
                            <a:srgbClr val="E0C68A"/>
                          </a:solidFill>
                          <a:latin typeface="Calibri" pitchFamily="34" charset="0"/>
                          <a:ea typeface="Calibri" pitchFamily="34" charset="-122"/>
                          <a:cs typeface="Calibri" pitchFamily="34" charset="-120"/>
                        </a:rPr>
                        <a:t>Determinación</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00" dirty="0">
                          <a:solidFill>
                            <a:srgbClr val="D3E4FB"/>
                          </a:solidFill>
                          <a:latin typeface="Calibri" pitchFamily="34" charset="0"/>
                          <a:ea typeface="Calibri" pitchFamily="34" charset="-122"/>
                          <a:cs typeface="Calibri" pitchFamily="34" charset="-120"/>
                        </a:rPr>
                        <a:t>Quiere cambiar y busca cómo.</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00" dirty="0">
                          <a:solidFill>
                            <a:srgbClr val="D3E4FB"/>
                          </a:solidFill>
                          <a:latin typeface="Calibri" pitchFamily="34" charset="0"/>
                          <a:ea typeface="Calibri" pitchFamily="34" charset="-122"/>
                          <a:cs typeface="Calibri" pitchFamily="34" charset="-120"/>
                        </a:rPr>
                        <a:t>Ayudar a encontrar el mejor curso de acción. Acá se deriva.</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200" b="1" dirty="0">
                          <a:solidFill>
                            <a:srgbClr val="E0C68A"/>
                          </a:solidFill>
                          <a:latin typeface="Calibri" pitchFamily="34" charset="0"/>
                          <a:ea typeface="Calibri" pitchFamily="34" charset="-122"/>
                          <a:cs typeface="Calibri" pitchFamily="34" charset="-120"/>
                        </a:rPr>
                        <a:t>Acción</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00" dirty="0">
                          <a:solidFill>
                            <a:srgbClr val="D3E4FB"/>
                          </a:solidFill>
                          <a:latin typeface="Calibri" pitchFamily="34" charset="0"/>
                          <a:ea typeface="Calibri" pitchFamily="34" charset="-122"/>
                          <a:cs typeface="Calibri" pitchFamily="34" charset="-120"/>
                        </a:rPr>
                        <a:t>Ya está cambiando algo concreto.</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00" dirty="0">
                          <a:solidFill>
                            <a:srgbClr val="D3E4FB"/>
                          </a:solidFill>
                          <a:latin typeface="Calibri" pitchFamily="34" charset="0"/>
                          <a:ea typeface="Calibri" pitchFamily="34" charset="-122"/>
                          <a:cs typeface="Calibri" pitchFamily="34" charset="-120"/>
                        </a:rPr>
                        <a:t>Ayudar a dar los pasos. Sostener, acompañar, no soltar.</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r h="0">
                <a:tc>
                  <a:txBody>
                    <a:bodyPr/>
                    <a:lstStyle/>
                    <a:p>
                      <a:pPr algn="l" indent="0" marL="0">
                        <a:buNone/>
                      </a:pPr>
                      <a:r>
                        <a:rPr lang="en-US" sz="1200" b="1" dirty="0">
                          <a:solidFill>
                            <a:srgbClr val="E0C68A"/>
                          </a:solidFill>
                          <a:latin typeface="Calibri" pitchFamily="34" charset="0"/>
                          <a:ea typeface="Calibri" pitchFamily="34" charset="-122"/>
                          <a:cs typeface="Calibri" pitchFamily="34" charset="-120"/>
                        </a:rPr>
                        <a:t>Mantenimiento</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00" dirty="0">
                          <a:solidFill>
                            <a:srgbClr val="D3E4FB"/>
                          </a:solidFill>
                          <a:latin typeface="Calibri" pitchFamily="34" charset="0"/>
                          <a:ea typeface="Calibri" pitchFamily="34" charset="-122"/>
                          <a:cs typeface="Calibri" pitchFamily="34" charset="-120"/>
                        </a:rPr>
                        <a:t>Sostiene el cambio en el tiempo.</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200" dirty="0">
                          <a:solidFill>
                            <a:srgbClr val="D3E4FB"/>
                          </a:solidFill>
                          <a:latin typeface="Calibri" pitchFamily="34" charset="0"/>
                          <a:ea typeface="Calibri" pitchFamily="34" charset="-122"/>
                          <a:cs typeface="Calibri" pitchFamily="34" charset="-120"/>
                        </a:rPr>
                        <a:t>Anticipar situaciones de riesgo y prevenir la recaída.</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200" b="1" dirty="0">
                          <a:solidFill>
                            <a:srgbClr val="E0C68A"/>
                          </a:solidFill>
                          <a:latin typeface="Calibri" pitchFamily="34" charset="0"/>
                          <a:ea typeface="Calibri" pitchFamily="34" charset="-122"/>
                          <a:cs typeface="Calibri" pitchFamily="34" charset="-120"/>
                        </a:rPr>
                        <a:t>Recaída</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00" dirty="0">
                          <a:solidFill>
                            <a:srgbClr val="D3E4FB"/>
                          </a:solidFill>
                          <a:latin typeface="Calibri" pitchFamily="34" charset="0"/>
                          <a:ea typeface="Calibri" pitchFamily="34" charset="-122"/>
                          <a:cs typeface="Calibri" pitchFamily="34" charset="-120"/>
                        </a:rPr>
                        <a:t>Vuelve a jugar.</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200" dirty="0">
                          <a:solidFill>
                            <a:srgbClr val="D3E4FB"/>
                          </a:solidFill>
                          <a:latin typeface="Calibri" pitchFamily="34" charset="0"/>
                          <a:ea typeface="Calibri" pitchFamily="34" charset="-122"/>
                          <a:cs typeface="Calibri" pitchFamily="34" charset="-120"/>
                        </a:rPr>
                        <a:t>Renovar el proceso sin desmoralizar. No empezar de cero.</a:t>
                      </a:r>
                      <a:endParaRPr lang="en-US" sz="12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bl>
          </a:graphicData>
        </a:graphic>
      </p:graphicFrame>
      <p:sp>
        <p:nvSpPr>
          <p:cNvPr id="6" name="Text 3"/>
          <p:cNvSpPr/>
          <p:nvPr/>
        </p:nvSpPr>
        <p:spPr>
          <a:xfrm>
            <a:off x="685800" y="5349240"/>
            <a:ext cx="10820095" cy="548640"/>
          </a:xfrm>
          <a:prstGeom prst="rect">
            <a:avLst/>
          </a:prstGeom>
          <a:noFill/>
          <a:ln/>
        </p:spPr>
        <p:txBody>
          <a:bodyPr wrap="square" rtlCol="0" anchor="ctr"/>
          <a:lstStyle/>
          <a:p>
            <a:pPr indent="0" marL="0">
              <a:lnSpc>
                <a:spcPct val="115000"/>
              </a:lnSpc>
              <a:buNone/>
            </a:pPr>
            <a:r>
              <a:rPr lang="en-US" sz="1600" i="1" dirty="0">
                <a:solidFill>
                  <a:srgbClr val="E0C68A"/>
                </a:solidFill>
                <a:latin typeface="Georgia" pitchFamily="34" charset="0"/>
                <a:ea typeface="Georgia" pitchFamily="34" charset="-122"/>
                <a:cs typeface="Georgia" pitchFamily="34" charset="-120"/>
              </a:rPr>
              <a:t>El error más frecuente es usar estrategias de acción con alguien que está en precontemplación. Es como enseñarle a nadar a alguien que todavía no sabe que está en el agua.</a:t>
            </a:r>
            <a:endParaRPr lang="en-US" sz="1600" dirty="0"/>
          </a:p>
        </p:txBody>
      </p:sp>
      <p:sp>
        <p:nvSpPr>
          <p:cNvPr id="7" name="Shape 4"/>
          <p:cNvSpPr/>
          <p:nvPr/>
        </p:nvSpPr>
        <p:spPr>
          <a:xfrm>
            <a:off x="685800" y="6144768"/>
            <a:ext cx="10820095" cy="20117"/>
          </a:xfrm>
          <a:prstGeom prst="rect">
            <a:avLst/>
          </a:prstGeom>
          <a:solidFill>
            <a:srgbClr val="C5A059"/>
          </a:solidFill>
          <a:ln w="12700">
            <a:solidFill>
              <a:srgbClr val="C5A059"/>
            </a:solidFill>
            <a:prstDash val="solid"/>
          </a:ln>
        </p:spPr>
      </p:sp>
      <p:sp>
        <p:nvSpPr>
          <p:cNvPr id="8" name="Text 5"/>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Prochaska, J. O., &amp; DiClemente, C. C. (1983). “Stages and processes of self-change of smoking: Toward an integrative model of change”. Journal of Consulting and Clinical Psychology, 51(3), 390-395.  ·  Miller, W. R., &amp; Rollnick, S. (1999). La entrevista motivacional. Barcelona: Paidós, cap. 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4 — INTERVENCIÓN</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Cinco principios que sirven en cualquier rol</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20095" cy="914400"/>
        </p:xfrm>
        <a:graphic>
          <a:graphicData uri="http://schemas.openxmlformats.org/drawingml/2006/table">
            <a:tbl>
              <a:tblPr/>
              <a:tblGrid>
                <a:gridCol w="3291840"/>
                <a:gridCol w="7528255"/>
              </a:tblGrid>
              <a:tr h="0">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Principio</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En la práctica, mañana a la mañana</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r>
              <a:tr h="0">
                <a:tc>
                  <a:txBody>
                    <a:bodyPr/>
                    <a:lstStyle/>
                    <a:p>
                      <a:pPr algn="l" indent="0" marL="0">
                        <a:buNone/>
                      </a:pPr>
                      <a:r>
                        <a:rPr lang="en-US" sz="1300" b="1" dirty="0">
                          <a:solidFill>
                            <a:srgbClr val="E0C68A"/>
                          </a:solidFill>
                          <a:latin typeface="Calibri" pitchFamily="34" charset="0"/>
                          <a:ea typeface="Calibri" pitchFamily="34" charset="-122"/>
                          <a:cs typeface="Calibri" pitchFamily="34" charset="-120"/>
                        </a:rPr>
                        <a:t>Expresar empatía</a:t>
                      </a:r>
                      <a:endParaRPr lang="en-US" sz="13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300" dirty="0">
                          <a:solidFill>
                            <a:srgbClr val="D3E4FB"/>
                          </a:solidFill>
                          <a:latin typeface="Calibri" pitchFamily="34" charset="0"/>
                          <a:ea typeface="Calibri" pitchFamily="34" charset="-122"/>
                          <a:cs typeface="Calibri" pitchFamily="34" charset="-120"/>
                        </a:rPr>
                        <a:t>Escuchar sin juzgar. La ambivalencia es normal, no es una falla de carácter.</a:t>
                      </a:r>
                      <a:endParaRPr lang="en-US" sz="13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300" b="1" dirty="0">
                          <a:solidFill>
                            <a:srgbClr val="E0C68A"/>
                          </a:solidFill>
                          <a:latin typeface="Calibri" pitchFamily="34" charset="0"/>
                          <a:ea typeface="Calibri" pitchFamily="34" charset="-122"/>
                          <a:cs typeface="Calibri" pitchFamily="34" charset="-120"/>
                        </a:rPr>
                        <a:t>Crear discrepancia</a:t>
                      </a:r>
                      <a:endParaRPr lang="en-US" sz="13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300" dirty="0">
                          <a:solidFill>
                            <a:srgbClr val="D3E4FB"/>
                          </a:solidFill>
                          <a:latin typeface="Calibri" pitchFamily="34" charset="0"/>
                          <a:ea typeface="Calibri" pitchFamily="34" charset="-122"/>
                          <a:cs typeface="Calibri" pitchFamily="34" charset="-120"/>
                        </a:rPr>
                        <a:t>Que sea el adolescente quien ponga en palabras la distancia entre lo que hace y lo que quiere.</a:t>
                      </a:r>
                      <a:endParaRPr lang="en-US" sz="13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r h="0">
                <a:tc>
                  <a:txBody>
                    <a:bodyPr/>
                    <a:lstStyle/>
                    <a:p>
                      <a:pPr algn="l" indent="0" marL="0">
                        <a:buNone/>
                      </a:pPr>
                      <a:r>
                        <a:rPr lang="en-US" sz="1300" b="1" dirty="0">
                          <a:solidFill>
                            <a:srgbClr val="E0C68A"/>
                          </a:solidFill>
                          <a:latin typeface="Calibri" pitchFamily="34" charset="0"/>
                          <a:ea typeface="Calibri" pitchFamily="34" charset="-122"/>
                          <a:cs typeface="Calibri" pitchFamily="34" charset="-120"/>
                        </a:rPr>
                        <a:t>Evitar la discusión</a:t>
                      </a:r>
                      <a:endParaRPr lang="en-US" sz="13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300" dirty="0">
                          <a:solidFill>
                            <a:srgbClr val="D3E4FB"/>
                          </a:solidFill>
                          <a:latin typeface="Calibri" pitchFamily="34" charset="0"/>
                          <a:ea typeface="Calibri" pitchFamily="34" charset="-122"/>
                          <a:cs typeface="Calibri" pitchFamily="34" charset="-120"/>
                        </a:rPr>
                        <a:t>Discutir genera más resistencia, no menos. Defender un argumento provoca defensividad.</a:t>
                      </a:r>
                      <a:endParaRPr lang="en-US" sz="13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300" b="1" dirty="0">
                          <a:solidFill>
                            <a:srgbClr val="E0C68A"/>
                          </a:solidFill>
                          <a:latin typeface="Calibri" pitchFamily="34" charset="0"/>
                          <a:ea typeface="Calibri" pitchFamily="34" charset="-122"/>
                          <a:cs typeface="Calibri" pitchFamily="34" charset="-120"/>
                        </a:rPr>
                        <a:t>Darle un giro a la resistencia</a:t>
                      </a:r>
                      <a:endParaRPr lang="en-US" sz="13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300" dirty="0">
                          <a:solidFill>
                            <a:srgbClr val="D3E4FB"/>
                          </a:solidFill>
                          <a:latin typeface="Calibri" pitchFamily="34" charset="0"/>
                          <a:ea typeface="Calibri" pitchFamily="34" charset="-122"/>
                          <a:cs typeface="Calibri" pitchFamily="34" charset="-120"/>
                        </a:rPr>
                        <a:t>La resistencia es información: avisa que hay que cambiar de estrategia, no de interlocutor.</a:t>
                      </a:r>
                      <a:endParaRPr lang="en-US" sz="13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r h="0">
                <a:tc>
                  <a:txBody>
                    <a:bodyPr/>
                    <a:lstStyle/>
                    <a:p>
                      <a:pPr algn="l" indent="0" marL="0">
                        <a:buNone/>
                      </a:pPr>
                      <a:r>
                        <a:rPr lang="en-US" sz="1300" b="1" dirty="0">
                          <a:solidFill>
                            <a:srgbClr val="E0C68A"/>
                          </a:solidFill>
                          <a:latin typeface="Calibri" pitchFamily="34" charset="0"/>
                          <a:ea typeface="Calibri" pitchFamily="34" charset="-122"/>
                          <a:cs typeface="Calibri" pitchFamily="34" charset="-120"/>
                        </a:rPr>
                        <a:t>Fomentar la autoeficacia</a:t>
                      </a:r>
                      <a:endParaRPr lang="en-US" sz="13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300" dirty="0">
                          <a:solidFill>
                            <a:srgbClr val="D3E4FB"/>
                          </a:solidFill>
                          <a:latin typeface="Calibri" pitchFamily="34" charset="0"/>
                          <a:ea typeface="Calibri" pitchFamily="34" charset="-122"/>
                          <a:cs typeface="Calibri" pitchFamily="34" charset="-120"/>
                        </a:rPr>
                        <a:t>Reforzar la creencia de que el cambio es posible. Es uno de los mejores predictores del resultado.</a:t>
                      </a:r>
                      <a:endParaRPr lang="en-US" sz="130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bl>
          </a:graphicData>
        </a:graphic>
      </p:graphicFrame>
      <p:sp>
        <p:nvSpPr>
          <p:cNvPr id="6" name="Shape 3"/>
          <p:cNvSpPr/>
          <p:nvPr/>
        </p:nvSpPr>
        <p:spPr>
          <a:xfrm>
            <a:off x="685800" y="6144768"/>
            <a:ext cx="10820095" cy="20117"/>
          </a:xfrm>
          <a:prstGeom prst="rect">
            <a:avLst/>
          </a:prstGeom>
          <a:solidFill>
            <a:srgbClr val="C5A059"/>
          </a:solidFill>
          <a:ln w="12700">
            <a:solidFill>
              <a:srgbClr val="C5A059"/>
            </a:solidFill>
            <a:prstDash val="solid"/>
          </a:ln>
        </p:spPr>
      </p:sp>
      <p:sp>
        <p:nvSpPr>
          <p:cNvPr id="7" name="Text 4"/>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Miller, W. R., &amp; Rollnick, S. (1999). La entrevista motivacional: preparar para el cambio de conductas adictivas. Barcelona: Paidós, cap. 5 “Los principios de la entrevista motivacional”.  ·  Bandura, A. (1977). “Self-efficacy: Toward a unifying theory of behavioral change”. Psychological Review, 84(2), 191-215.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4 — INTERVENCIÓN</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FRAMES: una intervención breve de quince minutos</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Text 3"/>
          <p:cNvSpPr/>
          <p:nvPr/>
        </p:nvSpPr>
        <p:spPr>
          <a:xfrm>
            <a:off x="685800" y="1627632"/>
            <a:ext cx="10820095" cy="457200"/>
          </a:xfrm>
          <a:prstGeom prst="rect">
            <a:avLst/>
          </a:prstGeom>
          <a:noFill/>
          <a:ln/>
        </p:spPr>
        <p:txBody>
          <a:bodyPr wrap="square" rtlCol="0" anchor="ctr"/>
          <a:lstStyle/>
          <a:p>
            <a:pPr indent="0" marL="0">
              <a:buNone/>
            </a:pPr>
            <a:r>
              <a:rPr lang="en-US" sz="1450" dirty="0">
                <a:solidFill>
                  <a:srgbClr val="9FB4D4"/>
                </a:solidFill>
                <a:latin typeface="Calibri" pitchFamily="34" charset="0"/>
                <a:ea typeface="Calibri" pitchFamily="34" charset="-122"/>
                <a:cs typeface="Calibri" pitchFamily="34" charset="-120"/>
              </a:rPr>
              <a:t>Los seis ingredientes que la investigación identificó en las intervenciones breves que funcionan. No hace falta ser especialista para aplicarlos.</a:t>
            </a:r>
            <a:endParaRPr lang="en-US" sz="1450" dirty="0"/>
          </a:p>
        </p:txBody>
      </p:sp>
      <p:sp>
        <p:nvSpPr>
          <p:cNvPr id="6" name="Shape 4"/>
          <p:cNvSpPr/>
          <p:nvPr/>
        </p:nvSpPr>
        <p:spPr>
          <a:xfrm>
            <a:off x="685800" y="2240280"/>
            <a:ext cx="3393338" cy="1463040"/>
          </a:xfrm>
          <a:prstGeom prst="rect">
            <a:avLst/>
          </a:prstGeom>
          <a:solidFill>
            <a:srgbClr val="16304C"/>
          </a:solidFill>
          <a:ln w="12700">
            <a:solidFill>
              <a:srgbClr val="16304C"/>
            </a:solidFill>
            <a:prstDash val="solid"/>
          </a:ln>
        </p:spPr>
      </p:sp>
      <p:sp>
        <p:nvSpPr>
          <p:cNvPr id="7" name="Shape 5"/>
          <p:cNvSpPr/>
          <p:nvPr/>
        </p:nvSpPr>
        <p:spPr>
          <a:xfrm>
            <a:off x="685800" y="2240280"/>
            <a:ext cx="45720" cy="1463040"/>
          </a:xfrm>
          <a:prstGeom prst="rect">
            <a:avLst/>
          </a:prstGeom>
          <a:solidFill>
            <a:srgbClr val="C5A059"/>
          </a:solidFill>
          <a:ln w="12700">
            <a:solidFill>
              <a:srgbClr val="C5A059"/>
            </a:solidFill>
            <a:prstDash val="solid"/>
          </a:ln>
        </p:spPr>
      </p:sp>
      <p:sp>
        <p:nvSpPr>
          <p:cNvPr id="8" name="Text 6"/>
          <p:cNvSpPr/>
          <p:nvPr/>
        </p:nvSpPr>
        <p:spPr>
          <a:xfrm>
            <a:off x="941832" y="2423160"/>
            <a:ext cx="293613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F — FEEDBACK</a:t>
            </a:r>
            <a:endParaRPr lang="en-US" sz="1100" dirty="0"/>
          </a:p>
        </p:txBody>
      </p:sp>
      <p:sp>
        <p:nvSpPr>
          <p:cNvPr id="9" name="Text 7"/>
          <p:cNvSpPr/>
          <p:nvPr/>
        </p:nvSpPr>
        <p:spPr>
          <a:xfrm>
            <a:off x="941832" y="2770632"/>
            <a:ext cx="2890418" cy="77724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Devolución concreta y personalizada de lo que se observó. Hechos, no etiquetas.</a:t>
            </a:r>
            <a:endParaRPr lang="en-US" sz="1250" dirty="0"/>
          </a:p>
        </p:txBody>
      </p:sp>
      <p:sp>
        <p:nvSpPr>
          <p:cNvPr id="10" name="Shape 8"/>
          <p:cNvSpPr/>
          <p:nvPr/>
        </p:nvSpPr>
        <p:spPr>
          <a:xfrm>
            <a:off x="4399178" y="2240280"/>
            <a:ext cx="3393338" cy="1463040"/>
          </a:xfrm>
          <a:prstGeom prst="rect">
            <a:avLst/>
          </a:prstGeom>
          <a:solidFill>
            <a:srgbClr val="16304C"/>
          </a:solidFill>
          <a:ln w="12700">
            <a:solidFill>
              <a:srgbClr val="16304C"/>
            </a:solidFill>
            <a:prstDash val="solid"/>
          </a:ln>
        </p:spPr>
      </p:sp>
      <p:sp>
        <p:nvSpPr>
          <p:cNvPr id="11" name="Shape 9"/>
          <p:cNvSpPr/>
          <p:nvPr/>
        </p:nvSpPr>
        <p:spPr>
          <a:xfrm>
            <a:off x="4399178" y="2240280"/>
            <a:ext cx="45720" cy="1463040"/>
          </a:xfrm>
          <a:prstGeom prst="rect">
            <a:avLst/>
          </a:prstGeom>
          <a:solidFill>
            <a:srgbClr val="C5A059"/>
          </a:solidFill>
          <a:ln w="12700">
            <a:solidFill>
              <a:srgbClr val="C5A059"/>
            </a:solidFill>
            <a:prstDash val="solid"/>
          </a:ln>
        </p:spPr>
      </p:sp>
      <p:sp>
        <p:nvSpPr>
          <p:cNvPr id="12" name="Text 10"/>
          <p:cNvSpPr/>
          <p:nvPr/>
        </p:nvSpPr>
        <p:spPr>
          <a:xfrm>
            <a:off x="4655210" y="2423160"/>
            <a:ext cx="293613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R — RESPONSIBILITY</a:t>
            </a:r>
            <a:endParaRPr lang="en-US" sz="1100" dirty="0"/>
          </a:p>
        </p:txBody>
      </p:sp>
      <p:sp>
        <p:nvSpPr>
          <p:cNvPr id="13" name="Text 11"/>
          <p:cNvSpPr/>
          <p:nvPr/>
        </p:nvSpPr>
        <p:spPr>
          <a:xfrm>
            <a:off x="4655210" y="2770632"/>
            <a:ext cx="2890418" cy="77724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La decisión de cambiar es suya. Decirlo explícitamente reduce la resistencia.</a:t>
            </a:r>
            <a:endParaRPr lang="en-US" sz="1250" dirty="0"/>
          </a:p>
        </p:txBody>
      </p:sp>
      <p:sp>
        <p:nvSpPr>
          <p:cNvPr id="14" name="Shape 12"/>
          <p:cNvSpPr/>
          <p:nvPr/>
        </p:nvSpPr>
        <p:spPr>
          <a:xfrm>
            <a:off x="8112557" y="2240280"/>
            <a:ext cx="3393338" cy="1463040"/>
          </a:xfrm>
          <a:prstGeom prst="rect">
            <a:avLst/>
          </a:prstGeom>
          <a:solidFill>
            <a:srgbClr val="16304C"/>
          </a:solidFill>
          <a:ln w="12700">
            <a:solidFill>
              <a:srgbClr val="16304C"/>
            </a:solidFill>
            <a:prstDash val="solid"/>
          </a:ln>
        </p:spPr>
      </p:sp>
      <p:sp>
        <p:nvSpPr>
          <p:cNvPr id="15" name="Shape 13"/>
          <p:cNvSpPr/>
          <p:nvPr/>
        </p:nvSpPr>
        <p:spPr>
          <a:xfrm>
            <a:off x="8112557" y="2240280"/>
            <a:ext cx="45720" cy="1463040"/>
          </a:xfrm>
          <a:prstGeom prst="rect">
            <a:avLst/>
          </a:prstGeom>
          <a:solidFill>
            <a:srgbClr val="C5A059"/>
          </a:solidFill>
          <a:ln w="12700">
            <a:solidFill>
              <a:srgbClr val="C5A059"/>
            </a:solidFill>
            <a:prstDash val="solid"/>
          </a:ln>
        </p:spPr>
      </p:sp>
      <p:sp>
        <p:nvSpPr>
          <p:cNvPr id="16" name="Text 14"/>
          <p:cNvSpPr/>
          <p:nvPr/>
        </p:nvSpPr>
        <p:spPr>
          <a:xfrm>
            <a:off x="8368589" y="2423160"/>
            <a:ext cx="293613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A — ADVICE</a:t>
            </a:r>
            <a:endParaRPr lang="en-US" sz="1100" dirty="0"/>
          </a:p>
        </p:txBody>
      </p:sp>
      <p:sp>
        <p:nvSpPr>
          <p:cNvPr id="17" name="Text 15"/>
          <p:cNvSpPr/>
          <p:nvPr/>
        </p:nvSpPr>
        <p:spPr>
          <a:xfrm>
            <a:off x="8368589" y="2770632"/>
            <a:ext cx="2890418" cy="77724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Un consejo claro, una sola vez, sin sermón: “creo que esto te está haciendo daño”.</a:t>
            </a:r>
            <a:endParaRPr lang="en-US" sz="1250" dirty="0"/>
          </a:p>
        </p:txBody>
      </p:sp>
      <p:sp>
        <p:nvSpPr>
          <p:cNvPr id="18" name="Shape 16"/>
          <p:cNvSpPr/>
          <p:nvPr/>
        </p:nvSpPr>
        <p:spPr>
          <a:xfrm>
            <a:off x="685800" y="3931920"/>
            <a:ext cx="3393338" cy="1463040"/>
          </a:xfrm>
          <a:prstGeom prst="rect">
            <a:avLst/>
          </a:prstGeom>
          <a:solidFill>
            <a:srgbClr val="16304C"/>
          </a:solidFill>
          <a:ln w="12700">
            <a:solidFill>
              <a:srgbClr val="16304C"/>
            </a:solidFill>
            <a:prstDash val="solid"/>
          </a:ln>
        </p:spPr>
      </p:sp>
      <p:sp>
        <p:nvSpPr>
          <p:cNvPr id="19" name="Shape 17"/>
          <p:cNvSpPr/>
          <p:nvPr/>
        </p:nvSpPr>
        <p:spPr>
          <a:xfrm>
            <a:off x="685800" y="3931920"/>
            <a:ext cx="45720" cy="1463040"/>
          </a:xfrm>
          <a:prstGeom prst="rect">
            <a:avLst/>
          </a:prstGeom>
          <a:solidFill>
            <a:srgbClr val="C5A059"/>
          </a:solidFill>
          <a:ln w="12700">
            <a:solidFill>
              <a:srgbClr val="C5A059"/>
            </a:solidFill>
            <a:prstDash val="solid"/>
          </a:ln>
        </p:spPr>
      </p:sp>
      <p:sp>
        <p:nvSpPr>
          <p:cNvPr id="20" name="Text 18"/>
          <p:cNvSpPr/>
          <p:nvPr/>
        </p:nvSpPr>
        <p:spPr>
          <a:xfrm>
            <a:off x="941832" y="4114800"/>
            <a:ext cx="293613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M — MENU</a:t>
            </a:r>
            <a:endParaRPr lang="en-US" sz="1100" dirty="0"/>
          </a:p>
        </p:txBody>
      </p:sp>
      <p:sp>
        <p:nvSpPr>
          <p:cNvPr id="21" name="Text 19"/>
          <p:cNvSpPr/>
          <p:nvPr/>
        </p:nvSpPr>
        <p:spPr>
          <a:xfrm>
            <a:off x="941832" y="4462272"/>
            <a:ext cx="2890418" cy="77724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Ofrecer alternativas, no una única opción. Elegir es parte del compromiso.</a:t>
            </a:r>
            <a:endParaRPr lang="en-US" sz="1250" dirty="0"/>
          </a:p>
        </p:txBody>
      </p:sp>
      <p:sp>
        <p:nvSpPr>
          <p:cNvPr id="22" name="Shape 20"/>
          <p:cNvSpPr/>
          <p:nvPr/>
        </p:nvSpPr>
        <p:spPr>
          <a:xfrm>
            <a:off x="4399178" y="3931920"/>
            <a:ext cx="3393338" cy="1463040"/>
          </a:xfrm>
          <a:prstGeom prst="rect">
            <a:avLst/>
          </a:prstGeom>
          <a:solidFill>
            <a:srgbClr val="16304C"/>
          </a:solidFill>
          <a:ln w="12700">
            <a:solidFill>
              <a:srgbClr val="16304C"/>
            </a:solidFill>
            <a:prstDash val="solid"/>
          </a:ln>
        </p:spPr>
      </p:sp>
      <p:sp>
        <p:nvSpPr>
          <p:cNvPr id="23" name="Shape 21"/>
          <p:cNvSpPr/>
          <p:nvPr/>
        </p:nvSpPr>
        <p:spPr>
          <a:xfrm>
            <a:off x="4399178" y="3931920"/>
            <a:ext cx="45720" cy="1463040"/>
          </a:xfrm>
          <a:prstGeom prst="rect">
            <a:avLst/>
          </a:prstGeom>
          <a:solidFill>
            <a:srgbClr val="C5A059"/>
          </a:solidFill>
          <a:ln w="12700">
            <a:solidFill>
              <a:srgbClr val="C5A059"/>
            </a:solidFill>
            <a:prstDash val="solid"/>
          </a:ln>
        </p:spPr>
      </p:sp>
      <p:sp>
        <p:nvSpPr>
          <p:cNvPr id="24" name="Text 22"/>
          <p:cNvSpPr/>
          <p:nvPr/>
        </p:nvSpPr>
        <p:spPr>
          <a:xfrm>
            <a:off x="4655210" y="4114800"/>
            <a:ext cx="293613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E — EMPATHY</a:t>
            </a:r>
            <a:endParaRPr lang="en-US" sz="1100" dirty="0"/>
          </a:p>
        </p:txBody>
      </p:sp>
      <p:sp>
        <p:nvSpPr>
          <p:cNvPr id="25" name="Text 23"/>
          <p:cNvSpPr/>
          <p:nvPr/>
        </p:nvSpPr>
        <p:spPr>
          <a:xfrm>
            <a:off x="4655210" y="4462272"/>
            <a:ext cx="2890418" cy="77724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Estilo empático, no confrontativo. Es el ingrediente que más predice el resultado.</a:t>
            </a:r>
            <a:endParaRPr lang="en-US" sz="1250" dirty="0"/>
          </a:p>
        </p:txBody>
      </p:sp>
      <p:sp>
        <p:nvSpPr>
          <p:cNvPr id="26" name="Shape 24"/>
          <p:cNvSpPr/>
          <p:nvPr/>
        </p:nvSpPr>
        <p:spPr>
          <a:xfrm>
            <a:off x="8112557" y="3931920"/>
            <a:ext cx="3393338" cy="1463040"/>
          </a:xfrm>
          <a:prstGeom prst="rect">
            <a:avLst/>
          </a:prstGeom>
          <a:solidFill>
            <a:srgbClr val="16304C"/>
          </a:solidFill>
          <a:ln w="12700">
            <a:solidFill>
              <a:srgbClr val="16304C"/>
            </a:solidFill>
            <a:prstDash val="solid"/>
          </a:ln>
        </p:spPr>
      </p:sp>
      <p:sp>
        <p:nvSpPr>
          <p:cNvPr id="27" name="Shape 25"/>
          <p:cNvSpPr/>
          <p:nvPr/>
        </p:nvSpPr>
        <p:spPr>
          <a:xfrm>
            <a:off x="8112557" y="3931920"/>
            <a:ext cx="45720" cy="1463040"/>
          </a:xfrm>
          <a:prstGeom prst="rect">
            <a:avLst/>
          </a:prstGeom>
          <a:solidFill>
            <a:srgbClr val="C5A059"/>
          </a:solidFill>
          <a:ln w="12700">
            <a:solidFill>
              <a:srgbClr val="C5A059"/>
            </a:solidFill>
            <a:prstDash val="solid"/>
          </a:ln>
        </p:spPr>
      </p:sp>
      <p:sp>
        <p:nvSpPr>
          <p:cNvPr id="28" name="Text 26"/>
          <p:cNvSpPr/>
          <p:nvPr/>
        </p:nvSpPr>
        <p:spPr>
          <a:xfrm>
            <a:off x="8368589" y="4114800"/>
            <a:ext cx="293613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S — SELF-EFFICACY</a:t>
            </a:r>
            <a:endParaRPr lang="en-US" sz="1100" dirty="0"/>
          </a:p>
        </p:txBody>
      </p:sp>
      <p:sp>
        <p:nvSpPr>
          <p:cNvPr id="29" name="Text 27"/>
          <p:cNvSpPr/>
          <p:nvPr/>
        </p:nvSpPr>
        <p:spPr>
          <a:xfrm>
            <a:off x="8368589" y="4462272"/>
            <a:ext cx="2890418" cy="777240"/>
          </a:xfrm>
          <a:prstGeom prst="rect">
            <a:avLst/>
          </a:prstGeom>
          <a:noFill/>
          <a:ln/>
        </p:spPr>
        <p:txBody>
          <a:bodyPr wrap="square" rtlCol="0" anchor="t"/>
          <a:lstStyle/>
          <a:p>
            <a:pPr indent="0" marL="0">
              <a:lnSpc>
                <a:spcPct val="135000"/>
              </a:lnSpc>
              <a:buNone/>
            </a:pPr>
            <a:r>
              <a:rPr lang="en-US" sz="1250" dirty="0">
                <a:solidFill>
                  <a:srgbClr val="D3E4FB"/>
                </a:solidFill>
                <a:latin typeface="Calibri" pitchFamily="34" charset="0"/>
                <a:ea typeface="Calibri" pitchFamily="34" charset="-122"/>
                <a:cs typeface="Calibri" pitchFamily="34" charset="-120"/>
              </a:rPr>
              <a:t>Transmitir que el cambio es posible y que hay gente que lo logró.</a:t>
            </a:r>
            <a:endParaRPr lang="en-US" sz="1250" dirty="0"/>
          </a:p>
        </p:txBody>
      </p:sp>
      <p:sp>
        <p:nvSpPr>
          <p:cNvPr id="30" name="Shape 28"/>
          <p:cNvSpPr/>
          <p:nvPr/>
        </p:nvSpPr>
        <p:spPr>
          <a:xfrm>
            <a:off x="685800" y="6144768"/>
            <a:ext cx="10820095" cy="20117"/>
          </a:xfrm>
          <a:prstGeom prst="rect">
            <a:avLst/>
          </a:prstGeom>
          <a:solidFill>
            <a:srgbClr val="C5A059"/>
          </a:solidFill>
          <a:ln w="12700">
            <a:solidFill>
              <a:srgbClr val="C5A059"/>
            </a:solidFill>
            <a:prstDash val="solid"/>
          </a:ln>
        </p:spPr>
      </p:sp>
      <p:sp>
        <p:nvSpPr>
          <p:cNvPr id="31" name="Text 29"/>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Miller, W. R., &amp; Rollnick, S. (1999). La entrevista motivacional: preparar para el cambio de conductas adictivas. Barcelona: Paidós, cap. 3 “La intervención breve”.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4 — INTERVENCIÓN</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¿Y esto funciona? Lo que dice la evidencia</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820095" cy="914400"/>
        </p:xfrm>
        <a:graphic>
          <a:graphicData uri="http://schemas.openxmlformats.org/drawingml/2006/table">
            <a:tbl>
              <a:tblPr/>
              <a:tblGrid>
                <a:gridCol w="3108960"/>
                <a:gridCol w="7711135"/>
              </a:tblGrid>
              <a:tr h="0">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Estudio</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Qué encontró</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r>
              <a:tr h="0">
                <a:tc>
                  <a:txBody>
                    <a:bodyPr/>
                    <a:lstStyle/>
                    <a:p>
                      <a:pPr algn="l" indent="0" marL="0">
                        <a:buNone/>
                      </a:pPr>
                      <a:r>
                        <a:rPr lang="en-US" sz="1150" b="1" dirty="0">
                          <a:solidFill>
                            <a:srgbClr val="E0C68A"/>
                          </a:solidFill>
                          <a:latin typeface="Calibri" pitchFamily="34" charset="0"/>
                          <a:ea typeface="Calibri" pitchFamily="34" charset="-122"/>
                          <a:cs typeface="Calibri" pitchFamily="34" charset="-120"/>
                        </a:rPr>
                        <a:t>Hodgins, Currie y el-Guebaly (2001)</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150" dirty="0">
                          <a:solidFill>
                            <a:srgbClr val="D3E4FB"/>
                          </a:solidFill>
                          <a:latin typeface="Calibri" pitchFamily="34" charset="0"/>
                          <a:ea typeface="Calibri" pitchFamily="34" charset="-122"/>
                          <a:cs typeface="Calibri" pitchFamily="34" charset="-120"/>
                        </a:rPr>
                        <a:t>Primer ensayo controlado aleatorizado. Mayores reducciones en días apostados y dinero perdido a los 3 y 6 meses. A los 12 meses el beneficio se concentró en los casos menos severos.</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150" b="1" dirty="0">
                          <a:solidFill>
                            <a:srgbClr val="E0C68A"/>
                          </a:solidFill>
                          <a:latin typeface="Calibri" pitchFamily="34" charset="0"/>
                          <a:ea typeface="Calibri" pitchFamily="34" charset="-122"/>
                          <a:cs typeface="Calibri" pitchFamily="34" charset="-120"/>
                        </a:rPr>
                        <a:t>Yakovenko et al. (2015)</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150" dirty="0">
                          <a:solidFill>
                            <a:srgbClr val="D3E4FB"/>
                          </a:solidFill>
                          <a:latin typeface="Calibri" pitchFamily="34" charset="0"/>
                          <a:ea typeface="Calibri" pitchFamily="34" charset="-122"/>
                          <a:cs typeface="Calibri" pitchFamily="34" charset="-120"/>
                        </a:rPr>
                        <a:t>Meta-análisis de 8 estudios, N = 730. Reducción significativa de la frecuencia de juego hasta 12 meses. En el gasto, el efecto se sostuvo solo entre 1 y 3 meses.</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r h="0">
                <a:tc>
                  <a:txBody>
                    <a:bodyPr/>
                    <a:lstStyle/>
                    <a:p>
                      <a:pPr algn="l" indent="0" marL="0">
                        <a:buNone/>
                      </a:pPr>
                      <a:r>
                        <a:rPr lang="en-US" sz="1150" b="1" dirty="0">
                          <a:solidFill>
                            <a:srgbClr val="E0C68A"/>
                          </a:solidFill>
                          <a:latin typeface="Calibri" pitchFamily="34" charset="0"/>
                          <a:ea typeface="Calibri" pitchFamily="34" charset="-122"/>
                          <a:cs typeface="Calibri" pitchFamily="34" charset="-120"/>
                        </a:rPr>
                        <a:t>Forman y Boughter (2024)</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150" dirty="0">
                          <a:solidFill>
                            <a:srgbClr val="D3E4FB"/>
                          </a:solidFill>
                          <a:latin typeface="Calibri" pitchFamily="34" charset="0"/>
                          <a:ea typeface="Calibri" pitchFamily="34" charset="-122"/>
                          <a:cs typeface="Calibri" pitchFamily="34" charset="-120"/>
                        </a:rPr>
                        <a:t>Meta-análisis de 7 estudios, N = 796, más cauto: efectos casi equivalentes entre condiciones, y advierte que los meta-análisis previos sobreestimaron el efecto aislado de la entrevista motivacional.</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150" b="1" dirty="0">
                          <a:solidFill>
                            <a:srgbClr val="E0C68A"/>
                          </a:solidFill>
                          <a:latin typeface="Calibri" pitchFamily="34" charset="0"/>
                          <a:ea typeface="Calibri" pitchFamily="34" charset="-122"/>
                          <a:cs typeface="Calibri" pitchFamily="34" charset="-120"/>
                        </a:rPr>
                        <a:t>García-Caballero et al. (2018)</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150" dirty="0">
                          <a:solidFill>
                            <a:srgbClr val="D3E4FB"/>
                          </a:solidFill>
                          <a:latin typeface="Calibri" pitchFamily="34" charset="0"/>
                          <a:ea typeface="Calibri" pitchFamily="34" charset="-122"/>
                          <a:cs typeface="Calibri" pitchFamily="34" charset="-120"/>
                        </a:rPr>
                        <a:t>Estudio español publicado en Adicciones: la combinación de entrevista motivacional y terapia cognitivo-conductual redujo significativamente los problemas asociados al juego y mejoró la calidad de vida.</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bl>
          </a:graphicData>
        </a:graphic>
      </p:graphicFrame>
      <p:sp>
        <p:nvSpPr>
          <p:cNvPr id="6" name="Text 3"/>
          <p:cNvSpPr/>
          <p:nvPr/>
        </p:nvSpPr>
        <p:spPr>
          <a:xfrm>
            <a:off x="685800" y="5257800"/>
            <a:ext cx="10820095" cy="640080"/>
          </a:xfrm>
          <a:prstGeom prst="rect">
            <a:avLst/>
          </a:prstGeom>
          <a:noFill/>
          <a:ln/>
        </p:spPr>
        <p:txBody>
          <a:bodyPr wrap="square" rtlCol="0" anchor="ctr"/>
          <a:lstStyle/>
          <a:p>
            <a:pPr indent="0" marL="0">
              <a:lnSpc>
                <a:spcPct val="115000"/>
              </a:lnSpc>
              <a:buNone/>
            </a:pPr>
            <a:r>
              <a:rPr lang="en-US" sz="1600" i="1" dirty="0">
                <a:solidFill>
                  <a:srgbClr val="E0C68A"/>
                </a:solidFill>
                <a:latin typeface="Georgia" pitchFamily="34" charset="0"/>
                <a:ea typeface="Georgia" pitchFamily="34" charset="-122"/>
                <a:cs typeface="Georgia" pitchFamily="34" charset="-120"/>
              </a:rPr>
              <a:t>Conclusión honesta para llevarse: la entrevista motivacional es una excelente puerta de entrada, no un tratamiento completo. En los casos severos, el rol del no especialista es derivar, no tratar.</a:t>
            </a:r>
            <a:endParaRPr lang="en-US" sz="1600" dirty="0"/>
          </a:p>
        </p:txBody>
      </p:sp>
      <p:sp>
        <p:nvSpPr>
          <p:cNvPr id="7" name="Shape 4"/>
          <p:cNvSpPr/>
          <p:nvPr/>
        </p:nvSpPr>
        <p:spPr>
          <a:xfrm>
            <a:off x="685800" y="6144768"/>
            <a:ext cx="10820095" cy="20117"/>
          </a:xfrm>
          <a:prstGeom prst="rect">
            <a:avLst/>
          </a:prstGeom>
          <a:solidFill>
            <a:srgbClr val="C5A059"/>
          </a:solidFill>
          <a:ln w="12700">
            <a:solidFill>
              <a:srgbClr val="C5A059"/>
            </a:solidFill>
            <a:prstDash val="solid"/>
          </a:ln>
        </p:spPr>
      </p:sp>
      <p:sp>
        <p:nvSpPr>
          <p:cNvPr id="8" name="Text 5"/>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Hodgins, D. C., Currie, S. R., &amp; el-Guebaly, N. (2001). Journal of Consulting and Clinical Psychology, 69(1), 50-57.  ·  Yakovenko, I., Quigley, L., Hemmelgarn, B. R., Hodgins, D. C., &amp; Ronksley, P. (2015). Addictive Behaviors, 43, 72-82.  ·  Forman, D. P., &amp; Boughter, J. R. (2024). Motivational Interviewing Informed Interventions for Problem Gambling and Gambling Disorder: A Systematic Review and Meta-Analysis.  ·  García-Caballero, A., Torrens-Lluch, M., Ramírez-Gendrau, I., Garrido, G., Vallès, V., &amp; Aragay, N. (2018). Adicciones, 30(3), 219-224.</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4 — INTERVENCIÓN</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Qué puede hacer cada uno desde su lugar</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820095" cy="914400"/>
        </p:xfrm>
        <a:graphic>
          <a:graphicData uri="http://schemas.openxmlformats.org/drawingml/2006/table">
            <a:tbl>
              <a:tblPr/>
              <a:tblGrid>
                <a:gridCol w="2743200"/>
                <a:gridCol w="2743200"/>
                <a:gridCol w="5333695"/>
              </a:tblGrid>
              <a:tr h="0">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Rol</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No le corresponde</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c>
                  <a:txBody>
                    <a:bodyPr/>
                    <a:lstStyle/>
                    <a:p>
                      <a:pPr algn="l" indent="0" marL="0">
                        <a:buNone/>
                      </a:pPr>
                      <a:r>
                        <a:rPr lang="en-US" sz="1200" b="1" dirty="0">
                          <a:solidFill>
                            <a:srgbClr val="0D1B2A"/>
                          </a:solidFill>
                          <a:latin typeface="Calibri" pitchFamily="34" charset="0"/>
                          <a:ea typeface="Calibri" pitchFamily="34" charset="-122"/>
                          <a:cs typeface="Calibri" pitchFamily="34" charset="-120"/>
                        </a:rPr>
                        <a:t>Sí puede, y es decisivo</a:t>
                      </a:r>
                      <a:endParaRPr lang="en-US" sz="1200" dirty="0">
                        <a:latin typeface="Calibri" charset="0"/>
                        <a:ea typeface="Calibri" charset="0"/>
                        <a:cs typeface="Calibri" charset="0"/>
                      </a:endParaRPr>
                    </a:p>
                  </a:txBody>
                  <a:tcPr marL="101600" marR="101600" marT="76200" marB="762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C5A059"/>
                    </a:solidFill>
                  </a:tcPr>
                </a:tc>
              </a:tr>
              <a:tr h="0">
                <a:tc>
                  <a:txBody>
                    <a:bodyPr/>
                    <a:lstStyle/>
                    <a:p>
                      <a:pPr algn="l" indent="0" marL="0">
                        <a:buNone/>
                      </a:pPr>
                      <a:r>
                        <a:rPr lang="en-US" sz="1150" b="1" dirty="0">
                          <a:solidFill>
                            <a:srgbClr val="E0C68A"/>
                          </a:solidFill>
                          <a:latin typeface="Calibri" pitchFamily="34" charset="0"/>
                          <a:ea typeface="Calibri" pitchFamily="34" charset="-122"/>
                          <a:cs typeface="Calibri" pitchFamily="34" charset="-120"/>
                        </a:rPr>
                        <a:t>Docente y equipo directivo</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150" dirty="0">
                          <a:solidFill>
                            <a:srgbClr val="D3E4FB"/>
                          </a:solidFill>
                          <a:latin typeface="Calibri" pitchFamily="34" charset="0"/>
                          <a:ea typeface="Calibri" pitchFamily="34" charset="-122"/>
                          <a:cs typeface="Calibri" pitchFamily="34" charset="-120"/>
                        </a:rPr>
                        <a:t>Diagnosticar, confrontar, intervenir clínicamente</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150" dirty="0">
                          <a:solidFill>
                            <a:srgbClr val="D3E4FB"/>
                          </a:solidFill>
                          <a:latin typeface="Calibri" pitchFamily="34" charset="0"/>
                          <a:ea typeface="Calibri" pitchFamily="34" charset="-122"/>
                          <a:cs typeface="Calibri" pitchFamily="34" charset="-120"/>
                        </a:rPr>
                        <a:t>Nombrar lo que observa sin acusar. Registrar los cambios. Comunicar a la familia con hechos concretos. Derivar al EOE.</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150" b="1" dirty="0">
                          <a:solidFill>
                            <a:srgbClr val="E0C68A"/>
                          </a:solidFill>
                          <a:latin typeface="Calibri" pitchFamily="34" charset="0"/>
                          <a:ea typeface="Calibri" pitchFamily="34" charset="-122"/>
                          <a:cs typeface="Calibri" pitchFamily="34" charset="-120"/>
                        </a:rPr>
                        <a:t>EOE y gabinete</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150" dirty="0">
                          <a:solidFill>
                            <a:srgbClr val="D3E4FB"/>
                          </a:solidFill>
                          <a:latin typeface="Calibri" pitchFamily="34" charset="0"/>
                          <a:ea typeface="Calibri" pitchFamily="34" charset="-122"/>
                          <a:cs typeface="Calibri" pitchFamily="34" charset="-120"/>
                        </a:rPr>
                        <a:t>Tratar el cuadro</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150" dirty="0">
                          <a:solidFill>
                            <a:srgbClr val="D3E4FB"/>
                          </a:solidFill>
                          <a:latin typeface="Calibri" pitchFamily="34" charset="0"/>
                          <a:ea typeface="Calibri" pitchFamily="34" charset="-122"/>
                          <a:cs typeface="Calibri" pitchFamily="34" charset="-120"/>
                        </a:rPr>
                        <a:t>Entrevistar con estilo motivacional. Aplicar Lie/Bet o CPGI. Ubicar la etapa del cambio. Articular con salud y con la familia.</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r h="0">
                <a:tc>
                  <a:txBody>
                    <a:bodyPr/>
                    <a:lstStyle/>
                    <a:p>
                      <a:pPr algn="l" indent="0" marL="0">
                        <a:buNone/>
                      </a:pPr>
                      <a:r>
                        <a:rPr lang="en-US" sz="1150" b="1" dirty="0">
                          <a:solidFill>
                            <a:srgbClr val="E0C68A"/>
                          </a:solidFill>
                          <a:latin typeface="Calibri" pitchFamily="34" charset="0"/>
                          <a:ea typeface="Calibri" pitchFamily="34" charset="-122"/>
                          <a:cs typeface="Calibri" pitchFamily="34" charset="-120"/>
                        </a:rPr>
                        <a:t>Club, iglesia, Juventud, servicio local</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150" dirty="0">
                          <a:solidFill>
                            <a:srgbClr val="D3E4FB"/>
                          </a:solidFill>
                          <a:latin typeface="Calibri" pitchFamily="34" charset="0"/>
                          <a:ea typeface="Calibri" pitchFamily="34" charset="-122"/>
                          <a:cs typeface="Calibri" pitchFamily="34" charset="-120"/>
                        </a:rPr>
                        <a:t>Diagnosticar ni administrar escalas clínicas</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c>
                  <a:txBody>
                    <a:bodyPr/>
                    <a:lstStyle/>
                    <a:p>
                      <a:pPr algn="l" indent="0" marL="0">
                        <a:buNone/>
                      </a:pPr>
                      <a:r>
                        <a:rPr lang="en-US" sz="1150" dirty="0">
                          <a:solidFill>
                            <a:srgbClr val="D3E4FB"/>
                          </a:solidFill>
                          <a:latin typeface="Calibri" pitchFamily="34" charset="0"/>
                          <a:ea typeface="Calibri" pitchFamily="34" charset="-122"/>
                          <a:cs typeface="Calibri" pitchFamily="34" charset="-120"/>
                        </a:rPr>
                        <a:t>Escuchar sin sermón. Hacer las dos preguntas del Lie/Bet. Sostener el vínculo y el espacio. Acercar a un adulto de salud o de la escuela.</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6304C"/>
                    </a:solidFill>
                  </a:tcPr>
                </a:tc>
              </a:tr>
              <a:tr h="0">
                <a:tc>
                  <a:txBody>
                    <a:bodyPr/>
                    <a:lstStyle/>
                    <a:p>
                      <a:pPr algn="l" indent="0" marL="0">
                        <a:buNone/>
                      </a:pPr>
                      <a:r>
                        <a:rPr lang="en-US" sz="1150" b="1" dirty="0">
                          <a:solidFill>
                            <a:srgbClr val="E0C68A"/>
                          </a:solidFill>
                          <a:latin typeface="Calibri" pitchFamily="34" charset="0"/>
                          <a:ea typeface="Calibri" pitchFamily="34" charset="-122"/>
                          <a:cs typeface="Calibri" pitchFamily="34" charset="-120"/>
                        </a:rPr>
                        <a:t>Profesional de salud</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150" dirty="0">
                          <a:solidFill>
                            <a:srgbClr val="D3E4FB"/>
                          </a:solidFill>
                          <a:latin typeface="Calibri" pitchFamily="34" charset="0"/>
                          <a:ea typeface="Calibri" pitchFamily="34" charset="-122"/>
                          <a:cs typeface="Calibri" pitchFamily="34" charset="-120"/>
                        </a:rPr>
                        <a:t>Sostener solo un caso severo sin red</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c>
                  <a:txBody>
                    <a:bodyPr/>
                    <a:lstStyle/>
                    <a:p>
                      <a:pPr algn="l" indent="0" marL="0">
                        <a:buNone/>
                      </a:pPr>
                      <a:r>
                        <a:rPr lang="en-US" sz="1150" dirty="0">
                          <a:solidFill>
                            <a:srgbClr val="D3E4FB"/>
                          </a:solidFill>
                          <a:latin typeface="Calibri" pitchFamily="34" charset="0"/>
                          <a:ea typeface="Calibri" pitchFamily="34" charset="-122"/>
                          <a:cs typeface="Calibri" pitchFamily="34" charset="-120"/>
                        </a:rPr>
                        <a:t>Tamizaje de rutina. SOGS o criterios DSM-5 como guía. Psicoeducación a la familia. Intervención breve con FRAMES. Derivación a tratamiento especializado.</a:t>
                      </a:r>
                      <a:endParaRPr lang="en-US" sz="1150" dirty="0">
                        <a:latin typeface="Calibri" charset="0"/>
                        <a:ea typeface="Calibri" charset="0"/>
                        <a:cs typeface="Calibri" charset="0"/>
                      </a:endParaRPr>
                    </a:p>
                  </a:txBody>
                  <a:tcPr marL="101600" marR="101600" marT="88900" marB="88900" anchor="ctr">
                    <a:lnL w="15240" cap="flat" cmpd="sng" algn="ctr">
                      <a:solidFill>
                        <a:srgbClr val="0D1B2A"/>
                      </a:solidFill>
                      <a:prstDash val="solid"/>
                      <a:round/>
                      <a:headEnd type="none" w="med" len="med"/>
                      <a:tailEnd type="none" w="med" len="med"/>
                    </a:lnL>
                    <a:lnR w="15240" cap="flat" cmpd="sng" algn="ctr">
                      <a:solidFill>
                        <a:srgbClr val="0D1B2A"/>
                      </a:solidFill>
                      <a:prstDash val="solid"/>
                      <a:round/>
                      <a:headEnd type="none" w="med" len="med"/>
                      <a:tailEnd type="none" w="med" len="med"/>
                    </a:lnR>
                    <a:lnT w="15240" cap="flat" cmpd="sng" algn="ctr">
                      <a:solidFill>
                        <a:srgbClr val="0D1B2A"/>
                      </a:solidFill>
                      <a:prstDash val="solid"/>
                      <a:round/>
                      <a:headEnd type="none" w="med" len="med"/>
                      <a:tailEnd type="none" w="med" len="med"/>
                    </a:lnT>
                    <a:lnB w="15240" cap="flat" cmpd="sng" algn="ctr">
                      <a:solidFill>
                        <a:srgbClr val="0D1B2A"/>
                      </a:solidFill>
                      <a:prstDash val="solid"/>
                      <a:round/>
                      <a:headEnd type="none" w="med" len="med"/>
                      <a:tailEnd type="none" w="med" len="med"/>
                    </a:lnB>
                    <a:solidFill>
                      <a:srgbClr val="1B3855"/>
                    </a:solidFill>
                  </a:tcPr>
                </a:tc>
              </a:tr>
            </a:tbl>
          </a:graphicData>
        </a:graphic>
      </p:graphicFrame>
      <p:sp>
        <p:nvSpPr>
          <p:cNvPr id="6" name="Text 3"/>
          <p:cNvSpPr/>
          <p:nvPr/>
        </p:nvSpPr>
        <p:spPr>
          <a:xfrm>
            <a:off x="685800" y="4846320"/>
            <a:ext cx="10820095" cy="640080"/>
          </a:xfrm>
          <a:prstGeom prst="rect">
            <a:avLst/>
          </a:prstGeom>
          <a:noFill/>
          <a:ln/>
        </p:spPr>
        <p:txBody>
          <a:bodyPr wrap="square" rtlCol="0" anchor="ctr"/>
          <a:lstStyle/>
          <a:p>
            <a:pPr indent="0" marL="0">
              <a:lnSpc>
                <a:spcPct val="115000"/>
              </a:lnSpc>
              <a:buNone/>
            </a:pPr>
            <a:r>
              <a:rPr lang="en-US" sz="1600" i="1" dirty="0">
                <a:solidFill>
                  <a:srgbClr val="E0C68A"/>
                </a:solidFill>
                <a:latin typeface="Georgia" pitchFamily="34" charset="0"/>
                <a:ea typeface="Georgia" pitchFamily="34" charset="-122"/>
                <a:cs typeface="Georgia" pitchFamily="34" charset="-120"/>
              </a:rPr>
              <a:t>Lo que vale para todos: la recaída no es un fracaso del acompañamiento, y avisarle a la familia no es traicionar al chico si se hace con él y no a sus espaldas.</a:t>
            </a:r>
            <a:endParaRPr lang="en-US" sz="1600" dirty="0"/>
          </a:p>
        </p:txBody>
      </p:sp>
      <p:sp>
        <p:nvSpPr>
          <p:cNvPr id="7" name="Shape 4"/>
          <p:cNvSpPr/>
          <p:nvPr/>
        </p:nvSpPr>
        <p:spPr>
          <a:xfrm>
            <a:off x="685800" y="6144768"/>
            <a:ext cx="10820095" cy="20117"/>
          </a:xfrm>
          <a:prstGeom prst="rect">
            <a:avLst/>
          </a:prstGeom>
          <a:solidFill>
            <a:srgbClr val="C5A059"/>
          </a:solidFill>
          <a:ln w="12700">
            <a:solidFill>
              <a:srgbClr val="C5A059"/>
            </a:solidFill>
            <a:prstDash val="solid"/>
          </a:ln>
        </p:spPr>
      </p:sp>
      <p:sp>
        <p:nvSpPr>
          <p:cNvPr id="8" name="Text 5"/>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Miller, W. R., &amp; Rollnick, S. (1999). La entrevista motivacional. Barcelona: Paidós.  ·  Yakovenko, I. et al. (2015). Addictive Behaviors, 43, 72-82.  ·  Johnson, E. E. et al. (1997). Psychological Reports, 80(1), 83-88.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EL CASO — CIERRE</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La recaída no deshace el proceso</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828800"/>
            <a:ext cx="10820095" cy="1143000"/>
          </a:xfrm>
          <a:prstGeom prst="rect">
            <a:avLst/>
          </a:prstGeom>
          <a:solidFill>
            <a:srgbClr val="16304C"/>
          </a:solidFill>
          <a:ln w="12700">
            <a:solidFill>
              <a:srgbClr val="16304C"/>
            </a:solidFill>
            <a:prstDash val="solid"/>
          </a:ln>
        </p:spPr>
      </p:sp>
      <p:sp>
        <p:nvSpPr>
          <p:cNvPr id="6" name="Shape 4"/>
          <p:cNvSpPr/>
          <p:nvPr/>
        </p:nvSpPr>
        <p:spPr>
          <a:xfrm>
            <a:off x="685800" y="1828800"/>
            <a:ext cx="45720" cy="1143000"/>
          </a:xfrm>
          <a:prstGeom prst="rect">
            <a:avLst/>
          </a:prstGeom>
          <a:solidFill>
            <a:srgbClr val="C5A059"/>
          </a:solidFill>
          <a:ln w="12700">
            <a:solidFill>
              <a:srgbClr val="C5A059"/>
            </a:solidFill>
            <a:prstDash val="solid"/>
          </a:ln>
        </p:spPr>
      </p:sp>
      <p:sp>
        <p:nvSpPr>
          <p:cNvPr id="7" name="Text 5"/>
          <p:cNvSpPr/>
          <p:nvPr/>
        </p:nvSpPr>
        <p:spPr>
          <a:xfrm>
            <a:off x="1005840" y="1975104"/>
            <a:ext cx="10180015" cy="576072"/>
          </a:xfrm>
          <a:prstGeom prst="rect">
            <a:avLst/>
          </a:prstGeom>
          <a:noFill/>
          <a:ln/>
        </p:spPr>
        <p:txBody>
          <a:bodyPr wrap="square" rtlCol="0" anchor="ctr"/>
          <a:lstStyle/>
          <a:p>
            <a:pPr indent="0" marL="0">
              <a:lnSpc>
                <a:spcPct val="125000"/>
              </a:lnSpc>
              <a:buNone/>
            </a:pPr>
            <a:r>
              <a:rPr lang="en-US" sz="2200" i="1" dirty="0">
                <a:solidFill>
                  <a:srgbClr val="FFFFFF"/>
                </a:solidFill>
                <a:latin typeface="Georgia" pitchFamily="34" charset="0"/>
                <a:ea typeface="Georgia" pitchFamily="34" charset="-122"/>
                <a:cs typeface="Georgia" pitchFamily="34" charset="-120"/>
              </a:rPr>
              <a:t>“Cada consumo puntual o recaída le acerca un paso más a la recuperación.”</a:t>
            </a:r>
            <a:endParaRPr lang="en-US" sz="2200" dirty="0"/>
          </a:p>
        </p:txBody>
      </p:sp>
      <p:sp>
        <p:nvSpPr>
          <p:cNvPr id="8" name="Text 6"/>
          <p:cNvSpPr/>
          <p:nvPr/>
        </p:nvSpPr>
        <p:spPr>
          <a:xfrm>
            <a:off x="1005840" y="2532888"/>
            <a:ext cx="10180015" cy="292608"/>
          </a:xfrm>
          <a:prstGeom prst="rect">
            <a:avLst/>
          </a:prstGeom>
          <a:noFill/>
          <a:ln/>
        </p:spPr>
        <p:txBody>
          <a:bodyPr wrap="square" rtlCol="0" anchor="ctr"/>
          <a:lstStyle/>
          <a:p>
            <a:pPr indent="0" marL="0">
              <a:buNone/>
            </a:pPr>
            <a:r>
              <a:rPr lang="en-US" sz="1100" dirty="0">
                <a:solidFill>
                  <a:srgbClr val="C5A059"/>
                </a:solidFill>
                <a:latin typeface="Calibri" pitchFamily="34" charset="0"/>
                <a:ea typeface="Calibri" pitchFamily="34" charset="-122"/>
                <a:cs typeface="Calibri" pitchFamily="34" charset="-120"/>
              </a:rPr>
              <a:t>Miller y Rollnick, La entrevista motivacional</a:t>
            </a:r>
            <a:endParaRPr lang="en-US" sz="1100" dirty="0"/>
          </a:p>
        </p:txBody>
      </p:sp>
      <p:sp>
        <p:nvSpPr>
          <p:cNvPr id="9" name="Shape 7"/>
          <p:cNvSpPr/>
          <p:nvPr/>
        </p:nvSpPr>
        <p:spPr>
          <a:xfrm>
            <a:off x="685800" y="3246120"/>
            <a:ext cx="5181448" cy="2286000"/>
          </a:xfrm>
          <a:prstGeom prst="rect">
            <a:avLst/>
          </a:prstGeom>
          <a:solidFill>
            <a:srgbClr val="16304C"/>
          </a:solidFill>
          <a:ln w="12700">
            <a:solidFill>
              <a:srgbClr val="16304C"/>
            </a:solidFill>
            <a:prstDash val="solid"/>
          </a:ln>
        </p:spPr>
      </p:sp>
      <p:sp>
        <p:nvSpPr>
          <p:cNvPr id="10" name="Shape 8"/>
          <p:cNvSpPr/>
          <p:nvPr/>
        </p:nvSpPr>
        <p:spPr>
          <a:xfrm>
            <a:off x="685800" y="3246120"/>
            <a:ext cx="45720" cy="2286000"/>
          </a:xfrm>
          <a:prstGeom prst="rect">
            <a:avLst/>
          </a:prstGeom>
          <a:solidFill>
            <a:srgbClr val="C5A059"/>
          </a:solidFill>
          <a:ln w="12700">
            <a:solidFill>
              <a:srgbClr val="C5A059"/>
            </a:solidFill>
            <a:prstDash val="solid"/>
          </a:ln>
        </p:spPr>
      </p:sp>
      <p:sp>
        <p:nvSpPr>
          <p:cNvPr id="11" name="Text 9"/>
          <p:cNvSpPr/>
          <p:nvPr/>
        </p:nvSpPr>
        <p:spPr>
          <a:xfrm>
            <a:off x="941832" y="3429000"/>
            <a:ext cx="472424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QUÉ PASÓ CON DIEGO</a:t>
            </a:r>
            <a:endParaRPr lang="en-US" sz="1100" dirty="0"/>
          </a:p>
        </p:txBody>
      </p:sp>
      <p:sp>
        <p:nvSpPr>
          <p:cNvPr id="12" name="Text 10"/>
          <p:cNvSpPr/>
          <p:nvPr/>
        </p:nvSpPr>
        <p:spPr>
          <a:xfrm>
            <a:off x="941832" y="3776472"/>
            <a:ext cx="4678528" cy="160020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La recaída durante el Mundial no lo devolvió al punto de partida: lo devolvió a la contemplación, ahora con culpa. Ese es un lugar clínicamente más avanzado que el inicial, no más atrasado. La tarea en ese momento no es reprochar: es explorar la ambivalencia sin apurar la decisión.</a:t>
            </a:r>
            <a:endParaRPr lang="en-US" sz="1350" dirty="0"/>
          </a:p>
        </p:txBody>
      </p:sp>
      <p:sp>
        <p:nvSpPr>
          <p:cNvPr id="13" name="Shape 11"/>
          <p:cNvSpPr/>
          <p:nvPr/>
        </p:nvSpPr>
        <p:spPr>
          <a:xfrm>
            <a:off x="6324448" y="3246120"/>
            <a:ext cx="5181448" cy="2286000"/>
          </a:xfrm>
          <a:prstGeom prst="rect">
            <a:avLst/>
          </a:prstGeom>
          <a:solidFill>
            <a:srgbClr val="16304C"/>
          </a:solidFill>
          <a:ln w="12700">
            <a:solidFill>
              <a:srgbClr val="16304C"/>
            </a:solidFill>
            <a:prstDash val="solid"/>
          </a:ln>
        </p:spPr>
      </p:sp>
      <p:sp>
        <p:nvSpPr>
          <p:cNvPr id="14" name="Shape 12"/>
          <p:cNvSpPr/>
          <p:nvPr/>
        </p:nvSpPr>
        <p:spPr>
          <a:xfrm>
            <a:off x="6324448" y="3246120"/>
            <a:ext cx="45720" cy="2286000"/>
          </a:xfrm>
          <a:prstGeom prst="rect">
            <a:avLst/>
          </a:prstGeom>
          <a:solidFill>
            <a:srgbClr val="C5A059"/>
          </a:solidFill>
          <a:ln w="12700">
            <a:solidFill>
              <a:srgbClr val="C5A059"/>
            </a:solidFill>
            <a:prstDash val="solid"/>
          </a:ln>
        </p:spPr>
      </p:sp>
      <p:sp>
        <p:nvSpPr>
          <p:cNvPr id="15" name="Text 13"/>
          <p:cNvSpPr/>
          <p:nvPr/>
        </p:nvSpPr>
        <p:spPr>
          <a:xfrm>
            <a:off x="6580480" y="3429000"/>
            <a:ext cx="472424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QUÉ SIGNIFICA PARA EL ADULTO QUE ACOMPAÑA</a:t>
            </a:r>
            <a:endParaRPr lang="en-US" sz="1100" dirty="0"/>
          </a:p>
        </p:txBody>
      </p:sp>
      <p:sp>
        <p:nvSpPr>
          <p:cNvPr id="16" name="Text 14"/>
          <p:cNvSpPr/>
          <p:nvPr/>
        </p:nvSpPr>
        <p:spPr>
          <a:xfrm>
            <a:off x="6580480" y="3776472"/>
            <a:ext cx="4678528" cy="160020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Cambia la respuesta emocional ante la recaída: de la decepción y el reproche, al reencuadre y la continuidad. Para la familia, para el entrenador y para el docente, saber esto es la diferencia entre que el chico vuelva a hablar o que no vuelva nunca más.</a:t>
            </a:r>
            <a:endParaRPr lang="en-US" sz="1350" dirty="0"/>
          </a:p>
        </p:txBody>
      </p:sp>
      <p:sp>
        <p:nvSpPr>
          <p:cNvPr id="17" name="Shape 15"/>
          <p:cNvSpPr/>
          <p:nvPr/>
        </p:nvSpPr>
        <p:spPr>
          <a:xfrm>
            <a:off x="685800" y="6144768"/>
            <a:ext cx="10820095" cy="20117"/>
          </a:xfrm>
          <a:prstGeom prst="rect">
            <a:avLst/>
          </a:prstGeom>
          <a:solidFill>
            <a:srgbClr val="C5A059"/>
          </a:solidFill>
          <a:ln w="12700">
            <a:solidFill>
              <a:srgbClr val="C5A059"/>
            </a:solidFill>
            <a:prstDash val="solid"/>
          </a:ln>
        </p:spPr>
      </p:sp>
      <p:sp>
        <p:nvSpPr>
          <p:cNvPr id="18" name="Text 16"/>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Miller, W. R., &amp; Rollnick, S. (1999). La entrevista motivacional: preparar para el cambio de conductas adictivas. Barcelona: Paidós, cap. 2.  ·  Prochaska, J. O., &amp; DiClemente, C. C. (1983). Journal of Consulting and Clinical Psychology, 51(3), 390-395.</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4 — DERIVACIÓN</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A dónde derivar</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874520"/>
            <a:ext cx="3362858" cy="3017520"/>
          </a:xfrm>
          <a:prstGeom prst="rect">
            <a:avLst/>
          </a:prstGeom>
          <a:solidFill>
            <a:srgbClr val="16304C"/>
          </a:solidFill>
          <a:ln w="12700">
            <a:solidFill>
              <a:srgbClr val="16304C"/>
            </a:solidFill>
            <a:prstDash val="solid"/>
          </a:ln>
        </p:spPr>
      </p:sp>
      <p:sp>
        <p:nvSpPr>
          <p:cNvPr id="6" name="Shape 4"/>
          <p:cNvSpPr/>
          <p:nvPr/>
        </p:nvSpPr>
        <p:spPr>
          <a:xfrm>
            <a:off x="685800" y="1874520"/>
            <a:ext cx="45720" cy="3017520"/>
          </a:xfrm>
          <a:prstGeom prst="rect">
            <a:avLst/>
          </a:prstGeom>
          <a:solidFill>
            <a:srgbClr val="C5A059"/>
          </a:solidFill>
          <a:ln w="12700">
            <a:solidFill>
              <a:srgbClr val="C5A059"/>
            </a:solidFill>
            <a:prstDash val="solid"/>
          </a:ln>
        </p:spPr>
      </p:sp>
      <p:sp>
        <p:nvSpPr>
          <p:cNvPr id="7" name="Text 5"/>
          <p:cNvSpPr/>
          <p:nvPr/>
        </p:nvSpPr>
        <p:spPr>
          <a:xfrm>
            <a:off x="941832" y="205740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NACIONAL</a:t>
            </a:r>
            <a:endParaRPr lang="en-US" sz="1100" dirty="0"/>
          </a:p>
        </p:txBody>
      </p:sp>
      <p:sp>
        <p:nvSpPr>
          <p:cNvPr id="8" name="Text 6"/>
          <p:cNvSpPr/>
          <p:nvPr/>
        </p:nvSpPr>
        <p:spPr>
          <a:xfrm>
            <a:off x="941832" y="2404872"/>
            <a:ext cx="2859938" cy="2331720"/>
          </a:xfrm>
          <a:prstGeom prst="rect">
            <a:avLst/>
          </a:prstGeom>
          <a:noFill/>
          <a:ln/>
        </p:spPr>
        <p:txBody>
          <a:bodyPr wrap="square" rtlCol="0" anchor="t"/>
          <a:lstStyle/>
          <a:p>
            <a:pPr marL="152400" indent="-152400">
              <a:lnSpc>
                <a:spcPct val="135000"/>
              </a:lnSpc>
              <a:buSzPct val="100000"/>
              <a:buChar char="•"/>
            </a:pPr>
            <a:r>
              <a:rPr lang="en-US" sz="1350" dirty="0">
                <a:solidFill>
                  <a:srgbClr val="D3E4FB"/>
                </a:solidFill>
                <a:latin typeface="Calibri" pitchFamily="34" charset="0"/>
                <a:ea typeface="Calibri" pitchFamily="34" charset="-122"/>
                <a:cs typeface="Calibri" pitchFamily="34" charset="-120"/>
              </a:rPr>
              <a:t>Línea 141 — SEDRONAR</a:t>
            </a:r>
            <a:endParaRPr lang="en-US" sz="1350" dirty="0"/>
          </a:p>
          <a:p>
            <a:pPr marL="152400" indent="-152400">
              <a:lnSpc>
                <a:spcPct val="135000"/>
              </a:lnSpc>
              <a:buSzPct val="100000"/>
              <a:buChar char="•"/>
            </a:pPr>
            <a:r>
              <a:rPr lang="en-US" sz="1350" dirty="0">
                <a:solidFill>
                  <a:srgbClr val="D3E4FB"/>
                </a:solidFill>
                <a:latin typeface="Calibri" pitchFamily="34" charset="0"/>
                <a:ea typeface="Calibri" pitchFamily="34" charset="-122"/>
                <a:cs typeface="Calibri" pitchFamily="34" charset="-120"/>
              </a:rPr>
              <a:t>Gratuita, confidencial, 24 horas, todo el país</a:t>
            </a:r>
            <a:endParaRPr lang="en-US" sz="1350" dirty="0"/>
          </a:p>
          <a:p>
            <a:pPr marL="152400" indent="-152400">
              <a:lnSpc>
                <a:spcPct val="135000"/>
              </a:lnSpc>
              <a:buSzPct val="100000"/>
              <a:buChar char="•"/>
            </a:pPr>
            <a:r>
              <a:rPr lang="en-US" sz="1350" dirty="0">
                <a:solidFill>
                  <a:srgbClr val="D3E4FB"/>
                </a:solidFill>
                <a:latin typeface="Calibri" pitchFamily="34" charset="0"/>
                <a:ea typeface="Calibri" pitchFamily="34" charset="-122"/>
                <a:cs typeface="Calibri" pitchFamily="34" charset="-120"/>
              </a:rPr>
              <a:t>Orienta también a familiares y a instituciones, no solo a la persona afectada</a:t>
            </a:r>
            <a:endParaRPr lang="en-US" sz="1350" dirty="0"/>
          </a:p>
        </p:txBody>
      </p:sp>
      <p:sp>
        <p:nvSpPr>
          <p:cNvPr id="9" name="Shape 7"/>
          <p:cNvSpPr/>
          <p:nvPr/>
        </p:nvSpPr>
        <p:spPr>
          <a:xfrm>
            <a:off x="4414418" y="1874520"/>
            <a:ext cx="3362858" cy="3017520"/>
          </a:xfrm>
          <a:prstGeom prst="rect">
            <a:avLst/>
          </a:prstGeom>
          <a:solidFill>
            <a:srgbClr val="16304C"/>
          </a:solidFill>
          <a:ln w="12700">
            <a:solidFill>
              <a:srgbClr val="16304C"/>
            </a:solidFill>
            <a:prstDash val="solid"/>
          </a:ln>
        </p:spPr>
      </p:sp>
      <p:sp>
        <p:nvSpPr>
          <p:cNvPr id="10" name="Shape 8"/>
          <p:cNvSpPr/>
          <p:nvPr/>
        </p:nvSpPr>
        <p:spPr>
          <a:xfrm>
            <a:off x="4414418" y="1874520"/>
            <a:ext cx="45720" cy="3017520"/>
          </a:xfrm>
          <a:prstGeom prst="rect">
            <a:avLst/>
          </a:prstGeom>
          <a:solidFill>
            <a:srgbClr val="C5A059"/>
          </a:solidFill>
          <a:ln w="12700">
            <a:solidFill>
              <a:srgbClr val="C5A059"/>
            </a:solidFill>
            <a:prstDash val="solid"/>
          </a:ln>
        </p:spPr>
      </p:sp>
      <p:sp>
        <p:nvSpPr>
          <p:cNvPr id="11" name="Text 9"/>
          <p:cNvSpPr/>
          <p:nvPr/>
        </p:nvSpPr>
        <p:spPr>
          <a:xfrm>
            <a:off x="4670450" y="205740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PROVINCIAL</a:t>
            </a:r>
            <a:endParaRPr lang="en-US" sz="1100" dirty="0"/>
          </a:p>
        </p:txBody>
      </p:sp>
      <p:sp>
        <p:nvSpPr>
          <p:cNvPr id="12" name="Text 10"/>
          <p:cNvSpPr/>
          <p:nvPr/>
        </p:nvSpPr>
        <p:spPr>
          <a:xfrm>
            <a:off x="4670450" y="2404872"/>
            <a:ext cx="2859938" cy="2331720"/>
          </a:xfrm>
          <a:prstGeom prst="rect">
            <a:avLst/>
          </a:prstGeom>
          <a:noFill/>
          <a:ln/>
        </p:spPr>
        <p:txBody>
          <a:bodyPr wrap="square" rtlCol="0" anchor="t"/>
          <a:lstStyle/>
          <a:p>
            <a:pPr marL="152400" indent="-152400">
              <a:lnSpc>
                <a:spcPct val="135000"/>
              </a:lnSpc>
              <a:buSzPct val="100000"/>
              <a:buChar char="•"/>
            </a:pPr>
            <a:r>
              <a:rPr lang="en-US" sz="1350" dirty="0">
                <a:solidFill>
                  <a:srgbClr val="D3E4FB"/>
                </a:solidFill>
                <a:latin typeface="Calibri" pitchFamily="34" charset="0"/>
                <a:ea typeface="Calibri" pitchFamily="34" charset="-122"/>
                <a:cs typeface="Calibri" pitchFamily="34" charset="-120"/>
              </a:rPr>
              <a:t>CPA — Centro Provincial de Atención a las Adicciones</a:t>
            </a:r>
            <a:endParaRPr lang="en-US" sz="1350" dirty="0"/>
          </a:p>
          <a:p>
            <a:pPr marL="152400" indent="-152400">
              <a:lnSpc>
                <a:spcPct val="135000"/>
              </a:lnSpc>
              <a:buSzPct val="100000"/>
              <a:buChar char="•"/>
            </a:pPr>
            <a:r>
              <a:rPr lang="en-US" sz="1350" dirty="0">
                <a:solidFill>
                  <a:srgbClr val="D3E4FB"/>
                </a:solidFill>
                <a:latin typeface="Calibri" pitchFamily="34" charset="0"/>
                <a:ea typeface="Calibri" pitchFamily="34" charset="-122"/>
                <a:cs typeface="Calibri" pitchFamily="34" charset="-120"/>
              </a:rPr>
              <a:t>Programa de Prevención y Asistencia al Juego Compulsivo, Ministerio de Salud de la Provincia de Buenos Aires</a:t>
            </a:r>
            <a:endParaRPr lang="en-US" sz="1350" dirty="0"/>
          </a:p>
        </p:txBody>
      </p:sp>
      <p:sp>
        <p:nvSpPr>
          <p:cNvPr id="13" name="Shape 11"/>
          <p:cNvSpPr/>
          <p:nvPr/>
        </p:nvSpPr>
        <p:spPr>
          <a:xfrm>
            <a:off x="8143037" y="1874520"/>
            <a:ext cx="3362858" cy="3017520"/>
          </a:xfrm>
          <a:prstGeom prst="rect">
            <a:avLst/>
          </a:prstGeom>
          <a:solidFill>
            <a:srgbClr val="16304C"/>
          </a:solidFill>
          <a:ln w="12700">
            <a:solidFill>
              <a:srgbClr val="16304C"/>
            </a:solidFill>
            <a:prstDash val="solid"/>
          </a:ln>
        </p:spPr>
      </p:sp>
      <p:sp>
        <p:nvSpPr>
          <p:cNvPr id="14" name="Shape 12"/>
          <p:cNvSpPr/>
          <p:nvPr/>
        </p:nvSpPr>
        <p:spPr>
          <a:xfrm>
            <a:off x="8143037" y="1874520"/>
            <a:ext cx="45720" cy="3017520"/>
          </a:xfrm>
          <a:prstGeom prst="rect">
            <a:avLst/>
          </a:prstGeom>
          <a:solidFill>
            <a:srgbClr val="C5A059"/>
          </a:solidFill>
          <a:ln w="12700">
            <a:solidFill>
              <a:srgbClr val="C5A059"/>
            </a:solidFill>
            <a:prstDash val="solid"/>
          </a:ln>
        </p:spPr>
      </p:sp>
      <p:sp>
        <p:nvSpPr>
          <p:cNvPr id="15" name="Text 13"/>
          <p:cNvSpPr/>
          <p:nvPr/>
        </p:nvSpPr>
        <p:spPr>
          <a:xfrm>
            <a:off x="8399069" y="205740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MAR DEL PLATA — REFERENCIA REGIONAL</a:t>
            </a:r>
            <a:endParaRPr lang="en-US" sz="1100" dirty="0"/>
          </a:p>
        </p:txBody>
      </p:sp>
      <p:sp>
        <p:nvSpPr>
          <p:cNvPr id="16" name="Text 14"/>
          <p:cNvSpPr/>
          <p:nvPr/>
        </p:nvSpPr>
        <p:spPr>
          <a:xfrm>
            <a:off x="8399069" y="2404872"/>
            <a:ext cx="2859938" cy="2331720"/>
          </a:xfrm>
          <a:prstGeom prst="rect">
            <a:avLst/>
          </a:prstGeom>
          <a:noFill/>
          <a:ln/>
        </p:spPr>
        <p:txBody>
          <a:bodyPr wrap="square" rtlCol="0" anchor="t"/>
          <a:lstStyle/>
          <a:p>
            <a:pPr marL="152400" indent="-152400">
              <a:lnSpc>
                <a:spcPct val="120000"/>
              </a:lnSpc>
              <a:buSzPct val="100000"/>
              <a:buChar char="•"/>
            </a:pPr>
            <a:r>
              <a:rPr lang="en-US" sz="1200" dirty="0">
                <a:solidFill>
                  <a:srgbClr val="D3E4FB"/>
                </a:solidFill>
                <a:latin typeface="Calibri" pitchFamily="34" charset="0"/>
                <a:ea typeface="Calibri" pitchFamily="34" charset="-122"/>
                <a:cs typeface="Calibri" pitchFamily="34" charset="-120"/>
              </a:rPr>
              <a:t>Programa CASS — Consultorios FADE, Moreno 3215, 1.er piso of. 2</a:t>
            </a:r>
            <a:endParaRPr lang="en-US" sz="1200" dirty="0"/>
          </a:p>
          <a:p>
            <a:pPr marL="152400" indent="-152400">
              <a:lnSpc>
                <a:spcPct val="120000"/>
              </a:lnSpc>
              <a:buSzPct val="100000"/>
              <a:buChar char="•"/>
            </a:pPr>
            <a:r>
              <a:rPr lang="en-US" sz="1200" dirty="0">
                <a:solidFill>
                  <a:srgbClr val="D3E4FB"/>
                </a:solidFill>
                <a:latin typeface="Calibri" pitchFamily="34" charset="0"/>
                <a:ea typeface="Calibri" pitchFamily="34" charset="-122"/>
                <a:cs typeface="Calibri" pitchFamily="34" charset="-120"/>
              </a:rPr>
              <a:t>SEMDA — Av. Jara 1661, (0223) 473-2037</a:t>
            </a:r>
            <a:endParaRPr lang="en-US" sz="1200" dirty="0"/>
          </a:p>
          <a:p>
            <a:pPr marL="152400" indent="-152400">
              <a:lnSpc>
                <a:spcPct val="120000"/>
              </a:lnSpc>
              <a:buSzPct val="100000"/>
              <a:buChar char="•"/>
            </a:pPr>
            <a:r>
              <a:rPr lang="en-US" sz="1200" dirty="0">
                <a:solidFill>
                  <a:srgbClr val="D3E4FB"/>
                </a:solidFill>
                <a:latin typeface="Calibri" pitchFamily="34" charset="0"/>
                <a:ea typeface="Calibri" pitchFamily="34" charset="-122"/>
                <a:cs typeface="Calibri" pitchFamily="34" charset="-120"/>
              </a:rPr>
              <a:t>Casa Caracol — Ituzaingó 8055, (0223) 478-6384</a:t>
            </a:r>
            <a:endParaRPr lang="en-US" sz="1200" dirty="0"/>
          </a:p>
          <a:p>
            <a:pPr marL="152400" indent="-152400">
              <a:lnSpc>
                <a:spcPct val="120000"/>
              </a:lnSpc>
              <a:buSzPct val="100000"/>
              <a:buChar char="•"/>
            </a:pPr>
            <a:r>
              <a:rPr lang="en-US" sz="1200" dirty="0">
                <a:solidFill>
                  <a:srgbClr val="D3E4FB"/>
                </a:solidFill>
                <a:latin typeface="Calibri" pitchFamily="34" charset="0"/>
                <a:ea typeface="Calibri" pitchFamily="34" charset="-122"/>
                <a:cs typeface="Calibri" pitchFamily="34" charset="-120"/>
              </a:rPr>
              <a:t>CPA Mar del Plata — Buenos Aires 2855</a:t>
            </a:r>
            <a:endParaRPr lang="en-US" sz="1200" dirty="0"/>
          </a:p>
          <a:p>
            <a:pPr marL="152400" indent="-152400">
              <a:lnSpc>
                <a:spcPct val="120000"/>
              </a:lnSpc>
              <a:buSzPct val="100000"/>
              <a:buChar char="•"/>
            </a:pPr>
            <a:r>
              <a:rPr lang="en-US" sz="1200" dirty="0">
                <a:solidFill>
                  <a:srgbClr val="D3E4FB"/>
                </a:solidFill>
                <a:latin typeface="Calibri" pitchFamily="34" charset="0"/>
                <a:ea typeface="Calibri" pitchFamily="34" charset="-122"/>
                <a:cs typeface="Calibri" pitchFamily="34" charset="-120"/>
              </a:rPr>
              <a:t>HIGA, Servicio de Salud Mental — (0223) 499-9300</a:t>
            </a:r>
            <a:endParaRPr lang="en-US" sz="1200" dirty="0"/>
          </a:p>
        </p:txBody>
      </p:sp>
      <p:sp>
        <p:nvSpPr>
          <p:cNvPr id="17" name="Text 15"/>
          <p:cNvSpPr/>
          <p:nvPr/>
        </p:nvSpPr>
        <p:spPr>
          <a:xfrm>
            <a:off x="685800" y="5120640"/>
            <a:ext cx="10820095" cy="548640"/>
          </a:xfrm>
          <a:prstGeom prst="rect">
            <a:avLst/>
          </a:prstGeom>
          <a:noFill/>
          <a:ln/>
        </p:spPr>
        <p:txBody>
          <a:bodyPr wrap="square" rtlCol="0" anchor="ctr"/>
          <a:lstStyle/>
          <a:p>
            <a:pPr indent="0" marL="0">
              <a:buNone/>
            </a:pPr>
            <a:r>
              <a:rPr lang="en-US" sz="1600" i="1" dirty="0">
                <a:solidFill>
                  <a:srgbClr val="E0C68A"/>
                </a:solidFill>
                <a:latin typeface="Georgia" pitchFamily="34" charset="0"/>
                <a:ea typeface="Georgia" pitchFamily="34" charset="-122"/>
                <a:cs typeface="Georgia" pitchFamily="34" charset="-120"/>
              </a:rPr>
              <a:t>Ante la ausencia de recursos especializados en Balcarce, el eslabón que ustedes ocupan es el que decide si un adolescente llega o no llega a tratamiento.</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5 — EL DEBATE REGULATORIO</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Regular bien no es regular más</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874520"/>
            <a:ext cx="5181448" cy="2743200"/>
          </a:xfrm>
          <a:prstGeom prst="rect">
            <a:avLst/>
          </a:prstGeom>
          <a:solidFill>
            <a:srgbClr val="16304C"/>
          </a:solidFill>
          <a:ln w="12700">
            <a:solidFill>
              <a:srgbClr val="16304C"/>
            </a:solidFill>
            <a:prstDash val="solid"/>
          </a:ln>
        </p:spPr>
      </p:sp>
      <p:sp>
        <p:nvSpPr>
          <p:cNvPr id="6" name="Shape 4"/>
          <p:cNvSpPr/>
          <p:nvPr/>
        </p:nvSpPr>
        <p:spPr>
          <a:xfrm>
            <a:off x="685800" y="1874520"/>
            <a:ext cx="45720" cy="2743200"/>
          </a:xfrm>
          <a:prstGeom prst="rect">
            <a:avLst/>
          </a:prstGeom>
          <a:solidFill>
            <a:srgbClr val="C5A059"/>
          </a:solidFill>
          <a:ln w="12700">
            <a:solidFill>
              <a:srgbClr val="C5A059"/>
            </a:solidFill>
            <a:prstDash val="solid"/>
          </a:ln>
        </p:spPr>
      </p:sp>
      <p:sp>
        <p:nvSpPr>
          <p:cNvPr id="7" name="Text 5"/>
          <p:cNvSpPr/>
          <p:nvPr/>
        </p:nvSpPr>
        <p:spPr>
          <a:xfrm>
            <a:off x="941832" y="2057400"/>
            <a:ext cx="472424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LO QUE SOSTIENE LA INVESTIGACIÓN</a:t>
            </a:r>
            <a:endParaRPr lang="en-US" sz="1100" dirty="0"/>
          </a:p>
        </p:txBody>
      </p:sp>
      <p:sp>
        <p:nvSpPr>
          <p:cNvPr id="8" name="Text 6"/>
          <p:cNvSpPr/>
          <p:nvPr/>
        </p:nvSpPr>
        <p:spPr>
          <a:xfrm>
            <a:off x="941832" y="2404872"/>
            <a:ext cx="4678528" cy="2057400"/>
          </a:xfrm>
          <a:prstGeom prst="rect">
            <a:avLst/>
          </a:prstGeom>
          <a:noFill/>
          <a:ln/>
        </p:spPr>
        <p:txBody>
          <a:bodyPr wrap="square" rtlCol="0" anchor="t"/>
          <a:lstStyle/>
          <a:p>
            <a:pPr indent="0" marL="0">
              <a:lnSpc>
                <a:spcPct val="135000"/>
              </a:lnSpc>
              <a:buNone/>
            </a:pPr>
            <a:r>
              <a:rPr lang="en-US" sz="1300" dirty="0">
                <a:solidFill>
                  <a:srgbClr val="D3E4FB"/>
                </a:solidFill>
                <a:latin typeface="Calibri" pitchFamily="34" charset="0"/>
                <a:ea typeface="Calibri" pitchFamily="34" charset="-122"/>
                <a:cs typeface="Calibri" pitchFamily="34" charset="-120"/>
              </a:rPr>
              <a:t>Griffiths y Parke señalaron desde principios de los 2000 que el juego online tiene características estructurales —anonimato, acceso permanente, alta frecuencia de eventos, entornos inmersivos— que amplían su potencial adictivo respecto del juego presencial, sobre todo en poblaciones jóvenes.</a:t>
            </a:r>
            <a:endParaRPr lang="en-US" sz="1300" dirty="0"/>
          </a:p>
          <a:p>
            <a:pPr indent="0" marL="0">
              <a:lnSpc>
                <a:spcPct val="135000"/>
              </a:lnSpc>
              <a:buNone/>
            </a:pPr>
            <a:endParaRPr lang="en-US" sz="1300" dirty="0"/>
          </a:p>
          <a:p>
            <a:pPr indent="0" marL="0">
              <a:lnSpc>
                <a:spcPct val="135000"/>
              </a:lnSpc>
              <a:buNone/>
            </a:pPr>
            <a:r>
              <a:rPr lang="en-US" sz="1300" dirty="0">
                <a:solidFill>
                  <a:srgbClr val="D3E4FB"/>
                </a:solidFill>
                <a:latin typeface="Calibri" pitchFamily="34" charset="0"/>
                <a:ea typeface="Calibri" pitchFamily="34" charset="-122"/>
                <a:cs typeface="Calibri" pitchFamily="34" charset="-120"/>
              </a:rPr>
              <a:t>Es una afirmación sobre características estructurales, no una cita textual sobre que el online sea “doblemente adictivo”.</a:t>
            </a:r>
            <a:endParaRPr lang="en-US" sz="1300" dirty="0"/>
          </a:p>
        </p:txBody>
      </p:sp>
      <p:sp>
        <p:nvSpPr>
          <p:cNvPr id="9" name="Shape 7"/>
          <p:cNvSpPr/>
          <p:nvPr/>
        </p:nvSpPr>
        <p:spPr>
          <a:xfrm>
            <a:off x="6324448" y="1874520"/>
            <a:ext cx="5181448" cy="2743200"/>
          </a:xfrm>
          <a:prstGeom prst="rect">
            <a:avLst/>
          </a:prstGeom>
          <a:solidFill>
            <a:srgbClr val="16304C"/>
          </a:solidFill>
          <a:ln w="12700">
            <a:solidFill>
              <a:srgbClr val="16304C"/>
            </a:solidFill>
            <a:prstDash val="solid"/>
          </a:ln>
        </p:spPr>
      </p:sp>
      <p:sp>
        <p:nvSpPr>
          <p:cNvPr id="10" name="Shape 8"/>
          <p:cNvSpPr/>
          <p:nvPr/>
        </p:nvSpPr>
        <p:spPr>
          <a:xfrm>
            <a:off x="6324448" y="1874520"/>
            <a:ext cx="45720" cy="2743200"/>
          </a:xfrm>
          <a:prstGeom prst="rect">
            <a:avLst/>
          </a:prstGeom>
          <a:solidFill>
            <a:srgbClr val="C5A059"/>
          </a:solidFill>
          <a:ln w="12700">
            <a:solidFill>
              <a:srgbClr val="C5A059"/>
            </a:solidFill>
            <a:prstDash val="solid"/>
          </a:ln>
        </p:spPr>
      </p:sp>
      <p:sp>
        <p:nvSpPr>
          <p:cNvPr id="11" name="Text 9"/>
          <p:cNvSpPr/>
          <p:nvPr/>
        </p:nvSpPr>
        <p:spPr>
          <a:xfrm>
            <a:off x="6580480" y="2057400"/>
            <a:ext cx="472424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EL EFECTO NO BUSCADO</a:t>
            </a:r>
            <a:endParaRPr lang="en-US" sz="1100" dirty="0"/>
          </a:p>
        </p:txBody>
      </p:sp>
      <p:sp>
        <p:nvSpPr>
          <p:cNvPr id="12" name="Text 10"/>
          <p:cNvSpPr/>
          <p:nvPr/>
        </p:nvSpPr>
        <p:spPr>
          <a:xfrm>
            <a:off x="6580480" y="2404872"/>
            <a:ext cx="4678528" cy="2057400"/>
          </a:xfrm>
          <a:prstGeom prst="rect">
            <a:avLst/>
          </a:prstGeom>
          <a:noFill/>
          <a:ln/>
        </p:spPr>
        <p:txBody>
          <a:bodyPr wrap="square" rtlCol="0" anchor="t"/>
          <a:lstStyle/>
          <a:p>
            <a:pPr indent="0" marL="0">
              <a:lnSpc>
                <a:spcPct val="135000"/>
              </a:lnSpc>
              <a:buNone/>
            </a:pPr>
            <a:r>
              <a:rPr lang="en-US" sz="1300" dirty="0">
                <a:solidFill>
                  <a:srgbClr val="D3E4FB"/>
                </a:solidFill>
                <a:latin typeface="Calibri" pitchFamily="34" charset="0"/>
                <a:ea typeface="Calibri" pitchFamily="34" charset="-122"/>
                <a:cs typeface="Calibri" pitchFamily="34" charset="-120"/>
              </a:rPr>
              <a:t>Cuando el mercado regulado se vuelve demasiado restrictivo, se documenta un desplazamiento de los jugadores de mayor riesgo hacia plataformas sin licencia, radicadas en el exterior y fuera del alcance de cualquier autoridad.</a:t>
            </a:r>
            <a:endParaRPr lang="en-US" sz="1300" dirty="0"/>
          </a:p>
          <a:p>
            <a:pPr indent="0" marL="0">
              <a:lnSpc>
                <a:spcPct val="135000"/>
              </a:lnSpc>
              <a:buNone/>
            </a:pPr>
            <a:endParaRPr lang="en-US" sz="1300" dirty="0"/>
          </a:p>
          <a:p>
            <a:pPr indent="0" marL="0">
              <a:lnSpc>
                <a:spcPct val="135000"/>
              </a:lnSpc>
              <a:buNone/>
            </a:pPr>
            <a:r>
              <a:rPr lang="en-US" sz="1300" dirty="0">
                <a:solidFill>
                  <a:srgbClr val="D3E4FB"/>
                </a:solidFill>
                <a:latin typeface="Calibri" pitchFamily="34" charset="0"/>
                <a:ea typeface="Calibri" pitchFamily="34" charset="-122"/>
                <a:cs typeface="Calibri" pitchFamily="34" charset="-120"/>
              </a:rPr>
              <a:t>Ahí no hay límites de depósito, ni autoexclusión, ni verificación de edad, ni nadie a quien reclamar. El daño no baja: se vuelve invisible.</a:t>
            </a:r>
            <a:endParaRPr lang="en-US" sz="1300" dirty="0"/>
          </a:p>
        </p:txBody>
      </p:sp>
      <p:sp>
        <p:nvSpPr>
          <p:cNvPr id="13" name="Text 11"/>
          <p:cNvSpPr/>
          <p:nvPr/>
        </p:nvSpPr>
        <p:spPr>
          <a:xfrm>
            <a:off x="685800" y="4892040"/>
            <a:ext cx="10820095" cy="640080"/>
          </a:xfrm>
          <a:prstGeom prst="rect">
            <a:avLst/>
          </a:prstGeom>
          <a:noFill/>
          <a:ln/>
        </p:spPr>
        <p:txBody>
          <a:bodyPr wrap="square" rtlCol="0" anchor="ctr"/>
          <a:lstStyle/>
          <a:p>
            <a:pPr indent="0" marL="0">
              <a:lnSpc>
                <a:spcPct val="115000"/>
              </a:lnSpc>
              <a:buNone/>
            </a:pPr>
            <a:r>
              <a:rPr lang="en-US" sz="1600" i="1" dirty="0">
                <a:solidFill>
                  <a:srgbClr val="E0C68A"/>
                </a:solidFill>
                <a:latin typeface="Georgia" pitchFamily="34" charset="0"/>
                <a:ea typeface="Georgia" pitchFamily="34" charset="-122"/>
                <a:cs typeface="Georgia" pitchFamily="34" charset="-120"/>
              </a:rPr>
              <a:t>Para quienes trabajan en prevención esto importa: el objetivo no es que el juego desaparezca, es que quien juega quede dentro de un circuito donde existan herramientas de protección.</a:t>
            </a:r>
            <a:endParaRPr lang="en-US" sz="1600" dirty="0"/>
          </a:p>
        </p:txBody>
      </p:sp>
      <p:sp>
        <p:nvSpPr>
          <p:cNvPr id="14" name="Shape 12"/>
          <p:cNvSpPr/>
          <p:nvPr/>
        </p:nvSpPr>
        <p:spPr>
          <a:xfrm>
            <a:off x="685800" y="6144768"/>
            <a:ext cx="10820095" cy="20117"/>
          </a:xfrm>
          <a:prstGeom prst="rect">
            <a:avLst/>
          </a:prstGeom>
          <a:solidFill>
            <a:srgbClr val="C5A059"/>
          </a:solidFill>
          <a:ln w="12700">
            <a:solidFill>
              <a:srgbClr val="C5A059"/>
            </a:solidFill>
            <a:prstDash val="solid"/>
          </a:ln>
        </p:spPr>
      </p:sp>
      <p:sp>
        <p:nvSpPr>
          <p:cNvPr id="15" name="Text 13"/>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Griffiths, M. D., &amp; Parke, J. (2002). “The social impact of internet gambling”. Social Science Computer Review, 20(3), 312-320.  ·  Regulus Partners (2024). Análisis sobre mercado no regulado y canalización del juego online. Londres.  ·  Nota: las frases atribuidas a Griffiths sobre el caso de Finlandia y sobre la prohibición del juego no pudieron verificarse en fuentes primarias y no se citan como suyas.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BLOQUE 5 — EL DEBATE REGULATORIO</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Dónde está Argentina hoy</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1874520"/>
            <a:ext cx="3362858" cy="2377440"/>
          </a:xfrm>
          <a:prstGeom prst="rect">
            <a:avLst/>
          </a:prstGeom>
          <a:solidFill>
            <a:srgbClr val="16304C"/>
          </a:solidFill>
          <a:ln w="12700">
            <a:solidFill>
              <a:srgbClr val="16304C"/>
            </a:solidFill>
            <a:prstDash val="solid"/>
          </a:ln>
        </p:spPr>
      </p:sp>
      <p:sp>
        <p:nvSpPr>
          <p:cNvPr id="6" name="Shape 4"/>
          <p:cNvSpPr/>
          <p:nvPr/>
        </p:nvSpPr>
        <p:spPr>
          <a:xfrm>
            <a:off x="685800" y="1874520"/>
            <a:ext cx="45720" cy="2377440"/>
          </a:xfrm>
          <a:prstGeom prst="rect">
            <a:avLst/>
          </a:prstGeom>
          <a:solidFill>
            <a:srgbClr val="C5A059"/>
          </a:solidFill>
          <a:ln w="12700">
            <a:solidFill>
              <a:srgbClr val="C5A059"/>
            </a:solidFill>
            <a:prstDash val="solid"/>
          </a:ln>
        </p:spPr>
      </p:sp>
      <p:sp>
        <p:nvSpPr>
          <p:cNvPr id="7" name="Text 5"/>
          <p:cNvSpPr/>
          <p:nvPr/>
        </p:nvSpPr>
        <p:spPr>
          <a:xfrm>
            <a:off x="941832" y="205740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EL MARCO</a:t>
            </a:r>
            <a:endParaRPr lang="en-US" sz="1100" dirty="0"/>
          </a:p>
        </p:txBody>
      </p:sp>
      <p:sp>
        <p:nvSpPr>
          <p:cNvPr id="8" name="Text 6"/>
          <p:cNvSpPr/>
          <p:nvPr/>
        </p:nvSpPr>
        <p:spPr>
          <a:xfrm>
            <a:off x="941832" y="2404872"/>
            <a:ext cx="2859938" cy="169164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El juego online se regula por provincia. Desde 2022 está legalizado en la mayoría del país, lo que ordenó el mercado formal pero también multiplicó la oferta y la publicidad.</a:t>
            </a:r>
            <a:endParaRPr lang="en-US" sz="1350" dirty="0"/>
          </a:p>
        </p:txBody>
      </p:sp>
      <p:sp>
        <p:nvSpPr>
          <p:cNvPr id="9" name="Shape 7"/>
          <p:cNvSpPr/>
          <p:nvPr/>
        </p:nvSpPr>
        <p:spPr>
          <a:xfrm>
            <a:off x="4414418" y="1874520"/>
            <a:ext cx="3362858" cy="2377440"/>
          </a:xfrm>
          <a:prstGeom prst="rect">
            <a:avLst/>
          </a:prstGeom>
          <a:solidFill>
            <a:srgbClr val="16304C"/>
          </a:solidFill>
          <a:ln w="12700">
            <a:solidFill>
              <a:srgbClr val="16304C"/>
            </a:solidFill>
            <a:prstDash val="solid"/>
          </a:ln>
        </p:spPr>
      </p:sp>
      <p:sp>
        <p:nvSpPr>
          <p:cNvPr id="10" name="Shape 8"/>
          <p:cNvSpPr/>
          <p:nvPr/>
        </p:nvSpPr>
        <p:spPr>
          <a:xfrm>
            <a:off x="4414418" y="1874520"/>
            <a:ext cx="45720" cy="2377440"/>
          </a:xfrm>
          <a:prstGeom prst="rect">
            <a:avLst/>
          </a:prstGeom>
          <a:solidFill>
            <a:srgbClr val="C5A059"/>
          </a:solidFill>
          <a:ln w="12700">
            <a:solidFill>
              <a:srgbClr val="C5A059"/>
            </a:solidFill>
            <a:prstDash val="solid"/>
          </a:ln>
        </p:spPr>
      </p:sp>
      <p:sp>
        <p:nvSpPr>
          <p:cNvPr id="11" name="Text 9"/>
          <p:cNvSpPr/>
          <p:nvPr/>
        </p:nvSpPr>
        <p:spPr>
          <a:xfrm>
            <a:off x="4670450" y="205740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LA MEDIA SANCIÓN</a:t>
            </a:r>
            <a:endParaRPr lang="en-US" sz="1100" dirty="0"/>
          </a:p>
        </p:txBody>
      </p:sp>
      <p:sp>
        <p:nvSpPr>
          <p:cNvPr id="12" name="Text 10"/>
          <p:cNvSpPr/>
          <p:nvPr/>
        </p:nvSpPr>
        <p:spPr>
          <a:xfrm>
            <a:off x="4670450" y="2404872"/>
            <a:ext cx="2859938" cy="169164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En noviembre de 2024 Diputados aprobó el proyecto de Prevención de Ludopatía y Regulación de Apuestas en Línea: prohibición de publicidad en medios y eventos deportivos y verificación de identidad. Sigue pendiente en el Senado.</a:t>
            </a:r>
            <a:endParaRPr lang="en-US" sz="1350" dirty="0"/>
          </a:p>
        </p:txBody>
      </p:sp>
      <p:sp>
        <p:nvSpPr>
          <p:cNvPr id="13" name="Shape 11"/>
          <p:cNvSpPr/>
          <p:nvPr/>
        </p:nvSpPr>
        <p:spPr>
          <a:xfrm>
            <a:off x="8143037" y="1874520"/>
            <a:ext cx="3362858" cy="2377440"/>
          </a:xfrm>
          <a:prstGeom prst="rect">
            <a:avLst/>
          </a:prstGeom>
          <a:solidFill>
            <a:srgbClr val="16304C"/>
          </a:solidFill>
          <a:ln w="12700">
            <a:solidFill>
              <a:srgbClr val="16304C"/>
            </a:solidFill>
            <a:prstDash val="solid"/>
          </a:ln>
        </p:spPr>
      </p:sp>
      <p:sp>
        <p:nvSpPr>
          <p:cNvPr id="14" name="Shape 12"/>
          <p:cNvSpPr/>
          <p:nvPr/>
        </p:nvSpPr>
        <p:spPr>
          <a:xfrm>
            <a:off x="8143037" y="1874520"/>
            <a:ext cx="45720" cy="2377440"/>
          </a:xfrm>
          <a:prstGeom prst="rect">
            <a:avLst/>
          </a:prstGeom>
          <a:solidFill>
            <a:srgbClr val="C5A059"/>
          </a:solidFill>
          <a:ln w="12700">
            <a:solidFill>
              <a:srgbClr val="C5A059"/>
            </a:solidFill>
            <a:prstDash val="solid"/>
          </a:ln>
        </p:spPr>
      </p:sp>
      <p:sp>
        <p:nvSpPr>
          <p:cNvPr id="15" name="Text 13"/>
          <p:cNvSpPr/>
          <p:nvPr/>
        </p:nvSpPr>
        <p:spPr>
          <a:xfrm>
            <a:off x="8399069" y="205740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QUÉ RESPALDA LA EVIDENCIA</a:t>
            </a:r>
            <a:endParaRPr lang="en-US" sz="1100" dirty="0"/>
          </a:p>
        </p:txBody>
      </p:sp>
      <p:sp>
        <p:nvSpPr>
          <p:cNvPr id="16" name="Text 14"/>
          <p:cNvSpPr/>
          <p:nvPr/>
        </p:nvSpPr>
        <p:spPr>
          <a:xfrm>
            <a:off x="8399069" y="2404872"/>
            <a:ext cx="2859938" cy="1691640"/>
          </a:xfrm>
          <a:prstGeom prst="rect">
            <a:avLst/>
          </a:prstGeom>
          <a:noFill/>
          <a:ln/>
        </p:spPr>
        <p:txBody>
          <a:bodyPr wrap="square" rtlCol="0" anchor="t"/>
          <a:lstStyle/>
          <a:p>
            <a:pPr indent="0" marL="0">
              <a:lnSpc>
                <a:spcPct val="135000"/>
              </a:lnSpc>
              <a:buNone/>
            </a:pPr>
            <a:r>
              <a:rPr lang="en-US" sz="1350" dirty="0">
                <a:solidFill>
                  <a:srgbClr val="D3E4FB"/>
                </a:solidFill>
                <a:latin typeface="Calibri" pitchFamily="34" charset="0"/>
                <a:ea typeface="Calibri" pitchFamily="34" charset="-122"/>
                <a:cs typeface="Calibri" pitchFamily="34" charset="-120"/>
              </a:rPr>
              <a:t>Restringir la publicidad dirigida a jóvenes es de las medidas con mejor respaldo empírico: la exposición publicitaria se asocia con actitudes más favorables al juego y con mayor intención de apostar en adolescentes.</a:t>
            </a:r>
            <a:endParaRPr lang="en-US" sz="1350" dirty="0"/>
          </a:p>
        </p:txBody>
      </p:sp>
      <p:sp>
        <p:nvSpPr>
          <p:cNvPr id="17" name="Text 15"/>
          <p:cNvSpPr/>
          <p:nvPr/>
        </p:nvSpPr>
        <p:spPr>
          <a:xfrm>
            <a:off x="685800" y="4572000"/>
            <a:ext cx="10820095" cy="640080"/>
          </a:xfrm>
          <a:prstGeom prst="rect">
            <a:avLst/>
          </a:prstGeom>
          <a:noFill/>
          <a:ln/>
        </p:spPr>
        <p:txBody>
          <a:bodyPr wrap="square" rtlCol="0" anchor="ctr"/>
          <a:lstStyle/>
          <a:p>
            <a:pPr indent="0" marL="0">
              <a:lnSpc>
                <a:spcPct val="115000"/>
              </a:lnSpc>
              <a:buNone/>
            </a:pPr>
            <a:r>
              <a:rPr lang="en-US" sz="1600" i="1" dirty="0">
                <a:solidFill>
                  <a:srgbClr val="E0C68A"/>
                </a:solidFill>
                <a:latin typeface="Georgia" pitchFamily="34" charset="0"/>
                <a:ea typeface="Georgia" pitchFamily="34" charset="-122"/>
                <a:cs typeface="Georgia" pitchFamily="34" charset="-120"/>
              </a:rPr>
              <a:t>Que este tema llegue a un Concejo Deliberante no es un detalle: la prevención local y el marco normativo trabajan sobre el mismo problema, desde dos lugares distintos.</a:t>
            </a:r>
            <a:endParaRPr lang="en-US" sz="1600" dirty="0"/>
          </a:p>
        </p:txBody>
      </p:sp>
      <p:sp>
        <p:nvSpPr>
          <p:cNvPr id="18" name="Shape 16"/>
          <p:cNvSpPr/>
          <p:nvPr/>
        </p:nvSpPr>
        <p:spPr>
          <a:xfrm>
            <a:off x="685800" y="6144768"/>
            <a:ext cx="10820095" cy="20117"/>
          </a:xfrm>
          <a:prstGeom prst="rect">
            <a:avLst/>
          </a:prstGeom>
          <a:solidFill>
            <a:srgbClr val="C5A059"/>
          </a:solidFill>
          <a:ln w="12700">
            <a:solidFill>
              <a:srgbClr val="C5A059"/>
            </a:solidFill>
            <a:prstDash val="solid"/>
          </a:ln>
        </p:spPr>
      </p:sp>
      <p:sp>
        <p:nvSpPr>
          <p:cNvPr id="19" name="Text 17"/>
          <p:cNvSpPr/>
          <p:nvPr/>
        </p:nvSpPr>
        <p:spPr>
          <a:xfrm>
            <a:off x="685800" y="6217920"/>
            <a:ext cx="10820095" cy="502920"/>
          </a:xfrm>
          <a:prstGeom prst="rect">
            <a:avLst/>
          </a:prstGeom>
          <a:noFill/>
          <a:ln/>
        </p:spPr>
        <p:txBody>
          <a:bodyPr wrap="square" rtlCol="0" anchor="t"/>
          <a:lstStyle/>
          <a:p>
            <a:pPr indent="0" marL="0">
              <a:lnSpc>
                <a:spcPct val="105000"/>
              </a:lnSpc>
              <a:buNone/>
            </a:pPr>
            <a:r>
              <a:rPr lang="en-US" sz="900" i="1" dirty="0">
                <a:solidFill>
                  <a:srgbClr val="7C90AC"/>
                </a:solidFill>
                <a:latin typeface="Calibri" pitchFamily="34" charset="0"/>
                <a:ea typeface="Calibri" pitchFamily="34" charset="-122"/>
                <a:cs typeface="Calibri" pitchFamily="34" charset="-120"/>
              </a:rPr>
              <a:t>Cámara de Diputados de la Nación Argentina (2024). Proyecto de Ley de Prevención de Ludopatía y Regulación de Apuestas en Línea, media sanción de noviembre de 2024.  ·  Binde, P. (2014). Gambling advertising: A critical research review. Londres: Responsible Gambling Trust.  ·  Derevensky, J. L., Sklar, A., Gupta, R., &amp; Messerlian, C. (2010). “An empirical study examining the impact of gambling advertisements on adolescent gambling attitudes and behaviors”. International Journal of Mental Health and Addiction, 8(1), 21-34.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CIERRE</a:t>
            </a:r>
            <a:endParaRPr lang="en-US" sz="1100" dirty="0"/>
          </a:p>
        </p:txBody>
      </p:sp>
      <p:sp>
        <p:nvSpPr>
          <p:cNvPr id="3" name="Text 1"/>
          <p:cNvSpPr/>
          <p:nvPr/>
        </p:nvSpPr>
        <p:spPr>
          <a:xfrm>
            <a:off x="685800" y="1371600"/>
            <a:ext cx="10820095" cy="1463040"/>
          </a:xfrm>
          <a:prstGeom prst="rect">
            <a:avLst/>
          </a:prstGeom>
          <a:noFill/>
          <a:ln/>
        </p:spPr>
        <p:txBody>
          <a:bodyPr wrap="square" rtlCol="0" anchor="ctr"/>
          <a:lstStyle/>
          <a:p>
            <a:pPr algn="ctr" indent="0" marL="0">
              <a:lnSpc>
                <a:spcPct val="110000"/>
              </a:lnSpc>
              <a:buNone/>
            </a:pPr>
            <a:r>
              <a:rPr lang="en-US" sz="3800" b="1" dirty="0">
                <a:solidFill>
                  <a:srgbClr val="FFFFFF"/>
                </a:solidFill>
                <a:latin typeface="Georgia" pitchFamily="34" charset="0"/>
                <a:ea typeface="Georgia" pitchFamily="34" charset="-122"/>
                <a:cs typeface="Georgia" pitchFamily="34" charset="-120"/>
              </a:rPr>
              <a:t>No hace falta ser especialista</a:t>
            </a:r>
            <a:endParaRPr lang="en-US" sz="3800" dirty="0"/>
          </a:p>
          <a:p>
            <a:pPr algn="ctr" indent="0" marL="0">
              <a:lnSpc>
                <a:spcPct val="110000"/>
              </a:lnSpc>
              <a:buNone/>
            </a:pPr>
            <a:r>
              <a:rPr lang="en-US" sz="3800" b="1" dirty="0">
                <a:solidFill>
                  <a:srgbClr val="FFFFFF"/>
                </a:solidFill>
                <a:latin typeface="Georgia" pitchFamily="34" charset="0"/>
                <a:ea typeface="Georgia" pitchFamily="34" charset="-122"/>
                <a:cs typeface="Georgia" pitchFamily="34" charset="-120"/>
              </a:rPr>
              <a:t>para hacer algo.</a:t>
            </a:r>
            <a:endParaRPr lang="en-US" sz="3800" dirty="0"/>
          </a:p>
        </p:txBody>
      </p:sp>
      <p:sp>
        <p:nvSpPr>
          <p:cNvPr id="4" name="Shape 2"/>
          <p:cNvSpPr/>
          <p:nvPr/>
        </p:nvSpPr>
        <p:spPr>
          <a:xfrm>
            <a:off x="5090008" y="2971800"/>
            <a:ext cx="2011680" cy="20117"/>
          </a:xfrm>
          <a:prstGeom prst="rect">
            <a:avLst/>
          </a:prstGeom>
          <a:solidFill>
            <a:srgbClr val="C5A059"/>
          </a:solidFill>
          <a:ln w="12700">
            <a:solidFill>
              <a:srgbClr val="C5A059"/>
            </a:solidFill>
            <a:prstDash val="solid"/>
          </a:ln>
        </p:spPr>
      </p:sp>
      <p:sp>
        <p:nvSpPr>
          <p:cNvPr id="5" name="Text 3"/>
          <p:cNvSpPr/>
          <p:nvPr/>
        </p:nvSpPr>
        <p:spPr>
          <a:xfrm>
            <a:off x="685800" y="3246120"/>
            <a:ext cx="10820095" cy="914400"/>
          </a:xfrm>
          <a:prstGeom prst="rect">
            <a:avLst/>
          </a:prstGeom>
          <a:noFill/>
          <a:ln/>
        </p:spPr>
        <p:txBody>
          <a:bodyPr wrap="square" rtlCol="0" anchor="ctr"/>
          <a:lstStyle/>
          <a:p>
            <a:pPr algn="ctr" indent="0" marL="0">
              <a:lnSpc>
                <a:spcPct val="125000"/>
              </a:lnSpc>
              <a:buNone/>
            </a:pPr>
            <a:r>
              <a:rPr lang="en-US" sz="2000" dirty="0">
                <a:solidFill>
                  <a:srgbClr val="D3E4FB"/>
                </a:solidFill>
                <a:latin typeface="Georgia" pitchFamily="34" charset="0"/>
                <a:ea typeface="Georgia" pitchFamily="34" charset="-122"/>
                <a:cs typeface="Georgia" pitchFamily="34" charset="-120"/>
              </a:rPr>
              <a:t>Hace falta reconocer una señal, saber hacer una pregunta y saber a quién derivar.</a:t>
            </a:r>
            <a:endParaRPr lang="en-US" sz="2000" dirty="0"/>
          </a:p>
          <a:p>
            <a:pPr algn="ctr" indent="0" marL="0">
              <a:lnSpc>
                <a:spcPct val="125000"/>
              </a:lnSpc>
              <a:buNone/>
            </a:pPr>
            <a:r>
              <a:rPr lang="en-US" sz="2000" dirty="0">
                <a:solidFill>
                  <a:srgbClr val="D3E4FB"/>
                </a:solidFill>
                <a:latin typeface="Georgia" pitchFamily="34" charset="0"/>
                <a:ea typeface="Georgia" pitchFamily="34" charset="-122"/>
                <a:cs typeface="Georgia" pitchFamily="34" charset="-120"/>
              </a:rPr>
              <a:t>Es exactamente lo que trabajamos hoy.</a:t>
            </a:r>
            <a:endParaRPr lang="en-US" sz="2000" dirty="0"/>
          </a:p>
        </p:txBody>
      </p:sp>
      <p:sp>
        <p:nvSpPr>
          <p:cNvPr id="6" name="Text 4"/>
          <p:cNvSpPr/>
          <p:nvPr/>
        </p:nvSpPr>
        <p:spPr>
          <a:xfrm>
            <a:off x="685800" y="4389120"/>
            <a:ext cx="10820095" cy="548640"/>
          </a:xfrm>
          <a:prstGeom prst="rect">
            <a:avLst/>
          </a:prstGeom>
          <a:noFill/>
          <a:ln/>
        </p:spPr>
        <p:txBody>
          <a:bodyPr wrap="square" rtlCol="0" anchor="ctr"/>
          <a:lstStyle/>
          <a:p>
            <a:pPr algn="ctr" indent="0" marL="0">
              <a:buNone/>
            </a:pPr>
            <a:r>
              <a:rPr lang="en-US" sz="2400" b="1" i="1" dirty="0">
                <a:solidFill>
                  <a:srgbClr val="E0C68A"/>
                </a:solidFill>
                <a:latin typeface="Georgia" pitchFamily="34" charset="0"/>
                <a:ea typeface="Georgia" pitchFamily="34" charset="-122"/>
                <a:cs typeface="Georgia" pitchFamily="34" charset="-120"/>
              </a:rPr>
              <a:t>En Balcarce, ustedes son el primer eslabón.</a:t>
            </a:r>
            <a:endParaRPr lang="en-US" sz="2400" dirty="0"/>
          </a:p>
        </p:txBody>
      </p:sp>
      <p:sp>
        <p:nvSpPr>
          <p:cNvPr id="7" name="Text 5"/>
          <p:cNvSpPr/>
          <p:nvPr/>
        </p:nvSpPr>
        <p:spPr>
          <a:xfrm>
            <a:off x="685800" y="5120640"/>
            <a:ext cx="10820095" cy="457200"/>
          </a:xfrm>
          <a:prstGeom prst="rect">
            <a:avLst/>
          </a:prstGeom>
          <a:noFill/>
          <a:ln/>
        </p:spPr>
        <p:txBody>
          <a:bodyPr wrap="square" rtlCol="0" anchor="ctr"/>
          <a:lstStyle/>
          <a:p>
            <a:pPr algn="ctr" indent="0" marL="0">
              <a:buNone/>
            </a:pPr>
            <a:r>
              <a:rPr lang="en-US" sz="1800" dirty="0">
                <a:solidFill>
                  <a:srgbClr val="9FB4D4"/>
                </a:solidFill>
                <a:latin typeface="Georgia" pitchFamily="34" charset="0"/>
                <a:ea typeface="Georgia" pitchFamily="34" charset="-122"/>
                <a:cs typeface="Georgia" pitchFamily="34" charset="-120"/>
              </a:rPr>
              <a:t>Gracias.</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CONTACTO</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Programa CASS</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Shape 3"/>
          <p:cNvSpPr/>
          <p:nvPr/>
        </p:nvSpPr>
        <p:spPr>
          <a:xfrm>
            <a:off x="685800" y="2011680"/>
            <a:ext cx="3362858" cy="2194560"/>
          </a:xfrm>
          <a:prstGeom prst="rect">
            <a:avLst/>
          </a:prstGeom>
          <a:solidFill>
            <a:srgbClr val="16304C"/>
          </a:solidFill>
          <a:ln w="12700">
            <a:solidFill>
              <a:srgbClr val="16304C"/>
            </a:solidFill>
            <a:prstDash val="solid"/>
          </a:ln>
        </p:spPr>
      </p:sp>
      <p:sp>
        <p:nvSpPr>
          <p:cNvPr id="6" name="Shape 4"/>
          <p:cNvSpPr/>
          <p:nvPr/>
        </p:nvSpPr>
        <p:spPr>
          <a:xfrm>
            <a:off x="685800" y="2011680"/>
            <a:ext cx="45720" cy="2194560"/>
          </a:xfrm>
          <a:prstGeom prst="rect">
            <a:avLst/>
          </a:prstGeom>
          <a:solidFill>
            <a:srgbClr val="C5A059"/>
          </a:solidFill>
          <a:ln w="12700">
            <a:solidFill>
              <a:srgbClr val="C5A059"/>
            </a:solidFill>
            <a:prstDash val="solid"/>
          </a:ln>
        </p:spPr>
      </p:sp>
      <p:sp>
        <p:nvSpPr>
          <p:cNvPr id="7" name="Text 5"/>
          <p:cNvSpPr/>
          <p:nvPr/>
        </p:nvSpPr>
        <p:spPr>
          <a:xfrm>
            <a:off x="941832" y="219456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CONSULTAS DE PROFESIONALES E INSTITUCIONES</a:t>
            </a:r>
            <a:endParaRPr lang="en-US" sz="1100" dirty="0"/>
          </a:p>
        </p:txBody>
      </p:sp>
      <p:sp>
        <p:nvSpPr>
          <p:cNvPr id="8" name="Text 6"/>
          <p:cNvSpPr/>
          <p:nvPr/>
        </p:nvSpPr>
        <p:spPr>
          <a:xfrm>
            <a:off x="941832" y="2542032"/>
            <a:ext cx="2859938" cy="1508760"/>
          </a:xfrm>
          <a:prstGeom prst="rect">
            <a:avLst/>
          </a:prstGeom>
          <a:noFill/>
          <a:ln/>
        </p:spPr>
        <p:txBody>
          <a:bodyPr wrap="square" rtlCol="0" anchor="t"/>
          <a:lstStyle/>
          <a:p>
            <a:pPr marL="152400" indent="-152400">
              <a:lnSpc>
                <a:spcPct val="140000"/>
              </a:lnSpc>
              <a:buSzPct val="100000"/>
              <a:buChar char="•"/>
            </a:pPr>
            <a:r>
              <a:rPr lang="en-US" sz="1350" dirty="0">
                <a:solidFill>
                  <a:srgbClr val="D3E4FB"/>
                </a:solidFill>
                <a:latin typeface="Calibri" pitchFamily="34" charset="0"/>
                <a:ea typeface="Calibri" pitchFamily="34" charset="-122"/>
                <a:cs typeface="Calibri" pitchFamily="34" charset="-120"/>
              </a:rPr>
              <a:t>WhatsApp: +54 9 223 522-0806</a:t>
            </a:r>
            <a:endParaRPr lang="en-US" sz="1350" dirty="0"/>
          </a:p>
          <a:p>
            <a:pPr marL="152400" indent="-152400">
              <a:lnSpc>
                <a:spcPct val="140000"/>
              </a:lnSpc>
              <a:buSzPct val="100000"/>
              <a:buChar char="•"/>
            </a:pPr>
            <a:r>
              <a:rPr lang="en-US" sz="1350" dirty="0">
                <a:solidFill>
                  <a:srgbClr val="D3E4FB"/>
                </a:solidFill>
                <a:latin typeface="Calibri" pitchFamily="34" charset="0"/>
                <a:ea typeface="Calibri" pitchFamily="34" charset="-122"/>
                <a:cs typeface="Calibri" pitchFamily="34" charset="-120"/>
              </a:rPr>
              <a:t>Mail: alesan23@gmail.com</a:t>
            </a:r>
            <a:endParaRPr lang="en-US" sz="1350" dirty="0"/>
          </a:p>
          <a:p>
            <a:pPr marL="152400" indent="-152400">
              <a:lnSpc>
                <a:spcPct val="140000"/>
              </a:lnSpc>
              <a:buSzPct val="100000"/>
              <a:buChar char="•"/>
            </a:pPr>
            <a:r>
              <a:rPr lang="en-US" sz="1350" dirty="0">
                <a:solidFill>
                  <a:srgbClr val="D3E4FB"/>
                </a:solidFill>
                <a:latin typeface="Calibri" pitchFamily="34" charset="0"/>
                <a:ea typeface="Calibri" pitchFamily="34" charset="-122"/>
                <a:cs typeface="Calibri" pitchFamily="34" charset="-120"/>
              </a:rPr>
              <a:t>Web: programacass.com</a:t>
            </a:r>
            <a:endParaRPr lang="en-US" sz="1350" dirty="0"/>
          </a:p>
          <a:p>
            <a:pPr marL="152400" indent="-152400">
              <a:lnSpc>
                <a:spcPct val="140000"/>
              </a:lnSpc>
              <a:buSzPct val="100000"/>
              <a:buChar char="•"/>
            </a:pPr>
            <a:r>
              <a:rPr lang="en-US" sz="1350" dirty="0">
                <a:solidFill>
                  <a:srgbClr val="D3E4FB"/>
                </a:solidFill>
                <a:latin typeface="Calibri" pitchFamily="34" charset="0"/>
                <a:ea typeface="Calibri" pitchFamily="34" charset="-122"/>
                <a:cs typeface="Calibri" pitchFamily="34" charset="-120"/>
              </a:rPr>
              <a:t>Instagram: @programacass</a:t>
            </a:r>
            <a:endParaRPr lang="en-US" sz="1350" dirty="0"/>
          </a:p>
        </p:txBody>
      </p:sp>
      <p:sp>
        <p:nvSpPr>
          <p:cNvPr id="9" name="Shape 7"/>
          <p:cNvSpPr/>
          <p:nvPr/>
        </p:nvSpPr>
        <p:spPr>
          <a:xfrm>
            <a:off x="4414418" y="2011680"/>
            <a:ext cx="3362858" cy="2194560"/>
          </a:xfrm>
          <a:prstGeom prst="rect">
            <a:avLst/>
          </a:prstGeom>
          <a:solidFill>
            <a:srgbClr val="16304C"/>
          </a:solidFill>
          <a:ln w="12700">
            <a:solidFill>
              <a:srgbClr val="16304C"/>
            </a:solidFill>
            <a:prstDash val="solid"/>
          </a:ln>
        </p:spPr>
      </p:sp>
      <p:sp>
        <p:nvSpPr>
          <p:cNvPr id="10" name="Shape 8"/>
          <p:cNvSpPr/>
          <p:nvPr/>
        </p:nvSpPr>
        <p:spPr>
          <a:xfrm>
            <a:off x="4414418" y="2011680"/>
            <a:ext cx="45720" cy="2194560"/>
          </a:xfrm>
          <a:prstGeom prst="rect">
            <a:avLst/>
          </a:prstGeom>
          <a:solidFill>
            <a:srgbClr val="C5A059"/>
          </a:solidFill>
          <a:ln w="12700">
            <a:solidFill>
              <a:srgbClr val="C5A059"/>
            </a:solidFill>
            <a:prstDash val="solid"/>
          </a:ln>
        </p:spPr>
      </p:sp>
      <p:sp>
        <p:nvSpPr>
          <p:cNvPr id="11" name="Text 9"/>
          <p:cNvSpPr/>
          <p:nvPr/>
        </p:nvSpPr>
        <p:spPr>
          <a:xfrm>
            <a:off x="4670450" y="219456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SEDES</a:t>
            </a:r>
            <a:endParaRPr lang="en-US" sz="1100" dirty="0"/>
          </a:p>
        </p:txBody>
      </p:sp>
      <p:sp>
        <p:nvSpPr>
          <p:cNvPr id="12" name="Text 10"/>
          <p:cNvSpPr/>
          <p:nvPr/>
        </p:nvSpPr>
        <p:spPr>
          <a:xfrm>
            <a:off x="4670450" y="2542032"/>
            <a:ext cx="2859938" cy="1508760"/>
          </a:xfrm>
          <a:prstGeom prst="rect">
            <a:avLst/>
          </a:prstGeom>
          <a:noFill/>
          <a:ln/>
        </p:spPr>
        <p:txBody>
          <a:bodyPr wrap="square" rtlCol="0" anchor="t"/>
          <a:lstStyle/>
          <a:p>
            <a:pPr marL="152400" indent="-152400">
              <a:lnSpc>
                <a:spcPct val="130000"/>
              </a:lnSpc>
              <a:buSzPct val="100000"/>
              <a:buChar char="•"/>
            </a:pPr>
            <a:r>
              <a:rPr lang="en-US" sz="1250" dirty="0">
                <a:solidFill>
                  <a:srgbClr val="D3E4FB"/>
                </a:solidFill>
                <a:latin typeface="Calibri" pitchFamily="34" charset="0"/>
                <a:ea typeface="Calibri" pitchFamily="34" charset="-122"/>
                <a:cs typeface="Calibri" pitchFamily="34" charset="-120"/>
              </a:rPr>
              <a:t>Consultorios FADE — Moreno 3215, 1.er piso of. 2, Mar del Plata. Tel. 223 4940697</a:t>
            </a:r>
            <a:endParaRPr lang="en-US" sz="1250" dirty="0"/>
          </a:p>
          <a:p>
            <a:pPr marL="152400" indent="-152400">
              <a:lnSpc>
                <a:spcPct val="130000"/>
              </a:lnSpc>
              <a:buSzPct val="100000"/>
              <a:buChar char="•"/>
            </a:pPr>
            <a:r>
              <a:rPr lang="en-US" sz="1250" dirty="0">
                <a:solidFill>
                  <a:srgbClr val="D3E4FB"/>
                </a:solidFill>
                <a:latin typeface="Calibri" pitchFamily="34" charset="0"/>
                <a:ea typeface="Calibri" pitchFamily="34" charset="-122"/>
                <a:cs typeface="Calibri" pitchFamily="34" charset="-120"/>
              </a:rPr>
              <a:t>Consultorios Lucero — Córdoba 2893, Mar del Plata. Tel. 223 522-0806 · 223 544-6072</a:t>
            </a:r>
            <a:endParaRPr lang="en-US" sz="1250" dirty="0"/>
          </a:p>
        </p:txBody>
      </p:sp>
      <p:sp>
        <p:nvSpPr>
          <p:cNvPr id="13" name="Shape 11"/>
          <p:cNvSpPr/>
          <p:nvPr/>
        </p:nvSpPr>
        <p:spPr>
          <a:xfrm>
            <a:off x="8143037" y="2011680"/>
            <a:ext cx="3362858" cy="2194560"/>
          </a:xfrm>
          <a:prstGeom prst="rect">
            <a:avLst/>
          </a:prstGeom>
          <a:solidFill>
            <a:srgbClr val="16304C"/>
          </a:solidFill>
          <a:ln w="12700">
            <a:solidFill>
              <a:srgbClr val="16304C"/>
            </a:solidFill>
            <a:prstDash val="solid"/>
          </a:ln>
        </p:spPr>
      </p:sp>
      <p:sp>
        <p:nvSpPr>
          <p:cNvPr id="14" name="Shape 12"/>
          <p:cNvSpPr/>
          <p:nvPr/>
        </p:nvSpPr>
        <p:spPr>
          <a:xfrm>
            <a:off x="8143037" y="2011680"/>
            <a:ext cx="45720" cy="2194560"/>
          </a:xfrm>
          <a:prstGeom prst="rect">
            <a:avLst/>
          </a:prstGeom>
          <a:solidFill>
            <a:srgbClr val="C5A059"/>
          </a:solidFill>
          <a:ln w="12700">
            <a:solidFill>
              <a:srgbClr val="C5A059"/>
            </a:solidFill>
            <a:prstDash val="solid"/>
          </a:ln>
        </p:spPr>
      </p:sp>
      <p:sp>
        <p:nvSpPr>
          <p:cNvPr id="15" name="Text 13"/>
          <p:cNvSpPr/>
          <p:nvPr/>
        </p:nvSpPr>
        <p:spPr>
          <a:xfrm>
            <a:off x="8399069" y="2194560"/>
            <a:ext cx="2905658" cy="274320"/>
          </a:xfrm>
          <a:prstGeom prst="rect">
            <a:avLst/>
          </a:prstGeom>
          <a:noFill/>
          <a:ln/>
        </p:spPr>
        <p:txBody>
          <a:bodyPr wrap="square" rtlCol="0" anchor="ctr"/>
          <a:lstStyle/>
          <a:p>
            <a:pPr indent="0" marL="0">
              <a:buNone/>
            </a:pPr>
            <a:r>
              <a:rPr lang="en-US" sz="1100" b="1" spc="160" kern="0" dirty="0">
                <a:solidFill>
                  <a:srgbClr val="C5A059"/>
                </a:solidFill>
                <a:latin typeface="Calibri" pitchFamily="34" charset="0"/>
                <a:ea typeface="Calibri" pitchFamily="34" charset="-122"/>
                <a:cs typeface="Calibri" pitchFamily="34" charset="-120"/>
              </a:rPr>
              <a:t>PARA DERIVAR HOY MISMO</a:t>
            </a:r>
            <a:endParaRPr lang="en-US" sz="1100" dirty="0"/>
          </a:p>
        </p:txBody>
      </p:sp>
      <p:sp>
        <p:nvSpPr>
          <p:cNvPr id="16" name="Text 14"/>
          <p:cNvSpPr/>
          <p:nvPr/>
        </p:nvSpPr>
        <p:spPr>
          <a:xfrm>
            <a:off x="8399069" y="2542032"/>
            <a:ext cx="2859938" cy="1508760"/>
          </a:xfrm>
          <a:prstGeom prst="rect">
            <a:avLst/>
          </a:prstGeom>
          <a:noFill/>
          <a:ln/>
        </p:spPr>
        <p:txBody>
          <a:bodyPr wrap="square" rtlCol="0" anchor="t"/>
          <a:lstStyle/>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Línea 141 — SEDRONAR, gratuita y 24 horas</a:t>
            </a:r>
            <a:endParaRPr lang="en-US" sz="1300" dirty="0"/>
          </a:p>
          <a:p>
            <a:pPr marL="152400" indent="-152400">
              <a:lnSpc>
                <a:spcPct val="130000"/>
              </a:lnSpc>
              <a:buSzPct val="100000"/>
              <a:buChar char="•"/>
            </a:pPr>
            <a:r>
              <a:rPr lang="en-US" sz="1300" dirty="0">
                <a:solidFill>
                  <a:srgbClr val="D3E4FB"/>
                </a:solidFill>
                <a:latin typeface="Calibri" pitchFamily="34" charset="0"/>
                <a:ea typeface="Calibri" pitchFamily="34" charset="-122"/>
                <a:cs typeface="Calibri" pitchFamily="34" charset="-120"/>
              </a:rPr>
              <a:t>Escriban al WhatsApp del Programa y coordinamos la derivación con la institución que corresponda</a:t>
            </a:r>
            <a:endParaRPr lang="en-US" sz="1300" dirty="0"/>
          </a:p>
        </p:txBody>
      </p:sp>
      <p:sp>
        <p:nvSpPr>
          <p:cNvPr id="17" name="Text 15"/>
          <p:cNvSpPr/>
          <p:nvPr/>
        </p:nvSpPr>
        <p:spPr>
          <a:xfrm>
            <a:off x="685800" y="4572000"/>
            <a:ext cx="10820095" cy="640080"/>
          </a:xfrm>
          <a:prstGeom prst="rect">
            <a:avLst/>
          </a:prstGeom>
          <a:noFill/>
          <a:ln/>
        </p:spPr>
        <p:txBody>
          <a:bodyPr wrap="square" rtlCol="0" anchor="ctr"/>
          <a:lstStyle/>
          <a:p>
            <a:pPr algn="ctr" indent="0" marL="0">
              <a:buNone/>
            </a:pPr>
            <a:r>
              <a:rPr lang="en-US" sz="3000" b="1" dirty="0">
                <a:solidFill>
                  <a:srgbClr val="E0C68A"/>
                </a:solidFill>
                <a:latin typeface="Georgia" pitchFamily="34" charset="0"/>
                <a:ea typeface="Georgia" pitchFamily="34" charset="-122"/>
                <a:cs typeface="Georgia" pitchFamily="34" charset="-120"/>
              </a:rPr>
              <a:t>Preguntas</a:t>
            </a:r>
            <a:endParaRPr lang="en-US" sz="3000" dirty="0"/>
          </a:p>
        </p:txBody>
      </p:sp>
      <p:sp>
        <p:nvSpPr>
          <p:cNvPr id="18" name="Text 16"/>
          <p:cNvSpPr/>
          <p:nvPr/>
        </p:nvSpPr>
        <p:spPr>
          <a:xfrm>
            <a:off x="685800" y="5760720"/>
            <a:ext cx="10820095" cy="365760"/>
          </a:xfrm>
          <a:prstGeom prst="rect">
            <a:avLst/>
          </a:prstGeom>
          <a:noFill/>
          <a:ln/>
        </p:spPr>
        <p:txBody>
          <a:bodyPr wrap="square" rtlCol="0" anchor="ctr"/>
          <a:lstStyle/>
          <a:p>
            <a:pPr algn="ctr" indent="0" marL="0">
              <a:buNone/>
            </a:pPr>
            <a:r>
              <a:rPr lang="en-US" sz="1100" dirty="0">
                <a:solidFill>
                  <a:srgbClr val="7C90AC"/>
                </a:solidFill>
                <a:latin typeface="Calibri" pitchFamily="34" charset="0"/>
                <a:ea typeface="Calibri" pitchFamily="34" charset="-122"/>
                <a:cs typeface="Calibri" pitchFamily="34" charset="-120"/>
              </a:rPr>
              <a:t>Programa CASS — Conductas Adictivas Sin Sustancia · Mar del Plata, desde 2007 · Lic. Alejandro G. Sánchez</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REFERENCIAS BIBLIOGRÁFICAS</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Referencias (1 de 2)</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Text 3"/>
          <p:cNvSpPr/>
          <p:nvPr/>
        </p:nvSpPr>
        <p:spPr>
          <a:xfrm>
            <a:off x="685800" y="1783080"/>
            <a:ext cx="5181448" cy="4480560"/>
          </a:xfrm>
          <a:prstGeom prst="rect">
            <a:avLst/>
          </a:prstGeom>
          <a:noFill/>
          <a:ln/>
        </p:spPr>
        <p:txBody>
          <a:bodyPr wrap="square" rtlCol="0" anchor="t"/>
          <a:lstStyle/>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American Psychiatric Association (1980). DSM-III. Washington DC: APA.</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American Psychiatric Association (2013). DSM-5: Diagnostic and Statistical Manual of Mental Disorders (5ª ed.). Washington DC: APA.</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Bandura, A. (1977). “Self-efficacy: Toward a unifying theory of behavioral change”. Psychological Review, 84(2), 191-215.</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Bilinkis, S. (2024). “Apuestas online: el método infalible para perder plata y más”. Futuro en Construcción, T13 E10.</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Binde, P. (2014). Gambling advertising: A critical research review. Londres: Responsible Gambling Trust.</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Cámara de Diputados de la Nación Argentina (2024). Proyecto de Ley de Prevención de Ludopatía y Regulación de Apuestas en Línea, media sanción de noviembre de 2024.</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Casey, B. J., Jones, R. M., &amp; Hare, T. A. (2008). “The adolescent brain”. Annals of the New York Academy of Sciences, 1124(1), 111-126.</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Defensoría del Pueblo de la Provincia de Buenos Aires — Observatorio de Adicciones y Consumos Problemáticos (2024). Informe sobre ludopatía en jóvenes y publicidad de apuestas.</a:t>
            </a:r>
            <a:endParaRPr lang="en-US" sz="950" dirty="0"/>
          </a:p>
        </p:txBody>
      </p:sp>
      <p:sp>
        <p:nvSpPr>
          <p:cNvPr id="6" name="Text 4"/>
          <p:cNvSpPr/>
          <p:nvPr/>
        </p:nvSpPr>
        <p:spPr>
          <a:xfrm>
            <a:off x="6324448" y="1783080"/>
            <a:ext cx="5181448" cy="4480560"/>
          </a:xfrm>
          <a:prstGeom prst="rect">
            <a:avLst/>
          </a:prstGeom>
          <a:noFill/>
          <a:ln/>
        </p:spPr>
        <p:txBody>
          <a:bodyPr wrap="square" rtlCol="0" anchor="t"/>
          <a:lstStyle/>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Derevensky, J. L., Sklar, A., Gupta, R., &amp; Messerlian, C. (2010). “An empirical study examining the impact of gambling advertisements on adolescent gambling attitudes and behaviors”. International Journal of Mental Health and Addiction, 8(1), 21-34.</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Derevensky, J. L., &amp; Gilbeau, L. (2019). “Adolescent gambling: Twenty-five years of research”. Canadian Journal of Addiction, 10(1), 10-20.</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Echeburúa, E., &amp; Corral, P. (2010). “Adicción a las nuevas tecnologías y a las redes sociales en jóvenes: un nuevo reto”. Adicciones, 22(2), 91-96.</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Ferris, J., &amp; Wynne, H. (2001). The Canadian Problem Gambling Index: Final Report. Ottawa: Canadian Centre on Substance Abuse.</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Forman, D. P., &amp; Boughter, J. R. (2024). “Motivational Interviewing Informed Interventions for Problem Gambling and Gambling Disorder: A Systematic Review and Meta-Analysis”.</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Gainsbury, S. M. (2015). “Online gambling addiction: The relationship between internet gambling and disordered gambling”. Current Addiction Reports, 2(2), 185-193.</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García-Caballero, A., Torrens-Lluch, M., Ramírez-Gendrau, I., Garrido, G., Vallès, V., &amp; Aragay, N. (2018). “Eficacia de la intervención motivacional y la terapia cognitivo-conductual para el tratamiento del juego patológico”. Adicciones, 30(3), 219-224.</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Grant, J. E., Potenza, M. N., Weinstein, A., &amp; Gorelick, D. A. (2010). “Introduction to behavioral addictions”. American Journal of Drug and Alcohol Abuse, 36(5), 233-241.</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32840"/>
        </a:solidFill>
      </p:bgPr>
    </p:bg>
    <p:spTree>
      <p:nvGrpSpPr>
        <p:cNvPr id="1" name=""/>
        <p:cNvGrpSpPr/>
        <p:nvPr/>
      </p:nvGrpSpPr>
      <p:grpSpPr>
        <a:xfrm>
          <a:off x="0" y="0"/>
          <a:ext cx="0" cy="0"/>
          <a:chOff x="0" y="0"/>
          <a:chExt cx="0" cy="0"/>
        </a:xfrm>
      </p:grpSpPr>
      <p:sp>
        <p:nvSpPr>
          <p:cNvPr id="2" name="Text 0"/>
          <p:cNvSpPr/>
          <p:nvPr/>
        </p:nvSpPr>
        <p:spPr>
          <a:xfrm>
            <a:off x="685800" y="384048"/>
            <a:ext cx="10820095" cy="274320"/>
          </a:xfrm>
          <a:prstGeom prst="rect">
            <a:avLst/>
          </a:prstGeom>
          <a:noFill/>
          <a:ln/>
        </p:spPr>
        <p:txBody>
          <a:bodyPr wrap="square" rtlCol="0" anchor="ctr"/>
          <a:lstStyle/>
          <a:p>
            <a:pPr indent="0" marL="0">
              <a:buNone/>
            </a:pPr>
            <a:r>
              <a:rPr lang="en-US" sz="1100" b="1" spc="260" kern="0" dirty="0">
                <a:solidFill>
                  <a:srgbClr val="C5A059"/>
                </a:solidFill>
                <a:latin typeface="Calibri" pitchFamily="34" charset="0"/>
                <a:ea typeface="Calibri" pitchFamily="34" charset="-122"/>
                <a:cs typeface="Calibri" pitchFamily="34" charset="-120"/>
              </a:rPr>
              <a:t>REFERENCIAS BIBLIOGRÁFICAS</a:t>
            </a:r>
            <a:endParaRPr lang="en-US" sz="1100" dirty="0"/>
          </a:p>
        </p:txBody>
      </p:sp>
      <p:sp>
        <p:nvSpPr>
          <p:cNvPr id="3" name="Text 1"/>
          <p:cNvSpPr/>
          <p:nvPr/>
        </p:nvSpPr>
        <p:spPr>
          <a:xfrm>
            <a:off x="685800" y="749808"/>
            <a:ext cx="10820095" cy="658368"/>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Referencias (2 de 2)</a:t>
            </a:r>
            <a:endParaRPr lang="en-US" sz="3000" dirty="0"/>
          </a:p>
        </p:txBody>
      </p:sp>
      <p:sp>
        <p:nvSpPr>
          <p:cNvPr id="4" name="Shape 2"/>
          <p:cNvSpPr/>
          <p:nvPr/>
        </p:nvSpPr>
        <p:spPr>
          <a:xfrm>
            <a:off x="685800" y="1444752"/>
            <a:ext cx="1371600" cy="20117"/>
          </a:xfrm>
          <a:prstGeom prst="rect">
            <a:avLst/>
          </a:prstGeom>
          <a:solidFill>
            <a:srgbClr val="C5A059"/>
          </a:solidFill>
          <a:ln w="12700">
            <a:solidFill>
              <a:srgbClr val="C5A059"/>
            </a:solidFill>
            <a:prstDash val="solid"/>
          </a:ln>
        </p:spPr>
      </p:sp>
      <p:sp>
        <p:nvSpPr>
          <p:cNvPr id="5" name="Text 3"/>
          <p:cNvSpPr/>
          <p:nvPr/>
        </p:nvSpPr>
        <p:spPr>
          <a:xfrm>
            <a:off x="685800" y="1783080"/>
            <a:ext cx="5181448" cy="4480560"/>
          </a:xfrm>
          <a:prstGeom prst="rect">
            <a:avLst/>
          </a:prstGeom>
          <a:noFill/>
          <a:ln/>
        </p:spPr>
        <p:txBody>
          <a:bodyPr wrap="square" rtlCol="0" anchor="t"/>
          <a:lstStyle/>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Griffiths, M. D. (1993). “Fruit machine gambling: The importance of structural characteristics”. Journal of Gambling Studies, 9(2), 101-120.</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Griffiths, M. D. (2005). “A ‘components’ model of addiction within a biopsychosocial framework”. Journal of Substance Use, 10(4), 191-197.</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Griffiths, M. D., &amp; Parke, J. (2002). “The social impact of internet gambling”. Social Science Computer Review, 20(3), 312-320.</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Hodgins, D. C., Currie, S. R., &amp; el-Guebaly, N. (2001). “Motivational enhancement and self-help treatments for problem gambling”. Journal of Consulting and Clinical Psychology, 69(1), 50-57.</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Johnson, E. E., Hamer, R., Nora, R. M., Tan, B., Eisenstein, N., &amp; Engelhart, C. (1997). “The Lie/Bet Questionnaire for screening pathological gamblers”. Psychological Reports, 80(1), 83-88.</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Ladouceur, R., &amp; Walker, M. (1996). “A cognitive perspective on gambling”. En P. M. Salkovskis (Ed.), Trends in Cognitive and Behavioural Therapies. Chichester: Wiley.</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Lesieur, H. R., &amp; Blume, S. B. (1987). “The South Oaks Gambling Screen (SOGS)”. American Journal of Psychiatry, 144(9), 1184-1188.</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Lorains, F. K., Cowlishaw, S., &amp; Thomas, S. A. (2011). “Prevalence of comorbid disorders in problem and pathological gambling: Systematic review and meta-analysis of population surveys”. Addiction, 106(3), 490-498.</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Miller, W. R., &amp; Rollnick, S. (1999). La entrevista motivacional: preparar para el cambio de conductas adictivas. Barcelona: Paidós. [Original: Motivational Interviewing: Preparing People for Change. Nueva York: Guilford Press, 1991.]</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Observatorio Español de las Drogas y las Adicciones (2024). Informe sobre Adicciones Comportamentales. Madrid: Ministerio de Sanidad. Encuestas ESTUDES 2023 (n = 42.208) y EDADES 2024 (n = 26.878).</a:t>
            </a:r>
            <a:endParaRPr lang="en-US" sz="950" dirty="0"/>
          </a:p>
        </p:txBody>
      </p:sp>
      <p:sp>
        <p:nvSpPr>
          <p:cNvPr id="6" name="Text 4"/>
          <p:cNvSpPr/>
          <p:nvPr/>
        </p:nvSpPr>
        <p:spPr>
          <a:xfrm>
            <a:off x="6324448" y="1783080"/>
            <a:ext cx="5181448" cy="4480560"/>
          </a:xfrm>
          <a:prstGeom prst="rect">
            <a:avLst/>
          </a:prstGeom>
          <a:noFill/>
          <a:ln/>
        </p:spPr>
        <p:txBody>
          <a:bodyPr wrap="square" rtlCol="0" anchor="t"/>
          <a:lstStyle/>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Prochaska, J. O., &amp; DiClemente, C. C. (1983). “Stages and processes of self-change of smoking: Toward an integrative model of change”. Journal of Consulting and Clinical Psychology, 51(3), 390-395.</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Regulus Partners (2024). Análisis sobre mercado no regulado y canalización del juego online. Londres.</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Schultz, W., Dayan, P., &amp; Montague, P. R. (1997). “A neural substrate of prediction and reward”. Science, 275(5306), 1593-1599.</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SEDRONAR (2023). Estudio sobre consumos problemáticos y juego en estudiantes universitarios. Buenos Aires.</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Skinner, B. F. (1938). The Behavior of Organisms: An Experimental Analysis. Nueva York: Appleton-Century-Crofts.</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Steinberg, L. (2008). “A social neuroscience perspective on adolescent risk-taking”. Developmental Review, 28(1), 78-106.</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Wagenaar, W. A. (1988). Paradoxes of Gambling Behaviour. Hove: Lawrence Erlbaum.</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World Health Organization (2018). ICD-11: International Classification of Diseases, 11th Revision. Ginebra: OMS.</a:t>
            </a:r>
            <a:endParaRPr lang="en-US" sz="950" dirty="0"/>
          </a:p>
          <a:p>
            <a:pPr marL="152400" indent="-152400">
              <a:lnSpc>
                <a:spcPct val="115000"/>
              </a:lnSpc>
              <a:buSzPct val="100000"/>
              <a:buChar char="•"/>
            </a:pPr>
            <a:r>
              <a:rPr lang="en-US" sz="950" dirty="0">
                <a:solidFill>
                  <a:srgbClr val="9FB4D4"/>
                </a:solidFill>
                <a:latin typeface="Calibri" pitchFamily="34" charset="0"/>
                <a:ea typeface="Calibri" pitchFamily="34" charset="-122"/>
                <a:cs typeface="Calibri" pitchFamily="34" charset="-120"/>
              </a:rPr>
              <a:t>Yakovenko, I., Quigley, L., Hemmelgarn, B. R., Hodgins, D. C., &amp; Ronksley, P. (2015). “The efficacy of motivational interviewing for disordered gambling: Systematic review and meta-analysis”. Addictive Behaviors, 43, 72-82.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Programa CASS — Conductas Adictivas Sin Sustancia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Cuando apostar deja de ser un juego</dc:title>
  <dc:subject>PptxGenJS Presentation</dc:subject>
  <dc:creator>Programa CASS — Lic. Alejandro G. Sánchez</dc:creator>
  <cp:lastModifiedBy>Programa CASS — Lic. Alejandro G. Sánchez</cp:lastModifiedBy>
  <cp:revision>1</cp:revision>
  <dcterms:created xsi:type="dcterms:W3CDTF">2026-08-03T23:12:15Z</dcterms:created>
  <dcterms:modified xsi:type="dcterms:W3CDTF">2026-08-03T23:12:15Z</dcterms:modified>
</cp:coreProperties>
</file>