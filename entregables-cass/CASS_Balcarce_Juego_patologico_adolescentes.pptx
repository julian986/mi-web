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C5A059"/>
          </a:solidFill>
          <a:ln w="12700">
            <a:solidFill>
              <a:srgbClr val="C5A059"/>
            </a:solidFill>
            <a:prstDash val="solid"/>
          </a:ln>
        </p:spPr>
      </p:sp>
      <p:sp>
        <p:nvSpPr>
          <p:cNvPr id="3" name="Text 1"/>
          <p:cNvSpPr/>
          <p:nvPr/>
        </p:nvSpPr>
        <p:spPr>
          <a:xfrm>
            <a:off x="640080" y="1325880"/>
            <a:ext cx="10911535" cy="320040"/>
          </a:xfrm>
          <a:prstGeom prst="rect">
            <a:avLst/>
          </a:prstGeom>
          <a:noFill/>
          <a:ln/>
        </p:spPr>
        <p:txBody>
          <a:bodyPr wrap="square" rtlCol="0" anchor="ctr"/>
          <a:lstStyle/>
          <a:p>
            <a:pPr algn="ctr" indent="0" marL="0">
              <a:buNone/>
            </a:pPr>
            <a:r>
              <a:rPr lang="en-US" sz="1300" b="1" spc="300" kern="0" dirty="0">
                <a:solidFill>
                  <a:srgbClr val="C5A059"/>
                </a:solidFill>
                <a:latin typeface="Calibri" pitchFamily="34" charset="0"/>
                <a:ea typeface="Calibri" pitchFamily="34" charset="-122"/>
                <a:cs typeface="Calibri" pitchFamily="34" charset="-120"/>
              </a:rPr>
              <a:t>PROGRAMA CASS</a:t>
            </a:r>
            <a:endParaRPr lang="en-US" sz="1300" dirty="0"/>
          </a:p>
        </p:txBody>
      </p:sp>
      <p:sp>
        <p:nvSpPr>
          <p:cNvPr id="4" name="Text 2"/>
          <p:cNvSpPr/>
          <p:nvPr/>
        </p:nvSpPr>
        <p:spPr>
          <a:xfrm>
            <a:off x="822960" y="1783080"/>
            <a:ext cx="10545775" cy="1554480"/>
          </a:xfrm>
          <a:prstGeom prst="rect">
            <a:avLst/>
          </a:prstGeom>
          <a:noFill/>
          <a:ln/>
        </p:spPr>
        <p:txBody>
          <a:bodyPr wrap="square" rtlCol="0" anchor="ctr"/>
          <a:lstStyle/>
          <a:p>
            <a:pPr algn="ctr" indent="0" marL="0">
              <a:lnSpc>
                <a:spcPct val="108000"/>
              </a:lnSpc>
              <a:buNone/>
            </a:pPr>
            <a:r>
              <a:rPr lang="en-US" sz="3400" b="1" dirty="0">
                <a:solidFill>
                  <a:srgbClr val="FFFFFF"/>
                </a:solidFill>
                <a:latin typeface="Georgia" pitchFamily="34" charset="0"/>
                <a:ea typeface="Georgia" pitchFamily="34" charset="-122"/>
                <a:cs typeface="Georgia" pitchFamily="34" charset="-120"/>
              </a:rPr>
              <a:t>Juego patológico en adolescentes:</a:t>
            </a:r>
            <a:endParaRPr lang="en-US" sz="3400" dirty="0"/>
          </a:p>
          <a:p>
            <a:pPr algn="ctr" indent="0" marL="0">
              <a:lnSpc>
                <a:spcPct val="108000"/>
              </a:lnSpc>
              <a:buNone/>
            </a:pPr>
            <a:r>
              <a:rPr lang="en-US" sz="3400" b="1" dirty="0">
                <a:solidFill>
                  <a:srgbClr val="FFFFFF"/>
                </a:solidFill>
                <a:latin typeface="Georgia" pitchFamily="34" charset="0"/>
                <a:ea typeface="Georgia" pitchFamily="34" charset="-122"/>
                <a:cs typeface="Georgia" pitchFamily="34" charset="-120"/>
              </a:rPr>
              <a:t>detección, intervención y derivación</a:t>
            </a:r>
            <a:endParaRPr lang="en-US" sz="3400" dirty="0"/>
          </a:p>
        </p:txBody>
      </p:sp>
      <p:sp>
        <p:nvSpPr>
          <p:cNvPr id="5" name="Shape 3"/>
          <p:cNvSpPr/>
          <p:nvPr/>
        </p:nvSpPr>
        <p:spPr>
          <a:xfrm>
            <a:off x="5090008" y="3520440"/>
            <a:ext cx="2011680" cy="20117"/>
          </a:xfrm>
          <a:prstGeom prst="rect">
            <a:avLst/>
          </a:prstGeom>
          <a:solidFill>
            <a:srgbClr val="C5A059"/>
          </a:solidFill>
          <a:ln w="12700">
            <a:solidFill>
              <a:srgbClr val="C5A059"/>
            </a:solidFill>
            <a:prstDash val="solid"/>
          </a:ln>
        </p:spPr>
      </p:sp>
      <p:sp>
        <p:nvSpPr>
          <p:cNvPr id="6" name="Text 4"/>
          <p:cNvSpPr/>
          <p:nvPr/>
        </p:nvSpPr>
        <p:spPr>
          <a:xfrm>
            <a:off x="640080" y="3794760"/>
            <a:ext cx="10911535" cy="365760"/>
          </a:xfrm>
          <a:prstGeom prst="rect">
            <a:avLst/>
          </a:prstGeom>
          <a:noFill/>
          <a:ln/>
        </p:spPr>
        <p:txBody>
          <a:bodyPr wrap="square" rtlCol="0" anchor="ctr"/>
          <a:lstStyle/>
          <a:p>
            <a:pPr algn="ctr" indent="0" marL="0">
              <a:buNone/>
            </a:pPr>
            <a:r>
              <a:rPr lang="en-US" sz="1800" dirty="0">
                <a:solidFill>
                  <a:srgbClr val="D3E4FB"/>
                </a:solidFill>
                <a:latin typeface="Georgia" pitchFamily="34" charset="0"/>
                <a:ea typeface="Georgia" pitchFamily="34" charset="-122"/>
                <a:cs typeface="Georgia" pitchFamily="34" charset="-120"/>
              </a:rPr>
              <a:t>Capacitación para profesionales de salud y docentes</a:t>
            </a:r>
            <a:endParaRPr lang="en-US" sz="1800" dirty="0"/>
          </a:p>
        </p:txBody>
      </p:sp>
      <p:sp>
        <p:nvSpPr>
          <p:cNvPr id="7" name="Text 5"/>
          <p:cNvSpPr/>
          <p:nvPr/>
        </p:nvSpPr>
        <p:spPr>
          <a:xfrm>
            <a:off x="640080" y="4572000"/>
            <a:ext cx="10911535" cy="320040"/>
          </a:xfrm>
          <a:prstGeom prst="rect">
            <a:avLst/>
          </a:prstGeom>
          <a:noFill/>
          <a:ln/>
        </p:spPr>
        <p:txBody>
          <a:bodyPr wrap="square" rtlCol="0" anchor="ctr"/>
          <a:lstStyle/>
          <a:p>
            <a:pPr algn="ctr" indent="0" marL="0">
              <a:buNone/>
            </a:pPr>
            <a:r>
              <a:rPr lang="en-US" sz="1300" dirty="0">
                <a:solidFill>
                  <a:srgbClr val="9FB4D4"/>
                </a:solidFill>
                <a:latin typeface="Calibri" pitchFamily="34" charset="0"/>
                <a:ea typeface="Calibri" pitchFamily="34" charset="-122"/>
                <a:cs typeface="Calibri" pitchFamily="34" charset="-120"/>
              </a:rPr>
              <a:t>Concejo Deliberante de Balcarce  ·  martes 18 de agosto de 2026  ·  14:00 a 15:00 h</a:t>
            </a:r>
            <a:endParaRPr lang="en-US" sz="1300" dirty="0"/>
          </a:p>
        </p:txBody>
      </p:sp>
      <p:sp>
        <p:nvSpPr>
          <p:cNvPr id="8" name="Text 6"/>
          <p:cNvSpPr/>
          <p:nvPr/>
        </p:nvSpPr>
        <p:spPr>
          <a:xfrm>
            <a:off x="640080" y="4937760"/>
            <a:ext cx="10911535" cy="320040"/>
          </a:xfrm>
          <a:prstGeom prst="rect">
            <a:avLst/>
          </a:prstGeom>
          <a:noFill/>
          <a:ln/>
        </p:spPr>
        <p:txBody>
          <a:bodyPr wrap="square" rtlCol="0" anchor="ctr"/>
          <a:lstStyle/>
          <a:p>
            <a:pPr algn="ctr" indent="0" marL="0">
              <a:buNone/>
            </a:pPr>
            <a:r>
              <a:rPr lang="en-US" sz="1300" dirty="0">
                <a:solidFill>
                  <a:srgbClr val="C5A059"/>
                </a:solidFill>
                <a:latin typeface="Calibri" pitchFamily="34" charset="0"/>
                <a:ea typeface="Calibri" pitchFamily="34" charset="-122"/>
                <a:cs typeface="Calibri" pitchFamily="34" charset="-120"/>
              </a:rPr>
              <a:t>Lic. Alejandro G. Sánchez — Director del Programa CASS</a:t>
            </a:r>
            <a:endParaRPr lang="en-US" sz="1300" dirty="0"/>
          </a:p>
        </p:txBody>
      </p:sp>
      <p:sp>
        <p:nvSpPr>
          <p:cNvPr id="9" name="Text 7"/>
          <p:cNvSpPr/>
          <p:nvPr/>
        </p:nvSpPr>
        <p:spPr>
          <a:xfrm>
            <a:off x="640080" y="5989320"/>
            <a:ext cx="10911535" cy="274320"/>
          </a:xfrm>
          <a:prstGeom prst="rect">
            <a:avLst/>
          </a:prstGeom>
          <a:noFill/>
          <a:ln/>
        </p:spPr>
        <p:txBody>
          <a:bodyPr wrap="square" rtlCol="0" anchor="ctr"/>
          <a:lstStyle/>
          <a:p>
            <a:pPr algn="ctr" indent="0" marL="0">
              <a:buNone/>
            </a:pPr>
            <a:r>
              <a:rPr lang="en-US" sz="1100" dirty="0">
                <a:solidFill>
                  <a:srgbClr val="7C90AC"/>
                </a:solidFill>
                <a:latin typeface="Calibri" pitchFamily="34" charset="0"/>
                <a:ea typeface="Calibri" pitchFamily="34" charset="-122"/>
                <a:cs typeface="Calibri" pitchFamily="34" charset="-120"/>
              </a:rPr>
              <a:t>Conductas Adictivas Sin Sustancia · Mar del Plata, desde 2007 · programacass.com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BLOQUE 1 — APERTURA Y ENCUADRE</a:t>
            </a:r>
            <a:endParaRPr lang="en-US" sz="1100" dirty="0"/>
          </a:p>
        </p:txBody>
      </p:sp>
      <p:sp>
        <p:nvSpPr>
          <p:cNvPr id="3" name="Text 1"/>
          <p:cNvSpPr/>
          <p:nvPr/>
        </p:nvSpPr>
        <p:spPr>
          <a:xfrm>
            <a:off x="640080" y="621792"/>
            <a:ext cx="10911535" cy="658368"/>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De qué vamos a hablar y de qué no</a:t>
            </a:r>
            <a:endParaRPr lang="en-US" sz="2800" dirty="0"/>
          </a:p>
        </p:txBody>
      </p:sp>
      <p:sp>
        <p:nvSpPr>
          <p:cNvPr id="4" name="Shape 2"/>
          <p:cNvSpPr/>
          <p:nvPr/>
        </p:nvSpPr>
        <p:spPr>
          <a:xfrm>
            <a:off x="640080" y="1298448"/>
            <a:ext cx="1645920" cy="20117"/>
          </a:xfrm>
          <a:prstGeom prst="rect">
            <a:avLst/>
          </a:prstGeom>
          <a:solidFill>
            <a:srgbClr val="C5A059"/>
          </a:solidFill>
          <a:ln w="12700">
            <a:solidFill>
              <a:srgbClr val="C5A059"/>
            </a:solidFill>
            <a:prstDash val="solid"/>
          </a:ln>
        </p:spPr>
      </p:sp>
      <p:sp>
        <p:nvSpPr>
          <p:cNvPr id="5" name="Shape 3"/>
          <p:cNvSpPr/>
          <p:nvPr/>
        </p:nvSpPr>
        <p:spPr>
          <a:xfrm>
            <a:off x="640080" y="1600200"/>
            <a:ext cx="10911535" cy="1417320"/>
          </a:xfrm>
          <a:prstGeom prst="rect">
            <a:avLst/>
          </a:prstGeom>
          <a:solidFill>
            <a:srgbClr val="16304C"/>
          </a:solidFill>
          <a:ln w="12700">
            <a:solidFill>
              <a:srgbClr val="16304C"/>
            </a:solidFill>
            <a:prstDash val="solid"/>
          </a:ln>
        </p:spPr>
      </p:sp>
      <p:sp>
        <p:nvSpPr>
          <p:cNvPr id="6" name="Shape 4"/>
          <p:cNvSpPr/>
          <p:nvPr/>
        </p:nvSpPr>
        <p:spPr>
          <a:xfrm>
            <a:off x="640080" y="1600200"/>
            <a:ext cx="73152" cy="1417320"/>
          </a:xfrm>
          <a:prstGeom prst="rect">
            <a:avLst/>
          </a:prstGeom>
          <a:solidFill>
            <a:srgbClr val="C5A059"/>
          </a:solidFill>
          <a:ln w="12700">
            <a:solidFill>
              <a:srgbClr val="C5A059"/>
            </a:solidFill>
            <a:prstDash val="solid"/>
          </a:ln>
        </p:spPr>
      </p:sp>
      <p:sp>
        <p:nvSpPr>
          <p:cNvPr id="7" name="Text 5"/>
          <p:cNvSpPr/>
          <p:nvPr/>
        </p:nvSpPr>
        <p:spPr>
          <a:xfrm>
            <a:off x="960120" y="1783080"/>
            <a:ext cx="10408615" cy="1097280"/>
          </a:xfrm>
          <a:prstGeom prst="rect">
            <a:avLst/>
          </a:prstGeom>
          <a:noFill/>
          <a:ln/>
        </p:spPr>
        <p:txBody>
          <a:bodyPr wrap="square" rtlCol="0" anchor="ctr"/>
          <a:lstStyle/>
          <a:p>
            <a:pPr indent="0" marL="0">
              <a:lnSpc>
                <a:spcPct val="115000"/>
              </a:lnSpc>
              <a:buNone/>
            </a:pPr>
            <a:r>
              <a:rPr lang="en-US" sz="1700" i="1" dirty="0">
                <a:solidFill>
                  <a:srgbClr val="FFFFFF"/>
                </a:solidFill>
                <a:latin typeface="Georgia" pitchFamily="34" charset="0"/>
                <a:ea typeface="Georgia" pitchFamily="34" charset="-122"/>
                <a:cs typeface="Georgia" pitchFamily="34" charset="-120"/>
              </a:rPr>
              <a:t>“Hoy no vamos a hablar de si el juego es bueno o malo. Vamos a hablar de qué hacemos nosotros —como profesionales de salud y educación— cuando lo vemos aparecer en un adolescente.”</a:t>
            </a:r>
            <a:endParaRPr lang="en-US" sz="1700" dirty="0"/>
          </a:p>
        </p:txBody>
      </p:sp>
      <p:sp>
        <p:nvSpPr>
          <p:cNvPr id="8" name="Text 6"/>
          <p:cNvSpPr/>
          <p:nvPr/>
        </p:nvSpPr>
        <p:spPr>
          <a:xfrm>
            <a:off x="640080" y="3246120"/>
            <a:ext cx="10911535" cy="320040"/>
          </a:xfrm>
          <a:prstGeom prst="rect">
            <a:avLst/>
          </a:prstGeom>
          <a:noFill/>
          <a:ln/>
        </p:spPr>
        <p:txBody>
          <a:bodyPr wrap="square" rtlCol="0" anchor="ctr"/>
          <a:lstStyle/>
          <a:p>
            <a:pPr indent="0" marL="0">
              <a:buNone/>
            </a:pPr>
            <a:r>
              <a:rPr lang="en-US" sz="1300" b="1" dirty="0">
                <a:solidFill>
                  <a:srgbClr val="C5A059"/>
                </a:solidFill>
                <a:latin typeface="Calibri" pitchFamily="34" charset="0"/>
                <a:ea typeface="Calibri" pitchFamily="34" charset="-122"/>
                <a:cs typeface="Calibri" pitchFamily="34" charset="-120"/>
              </a:rPr>
              <a:t>Tres cosas para llevarse de esta hora</a:t>
            </a:r>
            <a:endParaRPr lang="en-US" sz="1300" dirty="0"/>
          </a:p>
        </p:txBody>
      </p:sp>
      <p:sp>
        <p:nvSpPr>
          <p:cNvPr id="9" name="Shape 7"/>
          <p:cNvSpPr/>
          <p:nvPr/>
        </p:nvSpPr>
        <p:spPr>
          <a:xfrm>
            <a:off x="640080" y="3703320"/>
            <a:ext cx="3393338" cy="1737360"/>
          </a:xfrm>
          <a:prstGeom prst="rect">
            <a:avLst/>
          </a:prstGeom>
          <a:solidFill>
            <a:srgbClr val="16304C"/>
          </a:solidFill>
          <a:ln w="12700">
            <a:solidFill>
              <a:srgbClr val="16304C"/>
            </a:solidFill>
            <a:prstDash val="solid"/>
          </a:ln>
        </p:spPr>
      </p:sp>
      <p:sp>
        <p:nvSpPr>
          <p:cNvPr id="10" name="Shape 8"/>
          <p:cNvSpPr/>
          <p:nvPr/>
        </p:nvSpPr>
        <p:spPr>
          <a:xfrm>
            <a:off x="640080" y="3703320"/>
            <a:ext cx="64008" cy="1737360"/>
          </a:xfrm>
          <a:prstGeom prst="rect">
            <a:avLst/>
          </a:prstGeom>
          <a:solidFill>
            <a:srgbClr val="C5A059"/>
          </a:solidFill>
          <a:ln w="12700">
            <a:solidFill>
              <a:srgbClr val="C5A059"/>
            </a:solidFill>
            <a:prstDash val="solid"/>
          </a:ln>
        </p:spPr>
      </p:sp>
      <p:sp>
        <p:nvSpPr>
          <p:cNvPr id="11" name="Text 9"/>
          <p:cNvSpPr/>
          <p:nvPr/>
        </p:nvSpPr>
        <p:spPr>
          <a:xfrm>
            <a:off x="896112" y="3867912"/>
            <a:ext cx="298185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01  RECONOCER UNA SEÑAL</a:t>
            </a:r>
            <a:endParaRPr lang="en-US" sz="1100" dirty="0"/>
          </a:p>
        </p:txBody>
      </p:sp>
      <p:sp>
        <p:nvSpPr>
          <p:cNvPr id="12" name="Text 10"/>
          <p:cNvSpPr/>
          <p:nvPr/>
        </p:nvSpPr>
        <p:spPr>
          <a:xfrm>
            <a:off x="896112" y="4206240"/>
            <a:ext cx="2981858" cy="1051560"/>
          </a:xfrm>
          <a:prstGeom prst="rect">
            <a:avLst/>
          </a:prstGeom>
          <a:noFill/>
          <a:ln/>
        </p:spPr>
        <p:txBody>
          <a:bodyPr wrap="square" rtlCol="0" anchor="ctr"/>
          <a:lstStyle/>
          <a:p>
            <a:pPr indent="0" marL="0">
              <a:lnSpc>
                <a:spcPct val="115000"/>
              </a:lnSpc>
              <a:buNone/>
            </a:pPr>
            <a:r>
              <a:rPr lang="en-US" sz="1400" dirty="0">
                <a:solidFill>
                  <a:srgbClr val="D3E4FB"/>
                </a:solidFill>
                <a:latin typeface="Calibri" pitchFamily="34" charset="0"/>
                <a:ea typeface="Calibri" pitchFamily="34" charset="-122"/>
                <a:cs typeface="Calibri" pitchFamily="34" charset="-120"/>
              </a:rPr>
              <a:t>Qué mirar en el aula, el EOE o el consultorio.</a:t>
            </a:r>
            <a:endParaRPr lang="en-US" sz="1400" dirty="0"/>
          </a:p>
        </p:txBody>
      </p:sp>
      <p:sp>
        <p:nvSpPr>
          <p:cNvPr id="13" name="Shape 11"/>
          <p:cNvSpPr/>
          <p:nvPr/>
        </p:nvSpPr>
        <p:spPr>
          <a:xfrm>
            <a:off x="4399178" y="3703320"/>
            <a:ext cx="3393338" cy="1737360"/>
          </a:xfrm>
          <a:prstGeom prst="rect">
            <a:avLst/>
          </a:prstGeom>
          <a:solidFill>
            <a:srgbClr val="16304C"/>
          </a:solidFill>
          <a:ln w="12700">
            <a:solidFill>
              <a:srgbClr val="16304C"/>
            </a:solidFill>
            <a:prstDash val="solid"/>
          </a:ln>
        </p:spPr>
      </p:sp>
      <p:sp>
        <p:nvSpPr>
          <p:cNvPr id="14" name="Shape 12"/>
          <p:cNvSpPr/>
          <p:nvPr/>
        </p:nvSpPr>
        <p:spPr>
          <a:xfrm>
            <a:off x="4399178" y="3703320"/>
            <a:ext cx="64008" cy="1737360"/>
          </a:xfrm>
          <a:prstGeom prst="rect">
            <a:avLst/>
          </a:prstGeom>
          <a:solidFill>
            <a:srgbClr val="C5A059"/>
          </a:solidFill>
          <a:ln w="12700">
            <a:solidFill>
              <a:srgbClr val="C5A059"/>
            </a:solidFill>
            <a:prstDash val="solid"/>
          </a:ln>
        </p:spPr>
      </p:sp>
      <p:sp>
        <p:nvSpPr>
          <p:cNvPr id="15" name="Text 13"/>
          <p:cNvSpPr/>
          <p:nvPr/>
        </p:nvSpPr>
        <p:spPr>
          <a:xfrm>
            <a:off x="4655210" y="3867912"/>
            <a:ext cx="298185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02  HACER UNA PREGUNTA</a:t>
            </a:r>
            <a:endParaRPr lang="en-US" sz="1100" dirty="0"/>
          </a:p>
        </p:txBody>
      </p:sp>
      <p:sp>
        <p:nvSpPr>
          <p:cNvPr id="16" name="Text 14"/>
          <p:cNvSpPr/>
          <p:nvPr/>
        </p:nvSpPr>
        <p:spPr>
          <a:xfrm>
            <a:off x="4655210" y="4206240"/>
            <a:ext cx="2981858" cy="1051560"/>
          </a:xfrm>
          <a:prstGeom prst="rect">
            <a:avLst/>
          </a:prstGeom>
          <a:noFill/>
          <a:ln/>
        </p:spPr>
        <p:txBody>
          <a:bodyPr wrap="square" rtlCol="0" anchor="ctr"/>
          <a:lstStyle/>
          <a:p>
            <a:pPr indent="0" marL="0">
              <a:lnSpc>
                <a:spcPct val="115000"/>
              </a:lnSpc>
              <a:buNone/>
            </a:pPr>
            <a:r>
              <a:rPr lang="en-US" sz="1400" dirty="0">
                <a:solidFill>
                  <a:srgbClr val="D3E4FB"/>
                </a:solidFill>
                <a:latin typeface="Calibri" pitchFamily="34" charset="0"/>
                <a:ea typeface="Calibri" pitchFamily="34" charset="-122"/>
                <a:cs typeface="Calibri" pitchFamily="34" charset="-120"/>
              </a:rPr>
              <a:t>Lie/Bet, DSM-5 y tamizaje según el rol.</a:t>
            </a:r>
            <a:endParaRPr lang="en-US" sz="1400" dirty="0"/>
          </a:p>
        </p:txBody>
      </p:sp>
      <p:sp>
        <p:nvSpPr>
          <p:cNvPr id="17" name="Shape 15"/>
          <p:cNvSpPr/>
          <p:nvPr/>
        </p:nvSpPr>
        <p:spPr>
          <a:xfrm>
            <a:off x="8158277" y="3703320"/>
            <a:ext cx="3393338" cy="1737360"/>
          </a:xfrm>
          <a:prstGeom prst="rect">
            <a:avLst/>
          </a:prstGeom>
          <a:solidFill>
            <a:srgbClr val="16304C"/>
          </a:solidFill>
          <a:ln w="12700">
            <a:solidFill>
              <a:srgbClr val="16304C"/>
            </a:solidFill>
            <a:prstDash val="solid"/>
          </a:ln>
        </p:spPr>
      </p:sp>
      <p:sp>
        <p:nvSpPr>
          <p:cNvPr id="18" name="Shape 16"/>
          <p:cNvSpPr/>
          <p:nvPr/>
        </p:nvSpPr>
        <p:spPr>
          <a:xfrm>
            <a:off x="8158277" y="3703320"/>
            <a:ext cx="64008" cy="1737360"/>
          </a:xfrm>
          <a:prstGeom prst="rect">
            <a:avLst/>
          </a:prstGeom>
          <a:solidFill>
            <a:srgbClr val="C5A059"/>
          </a:solidFill>
          <a:ln w="12700">
            <a:solidFill>
              <a:srgbClr val="C5A059"/>
            </a:solidFill>
            <a:prstDash val="solid"/>
          </a:ln>
        </p:spPr>
      </p:sp>
      <p:sp>
        <p:nvSpPr>
          <p:cNvPr id="19" name="Text 17"/>
          <p:cNvSpPr/>
          <p:nvPr/>
        </p:nvSpPr>
        <p:spPr>
          <a:xfrm>
            <a:off x="8414309" y="3867912"/>
            <a:ext cx="298185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03  SABER A QUIÉN DERIVAR</a:t>
            </a:r>
            <a:endParaRPr lang="en-US" sz="1100" dirty="0"/>
          </a:p>
        </p:txBody>
      </p:sp>
      <p:sp>
        <p:nvSpPr>
          <p:cNvPr id="20" name="Text 18"/>
          <p:cNvSpPr/>
          <p:nvPr/>
        </p:nvSpPr>
        <p:spPr>
          <a:xfrm>
            <a:off x="8414309" y="4206240"/>
            <a:ext cx="2981858" cy="1051560"/>
          </a:xfrm>
          <a:prstGeom prst="rect">
            <a:avLst/>
          </a:prstGeom>
          <a:noFill/>
          <a:ln/>
        </p:spPr>
        <p:txBody>
          <a:bodyPr wrap="square" rtlCol="0" anchor="ctr"/>
          <a:lstStyle/>
          <a:p>
            <a:pPr indent="0" marL="0">
              <a:lnSpc>
                <a:spcPct val="115000"/>
              </a:lnSpc>
              <a:buNone/>
            </a:pPr>
            <a:r>
              <a:rPr lang="en-US" sz="1400" dirty="0">
                <a:solidFill>
                  <a:srgbClr val="D3E4FB"/>
                </a:solidFill>
                <a:latin typeface="Calibri" pitchFamily="34" charset="0"/>
                <a:ea typeface="Calibri" pitchFamily="34" charset="-122"/>
                <a:cs typeface="Calibri" pitchFamily="34" charset="-120"/>
              </a:rPr>
              <a:t>Intervención breve (EM) + red local.</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BLOQUE 1 — CONTEXTO LOCAL</a:t>
            </a:r>
            <a:endParaRPr lang="en-US" sz="1100" dirty="0"/>
          </a:p>
        </p:txBody>
      </p:sp>
      <p:sp>
        <p:nvSpPr>
          <p:cNvPr id="3" name="Text 1"/>
          <p:cNvSpPr/>
          <p:nvPr/>
        </p:nvSpPr>
        <p:spPr>
          <a:xfrm>
            <a:off x="640080" y="621792"/>
            <a:ext cx="10911535" cy="658368"/>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Por qué el primer detector es crítico en Balcarce</a:t>
            </a:r>
            <a:endParaRPr lang="en-US" sz="2800" dirty="0"/>
          </a:p>
        </p:txBody>
      </p:sp>
      <p:sp>
        <p:nvSpPr>
          <p:cNvPr id="4" name="Shape 2"/>
          <p:cNvSpPr/>
          <p:nvPr/>
        </p:nvSpPr>
        <p:spPr>
          <a:xfrm>
            <a:off x="640080" y="1298448"/>
            <a:ext cx="1645920" cy="20117"/>
          </a:xfrm>
          <a:prstGeom prst="rect">
            <a:avLst/>
          </a:prstGeom>
          <a:solidFill>
            <a:srgbClr val="C5A059"/>
          </a:solidFill>
          <a:ln w="12700">
            <a:solidFill>
              <a:srgbClr val="C5A059"/>
            </a:solidFill>
            <a:prstDash val="solid"/>
          </a:ln>
        </p:spPr>
      </p:sp>
      <p:sp>
        <p:nvSpPr>
          <p:cNvPr id="5" name="Shape 3"/>
          <p:cNvSpPr/>
          <p:nvPr/>
        </p:nvSpPr>
        <p:spPr>
          <a:xfrm>
            <a:off x="640080" y="1600200"/>
            <a:ext cx="5272888" cy="3200400"/>
          </a:xfrm>
          <a:prstGeom prst="rect">
            <a:avLst/>
          </a:prstGeom>
          <a:solidFill>
            <a:srgbClr val="16304C"/>
          </a:solidFill>
          <a:ln w="12700">
            <a:solidFill>
              <a:srgbClr val="16304C"/>
            </a:solidFill>
            <a:prstDash val="solid"/>
          </a:ln>
        </p:spPr>
      </p:sp>
      <p:sp>
        <p:nvSpPr>
          <p:cNvPr id="6" name="Shape 4"/>
          <p:cNvSpPr/>
          <p:nvPr/>
        </p:nvSpPr>
        <p:spPr>
          <a:xfrm>
            <a:off x="640080" y="1600200"/>
            <a:ext cx="64008" cy="3200400"/>
          </a:xfrm>
          <a:prstGeom prst="rect">
            <a:avLst/>
          </a:prstGeom>
          <a:solidFill>
            <a:srgbClr val="C5A059"/>
          </a:solidFill>
          <a:ln w="12700">
            <a:solidFill>
              <a:srgbClr val="C5A059"/>
            </a:solidFill>
            <a:prstDash val="solid"/>
          </a:ln>
        </p:spPr>
      </p:sp>
      <p:sp>
        <p:nvSpPr>
          <p:cNvPr id="7" name="Text 5"/>
          <p:cNvSpPr/>
          <p:nvPr/>
        </p:nvSpPr>
        <p:spPr>
          <a:xfrm>
            <a:off x="896112" y="1764792"/>
            <a:ext cx="486140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LA SITUACIÓN DE BALCARCE</a:t>
            </a:r>
            <a:endParaRPr lang="en-US" sz="1100" dirty="0"/>
          </a:p>
        </p:txBody>
      </p:sp>
      <p:sp>
        <p:nvSpPr>
          <p:cNvPr id="8" name="Text 6"/>
          <p:cNvSpPr/>
          <p:nvPr/>
        </p:nvSpPr>
        <p:spPr>
          <a:xfrm>
            <a:off x="896112" y="2103120"/>
            <a:ext cx="4861408" cy="2514600"/>
          </a:xfrm>
          <a:prstGeom prst="rect">
            <a:avLst/>
          </a:prstGeom>
          <a:noFill/>
          <a:ln/>
        </p:spPr>
        <p:txBody>
          <a:bodyPr wrap="square" rtlCol="0" anchor="ctr"/>
          <a:lstStyle/>
          <a:p>
            <a:pPr marL="127000" indent="-127000">
              <a:buSzPct val="100000"/>
              <a:buChar char="•"/>
            </a:pPr>
            <a:r>
              <a:rPr lang="en-US" sz="1300" dirty="0">
                <a:solidFill>
                  <a:srgbClr val="D3E4FB"/>
                </a:solidFill>
                <a:latin typeface="Calibri" pitchFamily="34" charset="0"/>
                <a:ea typeface="Calibri" pitchFamily="34" charset="-122"/>
                <a:cs typeface="Calibri" pitchFamily="34" charset="-120"/>
              </a:rPr>
              <a:t>Municipio sin recursos especializados en adicciones conductuales.</a:t>
            </a:r>
            <a:endParaRPr lang="en-US" sz="1300" dirty="0"/>
          </a:p>
          <a:p>
            <a:pPr marL="127000" indent="-127000">
              <a:buSzPct val="100000"/>
              <a:buChar char="•"/>
            </a:pPr>
            <a:r>
              <a:rPr lang="en-US" sz="1300" dirty="0">
                <a:solidFill>
                  <a:srgbClr val="D3E4FB"/>
                </a:solidFill>
                <a:latin typeface="Calibri" pitchFamily="34" charset="0"/>
                <a:ea typeface="Calibri" pitchFamily="34" charset="-122"/>
                <a:cs typeface="Calibri" pitchFamily="34" charset="-120"/>
              </a:rPr>
              <a:t>El circuito de derivación pasa por Mar del Plata (~68 km).</a:t>
            </a:r>
            <a:endParaRPr lang="en-US" sz="1300" dirty="0"/>
          </a:p>
          <a:p>
            <a:pPr marL="127000" indent="-127000">
              <a:buSzPct val="100000"/>
              <a:buChar char="•"/>
            </a:pPr>
            <a:r>
              <a:rPr lang="en-US" sz="1300" dirty="0">
                <a:solidFill>
                  <a:srgbClr val="D3E4FB"/>
                </a:solidFill>
                <a:latin typeface="Calibri" pitchFamily="34" charset="0"/>
                <a:ea typeface="Calibri" pitchFamily="34" charset="-122"/>
                <a:cs typeface="Calibri" pitchFamily="34" charset="-120"/>
              </a:rPr>
              <a:t>La detección temprana es el recurso más valioso que tiene la ciudad.</a:t>
            </a:r>
            <a:endParaRPr lang="en-US" sz="1300" dirty="0"/>
          </a:p>
        </p:txBody>
      </p:sp>
      <p:sp>
        <p:nvSpPr>
          <p:cNvPr id="9" name="Shape 7"/>
          <p:cNvSpPr/>
          <p:nvPr/>
        </p:nvSpPr>
        <p:spPr>
          <a:xfrm>
            <a:off x="6278728" y="1600200"/>
            <a:ext cx="5272888" cy="3200400"/>
          </a:xfrm>
          <a:prstGeom prst="rect">
            <a:avLst/>
          </a:prstGeom>
          <a:solidFill>
            <a:srgbClr val="1B3855"/>
          </a:solidFill>
          <a:ln w="12700">
            <a:solidFill>
              <a:srgbClr val="1B3855"/>
            </a:solidFill>
            <a:prstDash val="solid"/>
          </a:ln>
        </p:spPr>
      </p:sp>
      <p:sp>
        <p:nvSpPr>
          <p:cNvPr id="10" name="Shape 8"/>
          <p:cNvSpPr/>
          <p:nvPr/>
        </p:nvSpPr>
        <p:spPr>
          <a:xfrm>
            <a:off x="6278728" y="1600200"/>
            <a:ext cx="64008" cy="3200400"/>
          </a:xfrm>
          <a:prstGeom prst="rect">
            <a:avLst/>
          </a:prstGeom>
          <a:solidFill>
            <a:srgbClr val="C5A059"/>
          </a:solidFill>
          <a:ln w="12700">
            <a:solidFill>
              <a:srgbClr val="C5A059"/>
            </a:solidFill>
            <a:prstDash val="solid"/>
          </a:ln>
        </p:spPr>
      </p:sp>
      <p:sp>
        <p:nvSpPr>
          <p:cNvPr id="11" name="Text 9"/>
          <p:cNvSpPr/>
          <p:nvPr/>
        </p:nvSpPr>
        <p:spPr>
          <a:xfrm>
            <a:off x="6534760" y="1764792"/>
            <a:ext cx="486140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QUIÉNES ESTÁN EN ESTA SALA</a:t>
            </a:r>
            <a:endParaRPr lang="en-US" sz="1100" dirty="0"/>
          </a:p>
        </p:txBody>
      </p:sp>
      <p:sp>
        <p:nvSpPr>
          <p:cNvPr id="12" name="Text 10"/>
          <p:cNvSpPr/>
          <p:nvPr/>
        </p:nvSpPr>
        <p:spPr>
          <a:xfrm>
            <a:off x="6534760" y="2103120"/>
            <a:ext cx="4861408" cy="2514600"/>
          </a:xfrm>
          <a:prstGeom prst="rect">
            <a:avLst/>
          </a:prstGeom>
          <a:noFill/>
          <a:ln/>
        </p:spPr>
        <p:txBody>
          <a:bodyPr wrap="square" rtlCol="0" anchor="ctr"/>
          <a:lstStyle/>
          <a:p>
            <a:pPr marL="127000" indent="-127000">
              <a:buSzPct val="100000"/>
              <a:buChar char="•"/>
            </a:pPr>
            <a:r>
              <a:rPr lang="en-US" sz="1300" dirty="0">
                <a:solidFill>
                  <a:srgbClr val="D3E4FB"/>
                </a:solidFill>
                <a:latin typeface="Calibri" pitchFamily="34" charset="0"/>
                <a:ea typeface="Calibri" pitchFamily="34" charset="-122"/>
                <a:cs typeface="Calibri" pitchFamily="34" charset="-120"/>
              </a:rPr>
              <a:t>Profesionales de salud: pediatría, salud mental, atención primaria.</a:t>
            </a:r>
            <a:endParaRPr lang="en-US" sz="1300" dirty="0"/>
          </a:p>
          <a:p>
            <a:pPr marL="127000" indent="-127000">
              <a:buSzPct val="100000"/>
              <a:buChar char="•"/>
            </a:pPr>
            <a:r>
              <a:rPr lang="en-US" sz="1300" dirty="0">
                <a:solidFill>
                  <a:srgbClr val="D3E4FB"/>
                </a:solidFill>
                <a:latin typeface="Calibri" pitchFamily="34" charset="0"/>
                <a:ea typeface="Calibri" pitchFamily="34" charset="-122"/>
                <a:cs typeface="Calibri" pitchFamily="34" charset="-120"/>
              </a:rPr>
              <a:t>Docentes, equipos directivos y EOE.</a:t>
            </a:r>
            <a:endParaRPr lang="en-US" sz="1300" dirty="0"/>
          </a:p>
          <a:p>
            <a:pPr marL="127000" indent="-127000">
              <a:buSzPct val="100000"/>
              <a:buChar char="•"/>
            </a:pPr>
            <a:r>
              <a:rPr lang="en-US" sz="1300" dirty="0">
                <a:solidFill>
                  <a:srgbClr val="D3E4FB"/>
                </a:solidFill>
                <a:latin typeface="Calibri" pitchFamily="34" charset="0"/>
                <a:ea typeface="Calibri" pitchFamily="34" charset="-122"/>
                <a:cs typeface="Calibri" pitchFamily="34" charset="-120"/>
              </a:rPr>
              <a:t>Quienes ven al adolescente antes de que llegue a un especialista.</a:t>
            </a:r>
            <a:endParaRPr lang="en-US" sz="1300" dirty="0"/>
          </a:p>
        </p:txBody>
      </p:sp>
      <p:sp>
        <p:nvSpPr>
          <p:cNvPr id="13" name="Text 11"/>
          <p:cNvSpPr/>
          <p:nvPr/>
        </p:nvSpPr>
        <p:spPr>
          <a:xfrm>
            <a:off x="640080" y="5074920"/>
            <a:ext cx="10911535" cy="502920"/>
          </a:xfrm>
          <a:prstGeom prst="rect">
            <a:avLst/>
          </a:prstGeom>
          <a:noFill/>
          <a:ln/>
        </p:spPr>
        <p:txBody>
          <a:bodyPr wrap="square" rtlCol="0" anchor="ctr"/>
          <a:lstStyle/>
          <a:p>
            <a:pPr algn="ctr" indent="0" marL="0">
              <a:buNone/>
            </a:pPr>
            <a:r>
              <a:rPr lang="en-US" sz="1600" i="1" dirty="0">
                <a:solidFill>
                  <a:srgbClr val="E0C68A"/>
                </a:solidFill>
                <a:latin typeface="Georgia" pitchFamily="34" charset="0"/>
                <a:ea typeface="Georgia" pitchFamily="34" charset="-122"/>
                <a:cs typeface="Georgia" pitchFamily="34" charset="-120"/>
              </a:rPr>
              <a:t>Nadie tiene que diagnosticar. Todos pueden ser el adulto que se dio cuenta a tiempo.</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BLOQUE 2 — HISTORIA Y CLASIFICACIÓN</a:t>
            </a:r>
            <a:endParaRPr lang="en-US" sz="1100" dirty="0"/>
          </a:p>
        </p:txBody>
      </p:sp>
      <p:sp>
        <p:nvSpPr>
          <p:cNvPr id="3" name="Text 1"/>
          <p:cNvSpPr/>
          <p:nvPr/>
        </p:nvSpPr>
        <p:spPr>
          <a:xfrm>
            <a:off x="640080" y="621792"/>
            <a:ext cx="10911535" cy="658368"/>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Línea de tiempo (1/2)</a:t>
            </a:r>
            <a:endParaRPr lang="en-US" sz="2800" dirty="0"/>
          </a:p>
        </p:txBody>
      </p:sp>
      <p:sp>
        <p:nvSpPr>
          <p:cNvPr id="4" name="Shape 2"/>
          <p:cNvSpPr/>
          <p:nvPr/>
        </p:nvSpPr>
        <p:spPr>
          <a:xfrm>
            <a:off x="640080" y="1298448"/>
            <a:ext cx="1645920" cy="20117"/>
          </a:xfrm>
          <a:prstGeom prst="rect">
            <a:avLst/>
          </a:prstGeom>
          <a:solidFill>
            <a:srgbClr val="C5A059"/>
          </a:solidFill>
          <a:ln w="12700">
            <a:solidFill>
              <a:srgbClr val="C5A059"/>
            </a:solidFill>
            <a:prstDash val="solid"/>
          </a:ln>
        </p:spPr>
      </p:sp>
      <p:sp>
        <p:nvSpPr>
          <p:cNvPr id="5" name="Text 3"/>
          <p:cNvSpPr/>
          <p:nvPr/>
        </p:nvSpPr>
        <p:spPr>
          <a:xfrm>
            <a:off x="640080" y="1554480"/>
            <a:ext cx="1097280" cy="640080"/>
          </a:xfrm>
          <a:prstGeom prst="rect">
            <a:avLst/>
          </a:prstGeom>
          <a:noFill/>
          <a:ln/>
        </p:spPr>
        <p:txBody>
          <a:bodyPr wrap="square" rtlCol="0" anchor="ctr"/>
          <a:lstStyle/>
          <a:p>
            <a:pPr indent="0" marL="0">
              <a:buNone/>
            </a:pPr>
            <a:r>
              <a:rPr lang="en-US" sz="2000" b="1" dirty="0">
                <a:solidFill>
                  <a:srgbClr val="C5A059"/>
                </a:solidFill>
                <a:latin typeface="Georgia" pitchFamily="34" charset="0"/>
                <a:ea typeface="Georgia" pitchFamily="34" charset="-122"/>
                <a:cs typeface="Georgia" pitchFamily="34" charset="-120"/>
              </a:rPr>
              <a:t>1938</a:t>
            </a:r>
            <a:endParaRPr lang="en-US" sz="2000" dirty="0"/>
          </a:p>
        </p:txBody>
      </p:sp>
      <p:sp>
        <p:nvSpPr>
          <p:cNvPr id="6" name="Text 4"/>
          <p:cNvSpPr/>
          <p:nvPr/>
        </p:nvSpPr>
        <p:spPr>
          <a:xfrm>
            <a:off x="1874520" y="1554480"/>
            <a:ext cx="9677095" cy="640080"/>
          </a:xfrm>
          <a:prstGeom prst="rect">
            <a:avLst/>
          </a:prstGeom>
          <a:noFill/>
          <a:ln/>
        </p:spPr>
        <p:txBody>
          <a:bodyPr wrap="square" rtlCol="0" anchor="ctr"/>
          <a:lstStyle/>
          <a:p>
            <a:pPr indent="0" marL="0">
              <a:buNone/>
            </a:pPr>
            <a:r>
              <a:rPr lang="en-US" sz="1500" dirty="0">
                <a:solidFill>
                  <a:srgbClr val="D3E4FB"/>
                </a:solidFill>
                <a:latin typeface="Calibri" pitchFamily="34" charset="0"/>
                <a:ea typeface="Calibri" pitchFamily="34" charset="-122"/>
                <a:cs typeface="Calibri" pitchFamily="34" charset="-120"/>
              </a:rPr>
              <a:t>Skinner describe la recompensa variable e intermitente — base del enganche al azar.</a:t>
            </a:r>
            <a:endParaRPr lang="en-US" sz="1500" dirty="0"/>
          </a:p>
        </p:txBody>
      </p:sp>
      <p:sp>
        <p:nvSpPr>
          <p:cNvPr id="7" name="Text 5"/>
          <p:cNvSpPr/>
          <p:nvPr/>
        </p:nvSpPr>
        <p:spPr>
          <a:xfrm>
            <a:off x="640080" y="2331720"/>
            <a:ext cx="1097280" cy="640080"/>
          </a:xfrm>
          <a:prstGeom prst="rect">
            <a:avLst/>
          </a:prstGeom>
          <a:noFill/>
          <a:ln/>
        </p:spPr>
        <p:txBody>
          <a:bodyPr wrap="square" rtlCol="0" anchor="ctr"/>
          <a:lstStyle/>
          <a:p>
            <a:pPr indent="0" marL="0">
              <a:buNone/>
            </a:pPr>
            <a:r>
              <a:rPr lang="en-US" sz="2000" b="1" dirty="0">
                <a:solidFill>
                  <a:srgbClr val="C5A059"/>
                </a:solidFill>
                <a:latin typeface="Georgia" pitchFamily="34" charset="0"/>
                <a:ea typeface="Georgia" pitchFamily="34" charset="-122"/>
                <a:cs typeface="Georgia" pitchFamily="34" charset="-120"/>
              </a:rPr>
              <a:t>1980</a:t>
            </a:r>
            <a:endParaRPr lang="en-US" sz="2000" dirty="0"/>
          </a:p>
        </p:txBody>
      </p:sp>
      <p:sp>
        <p:nvSpPr>
          <p:cNvPr id="8" name="Text 6"/>
          <p:cNvSpPr/>
          <p:nvPr/>
        </p:nvSpPr>
        <p:spPr>
          <a:xfrm>
            <a:off x="1874520" y="2331720"/>
            <a:ext cx="9677095" cy="640080"/>
          </a:xfrm>
          <a:prstGeom prst="rect">
            <a:avLst/>
          </a:prstGeom>
          <a:noFill/>
          <a:ln/>
        </p:spPr>
        <p:txBody>
          <a:bodyPr wrap="square" rtlCol="0" anchor="ctr"/>
          <a:lstStyle/>
          <a:p>
            <a:pPr indent="0" marL="0">
              <a:buNone/>
            </a:pPr>
            <a:r>
              <a:rPr lang="en-US" sz="1500" dirty="0">
                <a:solidFill>
                  <a:srgbClr val="D3E4FB"/>
                </a:solidFill>
                <a:latin typeface="Calibri" pitchFamily="34" charset="0"/>
                <a:ea typeface="Calibri" pitchFamily="34" charset="-122"/>
                <a:cs typeface="Calibri" pitchFamily="34" charset="-120"/>
              </a:rPr>
              <a:t>DSM-III: primera inclusión del juego patológico (trastorno del control de impulsos).</a:t>
            </a:r>
            <a:endParaRPr lang="en-US" sz="1500" dirty="0"/>
          </a:p>
        </p:txBody>
      </p:sp>
      <p:sp>
        <p:nvSpPr>
          <p:cNvPr id="9" name="Text 7"/>
          <p:cNvSpPr/>
          <p:nvPr/>
        </p:nvSpPr>
        <p:spPr>
          <a:xfrm>
            <a:off x="640080" y="3108960"/>
            <a:ext cx="1097280" cy="640080"/>
          </a:xfrm>
          <a:prstGeom prst="rect">
            <a:avLst/>
          </a:prstGeom>
          <a:noFill/>
          <a:ln/>
        </p:spPr>
        <p:txBody>
          <a:bodyPr wrap="square" rtlCol="0" anchor="ctr"/>
          <a:lstStyle/>
          <a:p>
            <a:pPr indent="0" marL="0">
              <a:buNone/>
            </a:pPr>
            <a:r>
              <a:rPr lang="en-US" sz="2000" b="1" dirty="0">
                <a:solidFill>
                  <a:srgbClr val="C5A059"/>
                </a:solidFill>
                <a:latin typeface="Georgia" pitchFamily="34" charset="0"/>
                <a:ea typeface="Georgia" pitchFamily="34" charset="-122"/>
                <a:cs typeface="Georgia" pitchFamily="34" charset="-120"/>
              </a:rPr>
              <a:t>1994</a:t>
            </a:r>
            <a:endParaRPr lang="en-US" sz="2000" dirty="0"/>
          </a:p>
        </p:txBody>
      </p:sp>
      <p:sp>
        <p:nvSpPr>
          <p:cNvPr id="10" name="Text 8"/>
          <p:cNvSpPr/>
          <p:nvPr/>
        </p:nvSpPr>
        <p:spPr>
          <a:xfrm>
            <a:off x="1874520" y="3108960"/>
            <a:ext cx="9677095" cy="640080"/>
          </a:xfrm>
          <a:prstGeom prst="rect">
            <a:avLst/>
          </a:prstGeom>
          <a:noFill/>
          <a:ln/>
        </p:spPr>
        <p:txBody>
          <a:bodyPr wrap="square" rtlCol="0" anchor="ctr"/>
          <a:lstStyle/>
          <a:p>
            <a:pPr indent="0" marL="0">
              <a:buNone/>
            </a:pPr>
            <a:r>
              <a:rPr lang="en-US" sz="1500" dirty="0">
                <a:solidFill>
                  <a:srgbClr val="D3E4FB"/>
                </a:solidFill>
                <a:latin typeface="Calibri" pitchFamily="34" charset="0"/>
                <a:ea typeface="Calibri" pitchFamily="34" charset="-122"/>
                <a:cs typeface="Calibri" pitchFamily="34" charset="-120"/>
              </a:rPr>
              <a:t>DSM-IV: incorpora el juego como vía de escape de estados disfóricos.</a:t>
            </a:r>
            <a:endParaRPr lang="en-US" sz="1500" dirty="0"/>
          </a:p>
        </p:txBody>
      </p:sp>
      <p:sp>
        <p:nvSpPr>
          <p:cNvPr id="11" name="Text 9"/>
          <p:cNvSpPr/>
          <p:nvPr/>
        </p:nvSpPr>
        <p:spPr>
          <a:xfrm>
            <a:off x="640080" y="3886200"/>
            <a:ext cx="1097280" cy="640080"/>
          </a:xfrm>
          <a:prstGeom prst="rect">
            <a:avLst/>
          </a:prstGeom>
          <a:noFill/>
          <a:ln/>
        </p:spPr>
        <p:txBody>
          <a:bodyPr wrap="square" rtlCol="0" anchor="ctr"/>
          <a:lstStyle/>
          <a:p>
            <a:pPr indent="0" marL="0">
              <a:buNone/>
            </a:pPr>
            <a:r>
              <a:rPr lang="en-US" sz="2000" b="1" dirty="0">
                <a:solidFill>
                  <a:srgbClr val="C5A059"/>
                </a:solidFill>
                <a:latin typeface="Georgia" pitchFamily="34" charset="0"/>
                <a:ea typeface="Georgia" pitchFamily="34" charset="-122"/>
                <a:cs typeface="Georgia" pitchFamily="34" charset="-120"/>
              </a:rPr>
              <a:t>2012</a:t>
            </a:r>
            <a:endParaRPr lang="en-US" sz="2000" dirty="0"/>
          </a:p>
        </p:txBody>
      </p:sp>
      <p:sp>
        <p:nvSpPr>
          <p:cNvPr id="12" name="Text 10"/>
          <p:cNvSpPr/>
          <p:nvPr/>
        </p:nvSpPr>
        <p:spPr>
          <a:xfrm>
            <a:off x="1874520" y="3886200"/>
            <a:ext cx="9677095" cy="640080"/>
          </a:xfrm>
          <a:prstGeom prst="rect">
            <a:avLst/>
          </a:prstGeom>
          <a:noFill/>
          <a:ln/>
        </p:spPr>
        <p:txBody>
          <a:bodyPr wrap="square" rtlCol="0" anchor="ctr"/>
          <a:lstStyle/>
          <a:p>
            <a:pPr indent="0" marL="0">
              <a:buNone/>
            </a:pPr>
            <a:r>
              <a:rPr lang="en-US" sz="1500" dirty="0">
                <a:solidFill>
                  <a:srgbClr val="D3E4FB"/>
                </a:solidFill>
                <a:latin typeface="Calibri" pitchFamily="34" charset="0"/>
                <a:ea typeface="Calibri" pitchFamily="34" charset="-122"/>
                <a:cs typeface="Calibri" pitchFamily="34" charset="-120"/>
              </a:rPr>
              <a:t>España regula el juego online — primer marco europeo de referencia.</a:t>
            </a:r>
            <a:endParaRPr lang="en-US" sz="1500" dirty="0"/>
          </a:p>
        </p:txBody>
      </p:sp>
      <p:sp>
        <p:nvSpPr>
          <p:cNvPr id="13" name="Text 11"/>
          <p:cNvSpPr/>
          <p:nvPr/>
        </p:nvSpPr>
        <p:spPr>
          <a:xfrm>
            <a:off x="640080" y="4663440"/>
            <a:ext cx="1097280" cy="640080"/>
          </a:xfrm>
          <a:prstGeom prst="rect">
            <a:avLst/>
          </a:prstGeom>
          <a:noFill/>
          <a:ln/>
        </p:spPr>
        <p:txBody>
          <a:bodyPr wrap="square" rtlCol="0" anchor="ctr"/>
          <a:lstStyle/>
          <a:p>
            <a:pPr indent="0" marL="0">
              <a:buNone/>
            </a:pPr>
            <a:r>
              <a:rPr lang="en-US" sz="2000" b="1" dirty="0">
                <a:solidFill>
                  <a:srgbClr val="C5A059"/>
                </a:solidFill>
                <a:latin typeface="Georgia" pitchFamily="34" charset="0"/>
                <a:ea typeface="Georgia" pitchFamily="34" charset="-122"/>
                <a:cs typeface="Georgia" pitchFamily="34" charset="-120"/>
              </a:rPr>
              <a:t>2013</a:t>
            </a:r>
            <a:endParaRPr lang="en-US" sz="2000" dirty="0"/>
          </a:p>
        </p:txBody>
      </p:sp>
      <p:sp>
        <p:nvSpPr>
          <p:cNvPr id="14" name="Text 12"/>
          <p:cNvSpPr/>
          <p:nvPr/>
        </p:nvSpPr>
        <p:spPr>
          <a:xfrm>
            <a:off x="1874520" y="4663440"/>
            <a:ext cx="9677095" cy="640080"/>
          </a:xfrm>
          <a:prstGeom prst="rect">
            <a:avLst/>
          </a:prstGeom>
          <a:noFill/>
          <a:ln/>
        </p:spPr>
        <p:txBody>
          <a:bodyPr wrap="square" rtlCol="0" anchor="ctr"/>
          <a:lstStyle/>
          <a:p>
            <a:pPr indent="0" marL="0">
              <a:buNone/>
            </a:pPr>
            <a:r>
              <a:rPr lang="en-US" sz="1500" dirty="0">
                <a:solidFill>
                  <a:srgbClr val="D3E4FB"/>
                </a:solidFill>
                <a:latin typeface="Calibri" pitchFamily="34" charset="0"/>
                <a:ea typeface="Calibri" pitchFamily="34" charset="-122"/>
                <a:cs typeface="Calibri" pitchFamily="34" charset="-120"/>
              </a:rPr>
              <a:t>DSM-5: el trastorno por juego pasa al capítulo de adicciones. Primera conducta sin sustancia reconocida como adicción.</a:t>
            </a:r>
            <a:endParaRPr lang="en-US" sz="1500" dirty="0"/>
          </a:p>
        </p:txBody>
      </p:sp>
      <p:sp>
        <p:nvSpPr>
          <p:cNvPr id="15" name="Shape 13"/>
          <p:cNvSpPr/>
          <p:nvPr/>
        </p:nvSpPr>
        <p:spPr>
          <a:xfrm>
            <a:off x="640080" y="5989320"/>
            <a:ext cx="10911535" cy="20117"/>
          </a:xfrm>
          <a:prstGeom prst="rect">
            <a:avLst/>
          </a:prstGeom>
          <a:solidFill>
            <a:srgbClr val="C5A059"/>
          </a:solidFill>
          <a:ln w="12700">
            <a:solidFill>
              <a:srgbClr val="C5A059"/>
            </a:solidFill>
            <a:prstDash val="solid"/>
          </a:ln>
        </p:spPr>
      </p:sp>
      <p:sp>
        <p:nvSpPr>
          <p:cNvPr id="16" name="Text 14"/>
          <p:cNvSpPr/>
          <p:nvPr/>
        </p:nvSpPr>
        <p:spPr>
          <a:xfrm>
            <a:off x="640080" y="6053328"/>
            <a:ext cx="10911535" cy="640080"/>
          </a:xfrm>
          <a:prstGeom prst="rect">
            <a:avLst/>
          </a:prstGeom>
          <a:noFill/>
          <a:ln/>
        </p:spPr>
        <p:txBody>
          <a:bodyPr wrap="square" rtlCol="0" anchor="ctr"/>
          <a:lstStyle/>
          <a:p>
            <a:pPr indent="0" marL="0">
              <a:buNone/>
            </a:pPr>
            <a:r>
              <a:rPr lang="en-US" sz="900" i="1" dirty="0">
                <a:solidFill>
                  <a:srgbClr val="7C90AC"/>
                </a:solidFill>
                <a:latin typeface="Calibri" pitchFamily="34" charset="0"/>
                <a:ea typeface="Calibri" pitchFamily="34" charset="-122"/>
                <a:cs typeface="Calibri" pitchFamily="34" charset="-120"/>
              </a:rPr>
              <a:t>Skinner, B. F. (1938). The Behavior of Organisms. Appleton-Century-Crofts.  ·  American Psychiatric Association (1980/1994/2013). DSM-III, DSM-IV, DSM-5.  ·  Ley 13/2011 de regulación del juego (España).</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BLOQUE 2 — HISTORIA Y CLASIFICACIÓN</a:t>
            </a:r>
            <a:endParaRPr lang="en-US" sz="1100" dirty="0"/>
          </a:p>
        </p:txBody>
      </p:sp>
      <p:sp>
        <p:nvSpPr>
          <p:cNvPr id="3" name="Text 1"/>
          <p:cNvSpPr/>
          <p:nvPr/>
        </p:nvSpPr>
        <p:spPr>
          <a:xfrm>
            <a:off x="640080" y="621792"/>
            <a:ext cx="10911535" cy="658368"/>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Línea de tiempo (2/2)</a:t>
            </a:r>
            <a:endParaRPr lang="en-US" sz="2800" dirty="0"/>
          </a:p>
        </p:txBody>
      </p:sp>
      <p:sp>
        <p:nvSpPr>
          <p:cNvPr id="4" name="Shape 2"/>
          <p:cNvSpPr/>
          <p:nvPr/>
        </p:nvSpPr>
        <p:spPr>
          <a:xfrm>
            <a:off x="640080" y="1298448"/>
            <a:ext cx="1645920" cy="20117"/>
          </a:xfrm>
          <a:prstGeom prst="rect">
            <a:avLst/>
          </a:prstGeom>
          <a:solidFill>
            <a:srgbClr val="C5A059"/>
          </a:solidFill>
          <a:ln w="12700">
            <a:solidFill>
              <a:srgbClr val="C5A059"/>
            </a:solidFill>
            <a:prstDash val="solid"/>
          </a:ln>
        </p:spPr>
      </p:sp>
      <p:sp>
        <p:nvSpPr>
          <p:cNvPr id="5" name="Text 3"/>
          <p:cNvSpPr/>
          <p:nvPr/>
        </p:nvSpPr>
        <p:spPr>
          <a:xfrm>
            <a:off x="640080" y="1554480"/>
            <a:ext cx="1417320" cy="640080"/>
          </a:xfrm>
          <a:prstGeom prst="rect">
            <a:avLst/>
          </a:prstGeom>
          <a:noFill/>
          <a:ln/>
        </p:spPr>
        <p:txBody>
          <a:bodyPr wrap="square" rtlCol="0" anchor="ctr"/>
          <a:lstStyle/>
          <a:p>
            <a:pPr indent="0" marL="0">
              <a:buNone/>
            </a:pPr>
            <a:r>
              <a:rPr lang="en-US" sz="1800" b="1" dirty="0">
                <a:solidFill>
                  <a:srgbClr val="C5A059"/>
                </a:solidFill>
                <a:latin typeface="Georgia" pitchFamily="34" charset="0"/>
                <a:ea typeface="Georgia" pitchFamily="34" charset="-122"/>
                <a:cs typeface="Georgia" pitchFamily="34" charset="-120"/>
              </a:rPr>
              <a:t>2018</a:t>
            </a:r>
            <a:endParaRPr lang="en-US" sz="1800" dirty="0"/>
          </a:p>
        </p:txBody>
      </p:sp>
      <p:sp>
        <p:nvSpPr>
          <p:cNvPr id="6" name="Text 4"/>
          <p:cNvSpPr/>
          <p:nvPr/>
        </p:nvSpPr>
        <p:spPr>
          <a:xfrm>
            <a:off x="2194560" y="1554480"/>
            <a:ext cx="9357055" cy="640080"/>
          </a:xfrm>
          <a:prstGeom prst="rect">
            <a:avLst/>
          </a:prstGeom>
          <a:noFill/>
          <a:ln/>
        </p:spPr>
        <p:txBody>
          <a:bodyPr wrap="square" rtlCol="0" anchor="ctr"/>
          <a:lstStyle/>
          <a:p>
            <a:pPr indent="0" marL="0">
              <a:buNone/>
            </a:pPr>
            <a:r>
              <a:rPr lang="en-US" sz="1450" dirty="0">
                <a:solidFill>
                  <a:srgbClr val="D3E4FB"/>
                </a:solidFill>
                <a:latin typeface="Calibri" pitchFamily="34" charset="0"/>
                <a:ea typeface="Calibri" pitchFamily="34" charset="-122"/>
                <a:cs typeface="Calibri" pitchFamily="34" charset="-120"/>
              </a:rPr>
              <a:t>EE.UU. habilita apuestas deportivas online. CIE-11: trastorno por juego y por videojuegos.</a:t>
            </a:r>
            <a:endParaRPr lang="en-US" sz="1450" dirty="0"/>
          </a:p>
        </p:txBody>
      </p:sp>
      <p:sp>
        <p:nvSpPr>
          <p:cNvPr id="7" name="Text 5"/>
          <p:cNvSpPr/>
          <p:nvPr/>
        </p:nvSpPr>
        <p:spPr>
          <a:xfrm>
            <a:off x="640080" y="2331720"/>
            <a:ext cx="1417320" cy="640080"/>
          </a:xfrm>
          <a:prstGeom prst="rect">
            <a:avLst/>
          </a:prstGeom>
          <a:noFill/>
          <a:ln/>
        </p:spPr>
        <p:txBody>
          <a:bodyPr wrap="square" rtlCol="0" anchor="ctr"/>
          <a:lstStyle/>
          <a:p>
            <a:pPr indent="0" marL="0">
              <a:buNone/>
            </a:pPr>
            <a:r>
              <a:rPr lang="en-US" sz="1800" b="1" dirty="0">
                <a:solidFill>
                  <a:srgbClr val="C5A059"/>
                </a:solidFill>
                <a:latin typeface="Georgia" pitchFamily="34" charset="0"/>
                <a:ea typeface="Georgia" pitchFamily="34" charset="-122"/>
                <a:cs typeface="Georgia" pitchFamily="34" charset="-120"/>
              </a:rPr>
              <a:t>2022</a:t>
            </a:r>
            <a:endParaRPr lang="en-US" sz="1800" dirty="0"/>
          </a:p>
        </p:txBody>
      </p:sp>
      <p:sp>
        <p:nvSpPr>
          <p:cNvPr id="8" name="Text 6"/>
          <p:cNvSpPr/>
          <p:nvPr/>
        </p:nvSpPr>
        <p:spPr>
          <a:xfrm>
            <a:off x="2194560" y="2331720"/>
            <a:ext cx="9357055" cy="640080"/>
          </a:xfrm>
          <a:prstGeom prst="rect">
            <a:avLst/>
          </a:prstGeom>
          <a:noFill/>
          <a:ln/>
        </p:spPr>
        <p:txBody>
          <a:bodyPr wrap="square" rtlCol="0" anchor="ctr"/>
          <a:lstStyle/>
          <a:p>
            <a:pPr indent="0" marL="0">
              <a:buNone/>
            </a:pPr>
            <a:r>
              <a:rPr lang="en-US" sz="1450" dirty="0">
                <a:solidFill>
                  <a:srgbClr val="D3E4FB"/>
                </a:solidFill>
                <a:latin typeface="Calibri" pitchFamily="34" charset="0"/>
                <a:ea typeface="Calibri" pitchFamily="34" charset="-122"/>
                <a:cs typeface="Calibri" pitchFamily="34" charset="-120"/>
              </a:rPr>
              <a:t>Qatar 2022: primer Mundial con apuestas online masivas en Argentina. Edad de consulta baja de 45+ a 15-25.</a:t>
            </a:r>
            <a:endParaRPr lang="en-US" sz="1450" dirty="0"/>
          </a:p>
        </p:txBody>
      </p:sp>
      <p:sp>
        <p:nvSpPr>
          <p:cNvPr id="9" name="Text 7"/>
          <p:cNvSpPr/>
          <p:nvPr/>
        </p:nvSpPr>
        <p:spPr>
          <a:xfrm>
            <a:off x="640080" y="3108960"/>
            <a:ext cx="1417320" cy="640080"/>
          </a:xfrm>
          <a:prstGeom prst="rect">
            <a:avLst/>
          </a:prstGeom>
          <a:noFill/>
          <a:ln/>
        </p:spPr>
        <p:txBody>
          <a:bodyPr wrap="square" rtlCol="0" anchor="ctr"/>
          <a:lstStyle/>
          <a:p>
            <a:pPr indent="0" marL="0">
              <a:buNone/>
            </a:pPr>
            <a:r>
              <a:rPr lang="en-US" sz="1800" b="1" dirty="0">
                <a:solidFill>
                  <a:srgbClr val="C5A059"/>
                </a:solidFill>
                <a:latin typeface="Georgia" pitchFamily="34" charset="0"/>
                <a:ea typeface="Georgia" pitchFamily="34" charset="-122"/>
                <a:cs typeface="Georgia" pitchFamily="34" charset="-120"/>
              </a:rPr>
              <a:t>2022</a:t>
            </a:r>
            <a:endParaRPr lang="en-US" sz="1800" dirty="0"/>
          </a:p>
        </p:txBody>
      </p:sp>
      <p:sp>
        <p:nvSpPr>
          <p:cNvPr id="10" name="Text 8"/>
          <p:cNvSpPr/>
          <p:nvPr/>
        </p:nvSpPr>
        <p:spPr>
          <a:xfrm>
            <a:off x="2194560" y="3108960"/>
            <a:ext cx="9357055" cy="640080"/>
          </a:xfrm>
          <a:prstGeom prst="rect">
            <a:avLst/>
          </a:prstGeom>
          <a:noFill/>
          <a:ln/>
        </p:spPr>
        <p:txBody>
          <a:bodyPr wrap="square" rtlCol="0" anchor="ctr"/>
          <a:lstStyle/>
          <a:p>
            <a:pPr indent="0" marL="0">
              <a:buNone/>
            </a:pPr>
            <a:r>
              <a:rPr lang="en-US" sz="1450" dirty="0">
                <a:solidFill>
                  <a:srgbClr val="D3E4FB"/>
                </a:solidFill>
                <a:latin typeface="Calibri" pitchFamily="34" charset="0"/>
                <a:ea typeface="Calibri" pitchFamily="34" charset="-122"/>
                <a:cs typeface="Calibri" pitchFamily="34" charset="-120"/>
              </a:rPr>
              <a:t>Argentina: juego online legalizado en 20 de 24 provincias. Explosión publicitaria.</a:t>
            </a:r>
            <a:endParaRPr lang="en-US" sz="1450" dirty="0"/>
          </a:p>
        </p:txBody>
      </p:sp>
      <p:sp>
        <p:nvSpPr>
          <p:cNvPr id="11" name="Text 9"/>
          <p:cNvSpPr/>
          <p:nvPr/>
        </p:nvSpPr>
        <p:spPr>
          <a:xfrm>
            <a:off x="640080" y="3886200"/>
            <a:ext cx="1417320" cy="640080"/>
          </a:xfrm>
          <a:prstGeom prst="rect">
            <a:avLst/>
          </a:prstGeom>
          <a:noFill/>
          <a:ln/>
        </p:spPr>
        <p:txBody>
          <a:bodyPr wrap="square" rtlCol="0" anchor="ctr"/>
          <a:lstStyle/>
          <a:p>
            <a:pPr indent="0" marL="0">
              <a:buNone/>
            </a:pPr>
            <a:r>
              <a:rPr lang="en-US" sz="1800" b="1" dirty="0">
                <a:solidFill>
                  <a:srgbClr val="C5A059"/>
                </a:solidFill>
                <a:latin typeface="Georgia" pitchFamily="34" charset="0"/>
                <a:ea typeface="Georgia" pitchFamily="34" charset="-122"/>
                <a:cs typeface="Georgia" pitchFamily="34" charset="-120"/>
              </a:rPr>
              <a:t>2023</a:t>
            </a:r>
            <a:endParaRPr lang="en-US" sz="1800" dirty="0"/>
          </a:p>
        </p:txBody>
      </p:sp>
      <p:sp>
        <p:nvSpPr>
          <p:cNvPr id="12" name="Text 10"/>
          <p:cNvSpPr/>
          <p:nvPr/>
        </p:nvSpPr>
        <p:spPr>
          <a:xfrm>
            <a:off x="2194560" y="3886200"/>
            <a:ext cx="9357055" cy="640080"/>
          </a:xfrm>
          <a:prstGeom prst="rect">
            <a:avLst/>
          </a:prstGeom>
          <a:noFill/>
          <a:ln/>
        </p:spPr>
        <p:txBody>
          <a:bodyPr wrap="square" rtlCol="0" anchor="ctr"/>
          <a:lstStyle/>
          <a:p>
            <a:pPr indent="0" marL="0">
              <a:buNone/>
            </a:pPr>
            <a:r>
              <a:rPr lang="en-US" sz="1450" dirty="0">
                <a:solidFill>
                  <a:srgbClr val="D3E4FB"/>
                </a:solidFill>
                <a:latin typeface="Calibri" pitchFamily="34" charset="0"/>
                <a:ea typeface="Calibri" pitchFamily="34" charset="-122"/>
                <a:cs typeface="Calibri" pitchFamily="34" charset="-120"/>
              </a:rPr>
              <a:t>Brasil: casos en el sistema público pasan de 108 a 1.200 en 5 años (+1.011%).</a:t>
            </a:r>
            <a:endParaRPr lang="en-US" sz="1450" dirty="0"/>
          </a:p>
        </p:txBody>
      </p:sp>
      <p:sp>
        <p:nvSpPr>
          <p:cNvPr id="13" name="Text 11"/>
          <p:cNvSpPr/>
          <p:nvPr/>
        </p:nvSpPr>
        <p:spPr>
          <a:xfrm>
            <a:off x="640080" y="4663440"/>
            <a:ext cx="1417320" cy="640080"/>
          </a:xfrm>
          <a:prstGeom prst="rect">
            <a:avLst/>
          </a:prstGeom>
          <a:noFill/>
          <a:ln/>
        </p:spPr>
        <p:txBody>
          <a:bodyPr wrap="square" rtlCol="0" anchor="ctr"/>
          <a:lstStyle/>
          <a:p>
            <a:pPr indent="0" marL="0">
              <a:buNone/>
            </a:pPr>
            <a:r>
              <a:rPr lang="en-US" sz="1800" b="1" dirty="0">
                <a:solidFill>
                  <a:srgbClr val="C5A059"/>
                </a:solidFill>
                <a:latin typeface="Georgia" pitchFamily="34" charset="0"/>
                <a:ea typeface="Georgia" pitchFamily="34" charset="-122"/>
                <a:cs typeface="Georgia" pitchFamily="34" charset="-120"/>
              </a:rPr>
              <a:t>Nov. 2024</a:t>
            </a:r>
            <a:endParaRPr lang="en-US" sz="1800" dirty="0"/>
          </a:p>
        </p:txBody>
      </p:sp>
      <p:sp>
        <p:nvSpPr>
          <p:cNvPr id="14" name="Text 12"/>
          <p:cNvSpPr/>
          <p:nvPr/>
        </p:nvSpPr>
        <p:spPr>
          <a:xfrm>
            <a:off x="2194560" y="4663440"/>
            <a:ext cx="9357055" cy="640080"/>
          </a:xfrm>
          <a:prstGeom prst="rect">
            <a:avLst/>
          </a:prstGeom>
          <a:noFill/>
          <a:ln/>
        </p:spPr>
        <p:txBody>
          <a:bodyPr wrap="square" rtlCol="0" anchor="ctr"/>
          <a:lstStyle/>
          <a:p>
            <a:pPr indent="0" marL="0">
              <a:buNone/>
            </a:pPr>
            <a:r>
              <a:rPr lang="en-US" sz="1450" dirty="0">
                <a:solidFill>
                  <a:srgbClr val="D3E4FB"/>
                </a:solidFill>
                <a:latin typeface="Calibri" pitchFamily="34" charset="0"/>
                <a:ea typeface="Calibri" pitchFamily="34" charset="-122"/>
                <a:cs typeface="Calibri" pitchFamily="34" charset="-120"/>
              </a:rPr>
              <a:t>Argentina: media sanción en Diputados — Ley de Prevención de Ludopatía y Regulación de Apuestas en Línea.</a:t>
            </a:r>
            <a:endParaRPr lang="en-US" sz="1450" dirty="0"/>
          </a:p>
        </p:txBody>
      </p:sp>
      <p:sp>
        <p:nvSpPr>
          <p:cNvPr id="15" name="Shape 13"/>
          <p:cNvSpPr/>
          <p:nvPr/>
        </p:nvSpPr>
        <p:spPr>
          <a:xfrm>
            <a:off x="640080" y="5989320"/>
            <a:ext cx="10911535" cy="20117"/>
          </a:xfrm>
          <a:prstGeom prst="rect">
            <a:avLst/>
          </a:prstGeom>
          <a:solidFill>
            <a:srgbClr val="C5A059"/>
          </a:solidFill>
          <a:ln w="12700">
            <a:solidFill>
              <a:srgbClr val="C5A059"/>
            </a:solidFill>
            <a:prstDash val="solid"/>
          </a:ln>
        </p:spPr>
      </p:sp>
      <p:sp>
        <p:nvSpPr>
          <p:cNvPr id="16" name="Text 14"/>
          <p:cNvSpPr/>
          <p:nvPr/>
        </p:nvSpPr>
        <p:spPr>
          <a:xfrm>
            <a:off x="640080" y="6053328"/>
            <a:ext cx="10911535" cy="640080"/>
          </a:xfrm>
          <a:prstGeom prst="rect">
            <a:avLst/>
          </a:prstGeom>
          <a:noFill/>
          <a:ln/>
        </p:spPr>
        <p:txBody>
          <a:bodyPr wrap="square" rtlCol="0" anchor="ctr"/>
          <a:lstStyle/>
          <a:p>
            <a:pPr indent="0" marL="0">
              <a:buNone/>
            </a:pPr>
            <a:r>
              <a:rPr lang="en-US" sz="900" i="1" dirty="0">
                <a:solidFill>
                  <a:srgbClr val="7C90AC"/>
                </a:solidFill>
                <a:latin typeface="Calibri" pitchFamily="34" charset="0"/>
                <a:ea typeface="Calibri" pitchFamily="34" charset="-122"/>
                <a:cs typeface="Calibri" pitchFamily="34" charset="-120"/>
              </a:rPr>
              <a:t>World Health Organization (2018). ICD-11.  ·  Cámara de Diputados de la Nación Argentina (2024), media sanción.  ·  Datos Brasil: sistema público de salud (SUS), 2018–2023.  ·  Reportes clínicos locales post-Qatar 2022 (prensa especializada).</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BLOQUE 2 — CRITERIOS DIAGNÓSTICOS</a:t>
            </a:r>
            <a:endParaRPr lang="en-US" sz="1100" dirty="0"/>
          </a:p>
        </p:txBody>
      </p:sp>
      <p:sp>
        <p:nvSpPr>
          <p:cNvPr id="3" name="Text 1"/>
          <p:cNvSpPr/>
          <p:nvPr/>
        </p:nvSpPr>
        <p:spPr>
          <a:xfrm>
            <a:off x="640080" y="621792"/>
            <a:ext cx="10911535" cy="658368"/>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DSM-5 — Trastorno por Juego (312.31)</a:t>
            </a:r>
            <a:endParaRPr lang="en-US" sz="2800" dirty="0"/>
          </a:p>
        </p:txBody>
      </p:sp>
      <p:sp>
        <p:nvSpPr>
          <p:cNvPr id="4" name="Shape 2"/>
          <p:cNvSpPr/>
          <p:nvPr/>
        </p:nvSpPr>
        <p:spPr>
          <a:xfrm>
            <a:off x="640080" y="1298448"/>
            <a:ext cx="1645920" cy="20117"/>
          </a:xfrm>
          <a:prstGeom prst="rect">
            <a:avLst/>
          </a:prstGeom>
          <a:solidFill>
            <a:srgbClr val="C5A059"/>
          </a:solidFill>
          <a:ln w="12700">
            <a:solidFill>
              <a:srgbClr val="C5A059"/>
            </a:solidFill>
            <a:prstDash val="solid"/>
          </a:ln>
        </p:spPr>
      </p:sp>
      <p:sp>
        <p:nvSpPr>
          <p:cNvPr id="5" name="Text 3"/>
          <p:cNvSpPr/>
          <p:nvPr/>
        </p:nvSpPr>
        <p:spPr>
          <a:xfrm>
            <a:off x="640080" y="1463040"/>
            <a:ext cx="10911535" cy="320040"/>
          </a:xfrm>
          <a:prstGeom prst="rect">
            <a:avLst/>
          </a:prstGeom>
          <a:noFill/>
          <a:ln/>
        </p:spPr>
        <p:txBody>
          <a:bodyPr wrap="square" rtlCol="0" anchor="ctr"/>
          <a:lstStyle/>
          <a:p>
            <a:pPr indent="0" marL="0">
              <a:buNone/>
            </a:pPr>
            <a:r>
              <a:rPr lang="en-US" sz="1400" i="1" dirty="0">
                <a:solidFill>
                  <a:srgbClr val="E0C68A"/>
                </a:solidFill>
                <a:latin typeface="Calibri" pitchFamily="34" charset="0"/>
                <a:ea typeface="Calibri" pitchFamily="34" charset="-122"/>
                <a:cs typeface="Calibri" pitchFamily="34" charset="-120"/>
              </a:rPr>
              <a:t>Cuatro o más de los siguientes criterios en 12 meses:</a:t>
            </a:r>
            <a:endParaRPr lang="en-US" sz="1400" dirty="0"/>
          </a:p>
        </p:txBody>
      </p:sp>
      <p:sp>
        <p:nvSpPr>
          <p:cNvPr id="6" name="Text 4"/>
          <p:cNvSpPr/>
          <p:nvPr/>
        </p:nvSpPr>
        <p:spPr>
          <a:xfrm>
            <a:off x="640080" y="1920240"/>
            <a:ext cx="5272888" cy="3657600"/>
          </a:xfrm>
          <a:prstGeom prst="rect">
            <a:avLst/>
          </a:prstGeom>
          <a:noFill/>
          <a:ln/>
        </p:spPr>
        <p:txBody>
          <a:bodyPr wrap="square" rtlCol="0" anchor="ctr"/>
          <a:lstStyle/>
          <a:p>
            <a:pPr indent="0" marL="0">
              <a:buNone/>
            </a:pPr>
            <a:r>
              <a:rPr lang="en-US" sz="1350" dirty="0">
                <a:solidFill>
                  <a:srgbClr val="D3E4FB"/>
                </a:solidFill>
                <a:latin typeface="Calibri" pitchFamily="34" charset="0"/>
                <a:ea typeface="Calibri" pitchFamily="34" charset="-122"/>
                <a:cs typeface="Calibri" pitchFamily="34" charset="-120"/>
              </a:rPr>
              <a:t>1.  Necesidad de apostar cantidades crecientes para conseguir la excitación</a:t>
            </a:r>
            <a:endParaRPr lang="en-US" sz="1350" dirty="0"/>
          </a:p>
          <a:p>
            <a:pPr indent="0" marL="0">
              <a:buNone/>
            </a:pPr>
            <a:r>
              <a:rPr lang="en-US" sz="1350" dirty="0">
                <a:solidFill>
                  <a:srgbClr val="D3E4FB"/>
                </a:solidFill>
                <a:latin typeface="Calibri" pitchFamily="34" charset="0"/>
                <a:ea typeface="Calibri" pitchFamily="34" charset="-122"/>
                <a:cs typeface="Calibri" pitchFamily="34" charset="-120"/>
              </a:rPr>
              <a:t>2.  Irritabilidad al intentar reducir o abandonar el juego</a:t>
            </a:r>
            <a:endParaRPr lang="en-US" sz="1350" dirty="0"/>
          </a:p>
          <a:p>
            <a:pPr indent="0" marL="0">
              <a:buNone/>
            </a:pPr>
            <a:r>
              <a:rPr lang="en-US" sz="1350" dirty="0">
                <a:solidFill>
                  <a:srgbClr val="D3E4FB"/>
                </a:solidFill>
                <a:latin typeface="Calibri" pitchFamily="34" charset="0"/>
                <a:ea typeface="Calibri" pitchFamily="34" charset="-122"/>
                <a:cs typeface="Calibri" pitchFamily="34" charset="-120"/>
              </a:rPr>
              <a:t>3.  Esfuerzos repetidos fallidos para controlar el juego</a:t>
            </a:r>
            <a:endParaRPr lang="en-US" sz="1350" dirty="0"/>
          </a:p>
          <a:p>
            <a:pPr indent="0" marL="0">
              <a:buNone/>
            </a:pPr>
            <a:r>
              <a:rPr lang="en-US" sz="1350" dirty="0">
                <a:solidFill>
                  <a:srgbClr val="D3E4FB"/>
                </a:solidFill>
                <a:latin typeface="Calibri" pitchFamily="34" charset="0"/>
                <a:ea typeface="Calibri" pitchFamily="34" charset="-122"/>
                <a:cs typeface="Calibri" pitchFamily="34" charset="-120"/>
              </a:rPr>
              <a:t>4.  Mente ocupada en las apuestas de manera persistente</a:t>
            </a:r>
            <a:endParaRPr lang="en-US" sz="1350" dirty="0"/>
          </a:p>
          <a:p>
            <a:pPr indent="0" marL="0">
              <a:buNone/>
            </a:pPr>
            <a:r>
              <a:rPr lang="en-US" sz="1350" dirty="0">
                <a:solidFill>
                  <a:srgbClr val="D3E4FB"/>
                </a:solidFill>
                <a:latin typeface="Calibri" pitchFamily="34" charset="0"/>
                <a:ea typeface="Calibri" pitchFamily="34" charset="-122"/>
                <a:cs typeface="Calibri" pitchFamily="34" charset="-120"/>
              </a:rPr>
              <a:t>5.  Apuesta cuando siente desasosiego, ansiedad o depresión</a:t>
            </a:r>
            <a:endParaRPr lang="en-US" sz="1350" dirty="0"/>
          </a:p>
        </p:txBody>
      </p:sp>
      <p:sp>
        <p:nvSpPr>
          <p:cNvPr id="7" name="Text 5"/>
          <p:cNvSpPr/>
          <p:nvPr/>
        </p:nvSpPr>
        <p:spPr>
          <a:xfrm>
            <a:off x="6278728" y="1920240"/>
            <a:ext cx="5272888" cy="3657600"/>
          </a:xfrm>
          <a:prstGeom prst="rect">
            <a:avLst/>
          </a:prstGeom>
          <a:noFill/>
          <a:ln/>
        </p:spPr>
        <p:txBody>
          <a:bodyPr wrap="square" rtlCol="0" anchor="ctr"/>
          <a:lstStyle/>
          <a:p>
            <a:pPr indent="0" marL="0">
              <a:buNone/>
            </a:pPr>
            <a:r>
              <a:rPr lang="en-US" sz="1350" dirty="0">
                <a:solidFill>
                  <a:srgbClr val="D3E4FB"/>
                </a:solidFill>
                <a:latin typeface="Calibri" pitchFamily="34" charset="0"/>
                <a:ea typeface="Calibri" pitchFamily="34" charset="-122"/>
                <a:cs typeface="Calibri" pitchFamily="34" charset="-120"/>
              </a:rPr>
              <a:t>6.  Vuelve a jugar para intentar recuperar pérdidas</a:t>
            </a:r>
            <a:endParaRPr lang="en-US" sz="1350" dirty="0"/>
          </a:p>
          <a:p>
            <a:pPr indent="0" marL="0">
              <a:buNone/>
            </a:pPr>
            <a:r>
              <a:rPr lang="en-US" sz="1350" dirty="0">
                <a:solidFill>
                  <a:srgbClr val="D3E4FB"/>
                </a:solidFill>
                <a:latin typeface="Calibri" pitchFamily="34" charset="0"/>
                <a:ea typeface="Calibri" pitchFamily="34" charset="-122"/>
                <a:cs typeface="Calibri" pitchFamily="34" charset="-120"/>
              </a:rPr>
              <a:t>7.  Miente para ocultar su implicación en el juego</a:t>
            </a:r>
            <a:endParaRPr lang="en-US" sz="1350" dirty="0"/>
          </a:p>
          <a:p>
            <a:pPr indent="0" marL="0">
              <a:buNone/>
            </a:pPr>
            <a:r>
              <a:rPr lang="en-US" sz="1350" dirty="0">
                <a:solidFill>
                  <a:srgbClr val="D3E4FB"/>
                </a:solidFill>
                <a:latin typeface="Calibri" pitchFamily="34" charset="0"/>
                <a:ea typeface="Calibri" pitchFamily="34" charset="-122"/>
                <a:cs typeface="Calibri" pitchFamily="34" charset="-120"/>
              </a:rPr>
              <a:t>8.  Ha puesto en riesgo relaciones, empleo o carrera académica</a:t>
            </a:r>
            <a:endParaRPr lang="en-US" sz="1350" dirty="0"/>
          </a:p>
          <a:p>
            <a:pPr indent="0" marL="0">
              <a:buNone/>
            </a:pPr>
            <a:r>
              <a:rPr lang="en-US" sz="1350" dirty="0">
                <a:solidFill>
                  <a:srgbClr val="D3E4FB"/>
                </a:solidFill>
                <a:latin typeface="Calibri" pitchFamily="34" charset="0"/>
                <a:ea typeface="Calibri" pitchFamily="34" charset="-122"/>
                <a:cs typeface="Calibri" pitchFamily="34" charset="-120"/>
              </a:rPr>
              <a:t>9.  Cuenta con otros para aliviar la situación financiera provocada por el juego</a:t>
            </a:r>
            <a:endParaRPr lang="en-US" sz="1350" dirty="0"/>
          </a:p>
        </p:txBody>
      </p:sp>
      <p:sp>
        <p:nvSpPr>
          <p:cNvPr id="8" name="Shape 6"/>
          <p:cNvSpPr/>
          <p:nvPr/>
        </p:nvSpPr>
        <p:spPr>
          <a:xfrm>
            <a:off x="640080" y="5989320"/>
            <a:ext cx="10911535" cy="20117"/>
          </a:xfrm>
          <a:prstGeom prst="rect">
            <a:avLst/>
          </a:prstGeom>
          <a:solidFill>
            <a:srgbClr val="C5A059"/>
          </a:solidFill>
          <a:ln w="12700">
            <a:solidFill>
              <a:srgbClr val="C5A059"/>
            </a:solidFill>
            <a:prstDash val="solid"/>
          </a:ln>
        </p:spPr>
      </p:sp>
      <p:sp>
        <p:nvSpPr>
          <p:cNvPr id="9" name="Text 7"/>
          <p:cNvSpPr/>
          <p:nvPr/>
        </p:nvSpPr>
        <p:spPr>
          <a:xfrm>
            <a:off x="640080" y="6053328"/>
            <a:ext cx="10911535" cy="640080"/>
          </a:xfrm>
          <a:prstGeom prst="rect">
            <a:avLst/>
          </a:prstGeom>
          <a:noFill/>
          <a:ln/>
        </p:spPr>
        <p:txBody>
          <a:bodyPr wrap="square" rtlCol="0" anchor="ctr"/>
          <a:lstStyle/>
          <a:p>
            <a:pPr indent="0" marL="0">
              <a:buNone/>
            </a:pPr>
            <a:r>
              <a:rPr lang="en-US" sz="900" i="1" dirty="0">
                <a:solidFill>
                  <a:srgbClr val="7C90AC"/>
                </a:solidFill>
                <a:latin typeface="Calibri" pitchFamily="34" charset="0"/>
                <a:ea typeface="Calibri" pitchFamily="34" charset="-122"/>
                <a:cs typeface="Calibri" pitchFamily="34" charset="-120"/>
              </a:rPr>
              <a:t>American Psychiatric Association (2013). DSM-5: Diagnostic and Statistical Manual of Mental Disorders (5ª ed.). Washington DC: APA.</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BLOQUE 2 — MARCO CONCEPTUAL</a:t>
            </a:r>
            <a:endParaRPr lang="en-US" sz="1100" dirty="0"/>
          </a:p>
        </p:txBody>
      </p:sp>
      <p:sp>
        <p:nvSpPr>
          <p:cNvPr id="3" name="Text 1"/>
          <p:cNvSpPr/>
          <p:nvPr/>
        </p:nvSpPr>
        <p:spPr>
          <a:xfrm>
            <a:off x="640080" y="621792"/>
            <a:ext cx="10911535" cy="658368"/>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Por qué el online es cualitativamente distinto</a:t>
            </a:r>
            <a:endParaRPr lang="en-US" sz="2800" dirty="0"/>
          </a:p>
        </p:txBody>
      </p:sp>
      <p:sp>
        <p:nvSpPr>
          <p:cNvPr id="4" name="Shape 2"/>
          <p:cNvSpPr/>
          <p:nvPr/>
        </p:nvSpPr>
        <p:spPr>
          <a:xfrm>
            <a:off x="640080" y="1298448"/>
            <a:ext cx="1645920" cy="20117"/>
          </a:xfrm>
          <a:prstGeom prst="rect">
            <a:avLst/>
          </a:prstGeom>
          <a:solidFill>
            <a:srgbClr val="C5A059"/>
          </a:solidFill>
          <a:ln w="12700">
            <a:solidFill>
              <a:srgbClr val="C5A059"/>
            </a:solidFill>
            <a:prstDash val="solid"/>
          </a:ln>
        </p:spPr>
      </p:sp>
      <p:sp>
        <p:nvSpPr>
          <p:cNvPr id="5" name="Shape 3"/>
          <p:cNvSpPr/>
          <p:nvPr/>
        </p:nvSpPr>
        <p:spPr>
          <a:xfrm>
            <a:off x="640080" y="1600200"/>
            <a:ext cx="3423818" cy="1783080"/>
          </a:xfrm>
          <a:prstGeom prst="rect">
            <a:avLst/>
          </a:prstGeom>
          <a:solidFill>
            <a:srgbClr val="16304C"/>
          </a:solidFill>
          <a:ln w="12700">
            <a:solidFill>
              <a:srgbClr val="16304C"/>
            </a:solidFill>
            <a:prstDash val="solid"/>
          </a:ln>
        </p:spPr>
      </p:sp>
      <p:sp>
        <p:nvSpPr>
          <p:cNvPr id="6" name="Shape 4"/>
          <p:cNvSpPr/>
          <p:nvPr/>
        </p:nvSpPr>
        <p:spPr>
          <a:xfrm>
            <a:off x="640080" y="1600200"/>
            <a:ext cx="64008" cy="1783080"/>
          </a:xfrm>
          <a:prstGeom prst="rect">
            <a:avLst/>
          </a:prstGeom>
          <a:solidFill>
            <a:srgbClr val="C5A059"/>
          </a:solidFill>
          <a:ln w="12700">
            <a:solidFill>
              <a:srgbClr val="C5A059"/>
            </a:solidFill>
            <a:prstDash val="solid"/>
          </a:ln>
        </p:spPr>
      </p:sp>
      <p:sp>
        <p:nvSpPr>
          <p:cNvPr id="7" name="Text 5"/>
          <p:cNvSpPr/>
          <p:nvPr/>
        </p:nvSpPr>
        <p:spPr>
          <a:xfrm>
            <a:off x="896112" y="1764792"/>
            <a:ext cx="301233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ANONIMATO</a:t>
            </a:r>
            <a:endParaRPr lang="en-US" sz="1100" dirty="0"/>
          </a:p>
        </p:txBody>
      </p:sp>
      <p:sp>
        <p:nvSpPr>
          <p:cNvPr id="8" name="Text 6"/>
          <p:cNvSpPr/>
          <p:nvPr/>
        </p:nvSpPr>
        <p:spPr>
          <a:xfrm>
            <a:off x="896112" y="2103120"/>
            <a:ext cx="3012338" cy="1097280"/>
          </a:xfrm>
          <a:prstGeom prst="rect">
            <a:avLst/>
          </a:prstGeom>
          <a:noFill/>
          <a:ln/>
        </p:spPr>
        <p:txBody>
          <a:bodyPr wrap="square" rtlCol="0" anchor="ctr"/>
          <a:lstStyle/>
          <a:p>
            <a:pPr indent="0" marL="0">
              <a:lnSpc>
                <a:spcPct val="115000"/>
              </a:lnSpc>
              <a:buNone/>
            </a:pPr>
            <a:r>
              <a:rPr lang="en-US" sz="1500" dirty="0">
                <a:solidFill>
                  <a:srgbClr val="D3E4FB"/>
                </a:solidFill>
                <a:latin typeface="Calibri" pitchFamily="34" charset="0"/>
                <a:ea typeface="Calibri" pitchFamily="34" charset="-122"/>
                <a:cs typeface="Calibri" pitchFamily="34" charset="-120"/>
              </a:rPr>
              <a:t>Sin testigos sociales que frenen o detecten.</a:t>
            </a:r>
            <a:endParaRPr lang="en-US" sz="1500" dirty="0"/>
          </a:p>
        </p:txBody>
      </p:sp>
      <p:sp>
        <p:nvSpPr>
          <p:cNvPr id="9" name="Shape 7"/>
          <p:cNvSpPr/>
          <p:nvPr/>
        </p:nvSpPr>
        <p:spPr>
          <a:xfrm>
            <a:off x="4383938" y="1600200"/>
            <a:ext cx="3423818" cy="1783080"/>
          </a:xfrm>
          <a:prstGeom prst="rect">
            <a:avLst/>
          </a:prstGeom>
          <a:solidFill>
            <a:srgbClr val="16304C"/>
          </a:solidFill>
          <a:ln w="12700">
            <a:solidFill>
              <a:srgbClr val="16304C"/>
            </a:solidFill>
            <a:prstDash val="solid"/>
          </a:ln>
        </p:spPr>
      </p:sp>
      <p:sp>
        <p:nvSpPr>
          <p:cNvPr id="10" name="Shape 8"/>
          <p:cNvSpPr/>
          <p:nvPr/>
        </p:nvSpPr>
        <p:spPr>
          <a:xfrm>
            <a:off x="4383938" y="1600200"/>
            <a:ext cx="64008" cy="1783080"/>
          </a:xfrm>
          <a:prstGeom prst="rect">
            <a:avLst/>
          </a:prstGeom>
          <a:solidFill>
            <a:srgbClr val="C5A059"/>
          </a:solidFill>
          <a:ln w="12700">
            <a:solidFill>
              <a:srgbClr val="C5A059"/>
            </a:solidFill>
            <a:prstDash val="solid"/>
          </a:ln>
        </p:spPr>
      </p:sp>
      <p:sp>
        <p:nvSpPr>
          <p:cNvPr id="11" name="Text 9"/>
          <p:cNvSpPr/>
          <p:nvPr/>
        </p:nvSpPr>
        <p:spPr>
          <a:xfrm>
            <a:off x="4639970" y="1764792"/>
            <a:ext cx="301233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ACCESO 24/7</a:t>
            </a:r>
            <a:endParaRPr lang="en-US" sz="1100" dirty="0"/>
          </a:p>
        </p:txBody>
      </p:sp>
      <p:sp>
        <p:nvSpPr>
          <p:cNvPr id="12" name="Text 10"/>
          <p:cNvSpPr/>
          <p:nvPr/>
        </p:nvSpPr>
        <p:spPr>
          <a:xfrm>
            <a:off x="4639970" y="2103120"/>
            <a:ext cx="3012338" cy="1097280"/>
          </a:xfrm>
          <a:prstGeom prst="rect">
            <a:avLst/>
          </a:prstGeom>
          <a:noFill/>
          <a:ln/>
        </p:spPr>
        <p:txBody>
          <a:bodyPr wrap="square" rtlCol="0" anchor="ctr"/>
          <a:lstStyle/>
          <a:p>
            <a:pPr indent="0" marL="0">
              <a:lnSpc>
                <a:spcPct val="115000"/>
              </a:lnSpc>
              <a:buNone/>
            </a:pPr>
            <a:r>
              <a:rPr lang="en-US" sz="1500" dirty="0">
                <a:solidFill>
                  <a:srgbClr val="D3E4FB"/>
                </a:solidFill>
                <a:latin typeface="Calibri" pitchFamily="34" charset="0"/>
                <a:ea typeface="Calibri" pitchFamily="34" charset="-122"/>
                <a:cs typeface="Calibri" pitchFamily="34" charset="-120"/>
              </a:rPr>
              <a:t>El casino está en el bolsillo, siempre abierto.</a:t>
            </a:r>
            <a:endParaRPr lang="en-US" sz="1500" dirty="0"/>
          </a:p>
        </p:txBody>
      </p:sp>
      <p:sp>
        <p:nvSpPr>
          <p:cNvPr id="13" name="Shape 11"/>
          <p:cNvSpPr/>
          <p:nvPr/>
        </p:nvSpPr>
        <p:spPr>
          <a:xfrm>
            <a:off x="8127797" y="1600200"/>
            <a:ext cx="3423818" cy="1783080"/>
          </a:xfrm>
          <a:prstGeom prst="rect">
            <a:avLst/>
          </a:prstGeom>
          <a:solidFill>
            <a:srgbClr val="16304C"/>
          </a:solidFill>
          <a:ln w="12700">
            <a:solidFill>
              <a:srgbClr val="16304C"/>
            </a:solidFill>
            <a:prstDash val="solid"/>
          </a:ln>
        </p:spPr>
      </p:sp>
      <p:sp>
        <p:nvSpPr>
          <p:cNvPr id="14" name="Shape 12"/>
          <p:cNvSpPr/>
          <p:nvPr/>
        </p:nvSpPr>
        <p:spPr>
          <a:xfrm>
            <a:off x="8127797" y="1600200"/>
            <a:ext cx="64008" cy="1783080"/>
          </a:xfrm>
          <a:prstGeom prst="rect">
            <a:avLst/>
          </a:prstGeom>
          <a:solidFill>
            <a:srgbClr val="C5A059"/>
          </a:solidFill>
          <a:ln w="12700">
            <a:solidFill>
              <a:srgbClr val="C5A059"/>
            </a:solidFill>
            <a:prstDash val="solid"/>
          </a:ln>
        </p:spPr>
      </p:sp>
      <p:sp>
        <p:nvSpPr>
          <p:cNvPr id="15" name="Text 13"/>
          <p:cNvSpPr/>
          <p:nvPr/>
        </p:nvSpPr>
        <p:spPr>
          <a:xfrm>
            <a:off x="8383829" y="1764792"/>
            <a:ext cx="301233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ALTA FRECUENCIA</a:t>
            </a:r>
            <a:endParaRPr lang="en-US" sz="1100" dirty="0"/>
          </a:p>
        </p:txBody>
      </p:sp>
      <p:sp>
        <p:nvSpPr>
          <p:cNvPr id="16" name="Text 14"/>
          <p:cNvSpPr/>
          <p:nvPr/>
        </p:nvSpPr>
        <p:spPr>
          <a:xfrm>
            <a:off x="8383829" y="2103120"/>
            <a:ext cx="3012338" cy="1097280"/>
          </a:xfrm>
          <a:prstGeom prst="rect">
            <a:avLst/>
          </a:prstGeom>
          <a:noFill/>
          <a:ln/>
        </p:spPr>
        <p:txBody>
          <a:bodyPr wrap="square" rtlCol="0" anchor="ctr"/>
          <a:lstStyle/>
          <a:p>
            <a:pPr indent="0" marL="0">
              <a:lnSpc>
                <a:spcPct val="115000"/>
              </a:lnSpc>
              <a:buNone/>
            </a:pPr>
            <a:r>
              <a:rPr lang="en-US" sz="1500" dirty="0">
                <a:solidFill>
                  <a:srgbClr val="D3E4FB"/>
                </a:solidFill>
                <a:latin typeface="Calibri" pitchFamily="34" charset="0"/>
                <a:ea typeface="Calibri" pitchFamily="34" charset="-122"/>
                <a:cs typeface="Calibri" pitchFamily="34" charset="-120"/>
              </a:rPr>
              <a:t>Muchos eventos de apuesta por minuto.</a:t>
            </a:r>
            <a:endParaRPr lang="en-US" sz="1500" dirty="0"/>
          </a:p>
        </p:txBody>
      </p:sp>
      <p:sp>
        <p:nvSpPr>
          <p:cNvPr id="17" name="Shape 15"/>
          <p:cNvSpPr/>
          <p:nvPr/>
        </p:nvSpPr>
        <p:spPr>
          <a:xfrm>
            <a:off x="640080" y="3566160"/>
            <a:ext cx="3423818" cy="1783080"/>
          </a:xfrm>
          <a:prstGeom prst="rect">
            <a:avLst/>
          </a:prstGeom>
          <a:solidFill>
            <a:srgbClr val="16304C"/>
          </a:solidFill>
          <a:ln w="12700">
            <a:solidFill>
              <a:srgbClr val="16304C"/>
            </a:solidFill>
            <a:prstDash val="solid"/>
          </a:ln>
        </p:spPr>
      </p:sp>
      <p:sp>
        <p:nvSpPr>
          <p:cNvPr id="18" name="Shape 16"/>
          <p:cNvSpPr/>
          <p:nvPr/>
        </p:nvSpPr>
        <p:spPr>
          <a:xfrm>
            <a:off x="640080" y="3566160"/>
            <a:ext cx="64008" cy="1783080"/>
          </a:xfrm>
          <a:prstGeom prst="rect">
            <a:avLst/>
          </a:prstGeom>
          <a:solidFill>
            <a:srgbClr val="C5A059"/>
          </a:solidFill>
          <a:ln w="12700">
            <a:solidFill>
              <a:srgbClr val="C5A059"/>
            </a:solidFill>
            <a:prstDash val="solid"/>
          </a:ln>
        </p:spPr>
      </p:sp>
      <p:sp>
        <p:nvSpPr>
          <p:cNvPr id="19" name="Text 17"/>
          <p:cNvSpPr/>
          <p:nvPr/>
        </p:nvSpPr>
        <p:spPr>
          <a:xfrm>
            <a:off x="896112" y="3730752"/>
            <a:ext cx="301233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DINERO VIRTUAL</a:t>
            </a:r>
            <a:endParaRPr lang="en-US" sz="1100" dirty="0"/>
          </a:p>
        </p:txBody>
      </p:sp>
      <p:sp>
        <p:nvSpPr>
          <p:cNvPr id="20" name="Text 18"/>
          <p:cNvSpPr/>
          <p:nvPr/>
        </p:nvSpPr>
        <p:spPr>
          <a:xfrm>
            <a:off x="896112" y="4069080"/>
            <a:ext cx="3012338" cy="1097280"/>
          </a:xfrm>
          <a:prstGeom prst="rect">
            <a:avLst/>
          </a:prstGeom>
          <a:noFill/>
          <a:ln/>
        </p:spPr>
        <p:txBody>
          <a:bodyPr wrap="square" rtlCol="0" anchor="ctr"/>
          <a:lstStyle/>
          <a:p>
            <a:pPr indent="0" marL="0">
              <a:lnSpc>
                <a:spcPct val="115000"/>
              </a:lnSpc>
              <a:buNone/>
            </a:pPr>
            <a:r>
              <a:rPr lang="en-US" sz="1500" dirty="0">
                <a:solidFill>
                  <a:srgbClr val="D3E4FB"/>
                </a:solidFill>
                <a:latin typeface="Calibri" pitchFamily="34" charset="0"/>
                <a:ea typeface="Calibri" pitchFamily="34" charset="-122"/>
                <a:cs typeface="Calibri" pitchFamily="34" charset="-120"/>
              </a:rPr>
              <a:t>Sin peso emocional del billete físico.</a:t>
            </a:r>
            <a:endParaRPr lang="en-US" sz="1500" dirty="0"/>
          </a:p>
        </p:txBody>
      </p:sp>
      <p:sp>
        <p:nvSpPr>
          <p:cNvPr id="21" name="Shape 19"/>
          <p:cNvSpPr/>
          <p:nvPr/>
        </p:nvSpPr>
        <p:spPr>
          <a:xfrm>
            <a:off x="4383938" y="3566160"/>
            <a:ext cx="3423818" cy="1783080"/>
          </a:xfrm>
          <a:prstGeom prst="rect">
            <a:avLst/>
          </a:prstGeom>
          <a:solidFill>
            <a:srgbClr val="16304C"/>
          </a:solidFill>
          <a:ln w="12700">
            <a:solidFill>
              <a:srgbClr val="16304C"/>
            </a:solidFill>
            <a:prstDash val="solid"/>
          </a:ln>
        </p:spPr>
      </p:sp>
      <p:sp>
        <p:nvSpPr>
          <p:cNvPr id="22" name="Shape 20"/>
          <p:cNvSpPr/>
          <p:nvPr/>
        </p:nvSpPr>
        <p:spPr>
          <a:xfrm>
            <a:off x="4383938" y="3566160"/>
            <a:ext cx="64008" cy="1783080"/>
          </a:xfrm>
          <a:prstGeom prst="rect">
            <a:avLst/>
          </a:prstGeom>
          <a:solidFill>
            <a:srgbClr val="C5A059"/>
          </a:solidFill>
          <a:ln w="12700">
            <a:solidFill>
              <a:srgbClr val="C5A059"/>
            </a:solidFill>
            <a:prstDash val="solid"/>
          </a:ln>
        </p:spPr>
      </p:sp>
      <p:sp>
        <p:nvSpPr>
          <p:cNvPr id="23" name="Text 21"/>
          <p:cNvSpPr/>
          <p:nvPr/>
        </p:nvSpPr>
        <p:spPr>
          <a:xfrm>
            <a:off x="4639970" y="3730752"/>
            <a:ext cx="301233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ENTORNO INMERSIVO</a:t>
            </a:r>
            <a:endParaRPr lang="en-US" sz="1100" dirty="0"/>
          </a:p>
        </p:txBody>
      </p:sp>
      <p:sp>
        <p:nvSpPr>
          <p:cNvPr id="24" name="Text 22"/>
          <p:cNvSpPr/>
          <p:nvPr/>
        </p:nvSpPr>
        <p:spPr>
          <a:xfrm>
            <a:off x="4639970" y="4069080"/>
            <a:ext cx="3012338" cy="1097280"/>
          </a:xfrm>
          <a:prstGeom prst="rect">
            <a:avLst/>
          </a:prstGeom>
          <a:noFill/>
          <a:ln/>
        </p:spPr>
        <p:txBody>
          <a:bodyPr wrap="square" rtlCol="0" anchor="ctr"/>
          <a:lstStyle/>
          <a:p>
            <a:pPr indent="0" marL="0">
              <a:lnSpc>
                <a:spcPct val="115000"/>
              </a:lnSpc>
              <a:buNone/>
            </a:pPr>
            <a:r>
              <a:rPr lang="en-US" sz="1500" dirty="0">
                <a:solidFill>
                  <a:srgbClr val="D3E4FB"/>
                </a:solidFill>
                <a:latin typeface="Calibri" pitchFamily="34" charset="0"/>
                <a:ea typeface="Calibri" pitchFamily="34" charset="-122"/>
                <a:cs typeface="Calibri" pitchFamily="34" charset="-120"/>
              </a:rPr>
              <a:t>Diseño pensado para retener.</a:t>
            </a:r>
            <a:endParaRPr lang="en-US" sz="1500" dirty="0"/>
          </a:p>
        </p:txBody>
      </p:sp>
      <p:sp>
        <p:nvSpPr>
          <p:cNvPr id="25" name="Shape 23"/>
          <p:cNvSpPr/>
          <p:nvPr/>
        </p:nvSpPr>
        <p:spPr>
          <a:xfrm>
            <a:off x="8127797" y="3566160"/>
            <a:ext cx="3423818" cy="1783080"/>
          </a:xfrm>
          <a:prstGeom prst="rect">
            <a:avLst/>
          </a:prstGeom>
          <a:solidFill>
            <a:srgbClr val="16304C"/>
          </a:solidFill>
          <a:ln w="12700">
            <a:solidFill>
              <a:srgbClr val="16304C"/>
            </a:solidFill>
            <a:prstDash val="solid"/>
          </a:ln>
        </p:spPr>
      </p:sp>
      <p:sp>
        <p:nvSpPr>
          <p:cNvPr id="26" name="Shape 24"/>
          <p:cNvSpPr/>
          <p:nvPr/>
        </p:nvSpPr>
        <p:spPr>
          <a:xfrm>
            <a:off x="8127797" y="3566160"/>
            <a:ext cx="64008" cy="1783080"/>
          </a:xfrm>
          <a:prstGeom prst="rect">
            <a:avLst/>
          </a:prstGeom>
          <a:solidFill>
            <a:srgbClr val="C5A059"/>
          </a:solidFill>
          <a:ln w="12700">
            <a:solidFill>
              <a:srgbClr val="C5A059"/>
            </a:solidFill>
            <a:prstDash val="solid"/>
          </a:ln>
        </p:spPr>
      </p:sp>
      <p:sp>
        <p:nvSpPr>
          <p:cNvPr id="27" name="Text 25"/>
          <p:cNvSpPr/>
          <p:nvPr/>
        </p:nvSpPr>
        <p:spPr>
          <a:xfrm>
            <a:off x="8383829" y="3730752"/>
            <a:ext cx="301233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SIN BARRERAS FÍSICAS</a:t>
            </a:r>
            <a:endParaRPr lang="en-US" sz="1100" dirty="0"/>
          </a:p>
        </p:txBody>
      </p:sp>
      <p:sp>
        <p:nvSpPr>
          <p:cNvPr id="28" name="Text 26"/>
          <p:cNvSpPr/>
          <p:nvPr/>
        </p:nvSpPr>
        <p:spPr>
          <a:xfrm>
            <a:off x="8383829" y="4069080"/>
            <a:ext cx="3012338" cy="1097280"/>
          </a:xfrm>
          <a:prstGeom prst="rect">
            <a:avLst/>
          </a:prstGeom>
          <a:noFill/>
          <a:ln/>
        </p:spPr>
        <p:txBody>
          <a:bodyPr wrap="square" rtlCol="0" anchor="ctr"/>
          <a:lstStyle/>
          <a:p>
            <a:pPr indent="0" marL="0">
              <a:lnSpc>
                <a:spcPct val="115000"/>
              </a:lnSpc>
              <a:buNone/>
            </a:pPr>
            <a:r>
              <a:rPr lang="en-US" sz="1500" dirty="0">
                <a:solidFill>
                  <a:srgbClr val="D3E4FB"/>
                </a:solidFill>
                <a:latin typeface="Calibri" pitchFamily="34" charset="0"/>
                <a:ea typeface="Calibri" pitchFamily="34" charset="-122"/>
                <a:cs typeface="Calibri" pitchFamily="34" charset="-120"/>
              </a:rPr>
              <a:t>Desaparecen los frenos del juego presencial.</a:t>
            </a:r>
            <a:endParaRPr lang="en-US" sz="1500" dirty="0"/>
          </a:p>
        </p:txBody>
      </p:sp>
      <p:sp>
        <p:nvSpPr>
          <p:cNvPr id="29" name="Shape 27"/>
          <p:cNvSpPr/>
          <p:nvPr/>
        </p:nvSpPr>
        <p:spPr>
          <a:xfrm>
            <a:off x="640080" y="5989320"/>
            <a:ext cx="10911535" cy="20117"/>
          </a:xfrm>
          <a:prstGeom prst="rect">
            <a:avLst/>
          </a:prstGeom>
          <a:solidFill>
            <a:srgbClr val="C5A059"/>
          </a:solidFill>
          <a:ln w="12700">
            <a:solidFill>
              <a:srgbClr val="C5A059"/>
            </a:solidFill>
            <a:prstDash val="solid"/>
          </a:ln>
        </p:spPr>
      </p:sp>
      <p:sp>
        <p:nvSpPr>
          <p:cNvPr id="30" name="Text 28"/>
          <p:cNvSpPr/>
          <p:nvPr/>
        </p:nvSpPr>
        <p:spPr>
          <a:xfrm>
            <a:off x="640080" y="6053328"/>
            <a:ext cx="10911535" cy="640080"/>
          </a:xfrm>
          <a:prstGeom prst="rect">
            <a:avLst/>
          </a:prstGeom>
          <a:noFill/>
          <a:ln/>
        </p:spPr>
        <p:txBody>
          <a:bodyPr wrap="square" rtlCol="0" anchor="ctr"/>
          <a:lstStyle/>
          <a:p>
            <a:pPr indent="0" marL="0">
              <a:buNone/>
            </a:pPr>
            <a:r>
              <a:rPr lang="en-US" sz="900" i="1" dirty="0">
                <a:solidFill>
                  <a:srgbClr val="7C90AC"/>
                </a:solidFill>
                <a:latin typeface="Calibri" pitchFamily="34" charset="0"/>
                <a:ea typeface="Calibri" pitchFamily="34" charset="-122"/>
                <a:cs typeface="Calibri" pitchFamily="34" charset="-120"/>
              </a:rPr>
              <a:t>Griffiths, M. D., &amp; Parke, J. (2002). “The social impact of internet gambling”. Social Science Computer Review, 20(3), 312-320.  ·  Gainsbury, S. M. (2015). Current Addiction Reports, 2(2), 185-193.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BLOQUE 2 — MECANISMO NEUROBIOLÓGICO</a:t>
            </a:r>
            <a:endParaRPr lang="en-US" sz="1100" dirty="0"/>
          </a:p>
        </p:txBody>
      </p:sp>
      <p:sp>
        <p:nvSpPr>
          <p:cNvPr id="3" name="Text 1"/>
          <p:cNvSpPr/>
          <p:nvPr/>
        </p:nvSpPr>
        <p:spPr>
          <a:xfrm>
            <a:off x="640080" y="621792"/>
            <a:ext cx="10911535" cy="658368"/>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Lo que engancha no es ganar: es no saber</a:t>
            </a:r>
            <a:endParaRPr lang="en-US" sz="2800" dirty="0"/>
          </a:p>
        </p:txBody>
      </p:sp>
      <p:sp>
        <p:nvSpPr>
          <p:cNvPr id="4" name="Shape 2"/>
          <p:cNvSpPr/>
          <p:nvPr/>
        </p:nvSpPr>
        <p:spPr>
          <a:xfrm>
            <a:off x="640080" y="1298448"/>
            <a:ext cx="1645920" cy="20117"/>
          </a:xfrm>
          <a:prstGeom prst="rect">
            <a:avLst/>
          </a:prstGeom>
          <a:solidFill>
            <a:srgbClr val="C5A059"/>
          </a:solidFill>
          <a:ln w="12700">
            <a:solidFill>
              <a:srgbClr val="C5A059"/>
            </a:solidFill>
            <a:prstDash val="solid"/>
          </a:ln>
        </p:spPr>
      </p:sp>
      <p:sp>
        <p:nvSpPr>
          <p:cNvPr id="5" name="Shape 3"/>
          <p:cNvSpPr/>
          <p:nvPr/>
        </p:nvSpPr>
        <p:spPr>
          <a:xfrm>
            <a:off x="640080" y="1554480"/>
            <a:ext cx="10911535" cy="1325880"/>
          </a:xfrm>
          <a:prstGeom prst="rect">
            <a:avLst/>
          </a:prstGeom>
          <a:solidFill>
            <a:srgbClr val="16304C"/>
          </a:solidFill>
          <a:ln w="12700">
            <a:solidFill>
              <a:srgbClr val="16304C"/>
            </a:solidFill>
            <a:prstDash val="solid"/>
          </a:ln>
        </p:spPr>
      </p:sp>
      <p:sp>
        <p:nvSpPr>
          <p:cNvPr id="6" name="Shape 4"/>
          <p:cNvSpPr/>
          <p:nvPr/>
        </p:nvSpPr>
        <p:spPr>
          <a:xfrm>
            <a:off x="640080" y="1554480"/>
            <a:ext cx="73152" cy="1325880"/>
          </a:xfrm>
          <a:prstGeom prst="rect">
            <a:avLst/>
          </a:prstGeom>
          <a:solidFill>
            <a:srgbClr val="C5A059"/>
          </a:solidFill>
          <a:ln w="12700">
            <a:solidFill>
              <a:srgbClr val="C5A059"/>
            </a:solidFill>
            <a:prstDash val="solid"/>
          </a:ln>
        </p:spPr>
      </p:sp>
      <p:sp>
        <p:nvSpPr>
          <p:cNvPr id="7" name="Text 5"/>
          <p:cNvSpPr/>
          <p:nvPr/>
        </p:nvSpPr>
        <p:spPr>
          <a:xfrm>
            <a:off x="960120" y="1737360"/>
            <a:ext cx="10408615" cy="822960"/>
          </a:xfrm>
          <a:prstGeom prst="rect">
            <a:avLst/>
          </a:prstGeom>
          <a:noFill/>
          <a:ln/>
        </p:spPr>
        <p:txBody>
          <a:bodyPr wrap="square" rtlCol="0" anchor="ctr"/>
          <a:lstStyle/>
          <a:p>
            <a:pPr indent="0" marL="0">
              <a:lnSpc>
                <a:spcPct val="115000"/>
              </a:lnSpc>
              <a:buNone/>
            </a:pPr>
            <a:r>
              <a:rPr lang="en-US" sz="1600" i="1" dirty="0">
                <a:solidFill>
                  <a:srgbClr val="FFFFFF"/>
                </a:solidFill>
                <a:latin typeface="Georgia" pitchFamily="34" charset="0"/>
                <a:ea typeface="Georgia" pitchFamily="34" charset="-122"/>
                <a:cs typeface="Georgia" pitchFamily="34" charset="-120"/>
              </a:rPr>
              <a:t>“El pico de dopamina empieza a ocurrir antes de tocar la palanca, no después. Lo que los vuelve adictos ya no es que van a comer, sino la incertidumbre de qué va a pasar.”</a:t>
            </a:r>
            <a:endParaRPr lang="en-US" sz="1600" dirty="0"/>
          </a:p>
        </p:txBody>
      </p:sp>
      <p:sp>
        <p:nvSpPr>
          <p:cNvPr id="8" name="Text 6"/>
          <p:cNvSpPr/>
          <p:nvPr/>
        </p:nvSpPr>
        <p:spPr>
          <a:xfrm>
            <a:off x="960120" y="2532888"/>
            <a:ext cx="10408615" cy="256032"/>
          </a:xfrm>
          <a:prstGeom prst="rect">
            <a:avLst/>
          </a:prstGeom>
          <a:noFill/>
          <a:ln/>
        </p:spPr>
        <p:txBody>
          <a:bodyPr wrap="square" rtlCol="0" anchor="ctr"/>
          <a:lstStyle/>
          <a:p>
            <a:pPr indent="0" marL="0">
              <a:buNone/>
            </a:pPr>
            <a:r>
              <a:rPr lang="en-US" sz="1100" dirty="0">
                <a:solidFill>
                  <a:srgbClr val="C5A059"/>
                </a:solidFill>
                <a:latin typeface="Calibri" pitchFamily="34" charset="0"/>
                <a:ea typeface="Calibri" pitchFamily="34" charset="-122"/>
                <a:cs typeface="Calibri" pitchFamily="34" charset="-120"/>
              </a:rPr>
              <a:t>Santiago Bilinkis — Futuro en Construcción, T13 E10 (divulgación; fuentes académicas abajo)</a:t>
            </a:r>
            <a:endParaRPr lang="en-US" sz="1100" dirty="0"/>
          </a:p>
        </p:txBody>
      </p:sp>
      <p:sp>
        <p:nvSpPr>
          <p:cNvPr id="9" name="Shape 7"/>
          <p:cNvSpPr/>
          <p:nvPr/>
        </p:nvSpPr>
        <p:spPr>
          <a:xfrm>
            <a:off x="640080" y="3108960"/>
            <a:ext cx="5272888" cy="2286000"/>
          </a:xfrm>
          <a:prstGeom prst="rect">
            <a:avLst/>
          </a:prstGeom>
          <a:solidFill>
            <a:srgbClr val="16304C"/>
          </a:solidFill>
          <a:ln w="12700">
            <a:solidFill>
              <a:srgbClr val="16304C"/>
            </a:solidFill>
            <a:prstDash val="solid"/>
          </a:ln>
        </p:spPr>
      </p:sp>
      <p:sp>
        <p:nvSpPr>
          <p:cNvPr id="10" name="Shape 8"/>
          <p:cNvSpPr/>
          <p:nvPr/>
        </p:nvSpPr>
        <p:spPr>
          <a:xfrm>
            <a:off x="640080" y="3108960"/>
            <a:ext cx="64008" cy="2286000"/>
          </a:xfrm>
          <a:prstGeom prst="rect">
            <a:avLst/>
          </a:prstGeom>
          <a:solidFill>
            <a:srgbClr val="C5A059"/>
          </a:solidFill>
          <a:ln w="12700">
            <a:solidFill>
              <a:srgbClr val="C5A059"/>
            </a:solidFill>
            <a:prstDash val="solid"/>
          </a:ln>
        </p:spPr>
      </p:sp>
      <p:sp>
        <p:nvSpPr>
          <p:cNvPr id="11" name="Text 9"/>
          <p:cNvSpPr/>
          <p:nvPr/>
        </p:nvSpPr>
        <p:spPr>
          <a:xfrm>
            <a:off x="896112" y="3273552"/>
            <a:ext cx="486140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SKINNER, 1938 — REFUERZO INTERMITENTE</a:t>
            </a:r>
            <a:endParaRPr lang="en-US" sz="1100" dirty="0"/>
          </a:p>
        </p:txBody>
      </p:sp>
      <p:sp>
        <p:nvSpPr>
          <p:cNvPr id="12" name="Text 10"/>
          <p:cNvSpPr/>
          <p:nvPr/>
        </p:nvSpPr>
        <p:spPr>
          <a:xfrm>
            <a:off x="896112" y="3611880"/>
            <a:ext cx="4861408" cy="1600200"/>
          </a:xfrm>
          <a:prstGeom prst="rect">
            <a:avLst/>
          </a:prstGeom>
          <a:noFill/>
          <a:ln/>
        </p:spPr>
        <p:txBody>
          <a:bodyPr wrap="square" rtlCol="0" anchor="ctr"/>
          <a:lstStyle/>
          <a:p>
            <a:pPr indent="0" marL="0">
              <a:lnSpc>
                <a:spcPct val="115000"/>
              </a:lnSpc>
              <a:buNone/>
            </a:pPr>
            <a:r>
              <a:rPr lang="en-US" sz="1400" dirty="0">
                <a:solidFill>
                  <a:srgbClr val="D3E4FB"/>
                </a:solidFill>
                <a:latin typeface="Calibri" pitchFamily="34" charset="0"/>
                <a:ea typeface="Calibri" pitchFamily="34" charset="-122"/>
                <a:cs typeface="Calibri" pitchFamily="34" charset="-120"/>
              </a:rPr>
              <a:t>Cuando la recompensa es variable e impredecible, la conducta se vuelve más resistente a la extinción que con recompensa fija. Es el principio de diseño de tragamonedas, slots y apps de apuestas.</a:t>
            </a:r>
            <a:endParaRPr lang="en-US" sz="1400" dirty="0"/>
          </a:p>
        </p:txBody>
      </p:sp>
      <p:sp>
        <p:nvSpPr>
          <p:cNvPr id="13" name="Shape 11"/>
          <p:cNvSpPr/>
          <p:nvPr/>
        </p:nvSpPr>
        <p:spPr>
          <a:xfrm>
            <a:off x="6278728" y="3108960"/>
            <a:ext cx="5272888" cy="2286000"/>
          </a:xfrm>
          <a:prstGeom prst="rect">
            <a:avLst/>
          </a:prstGeom>
          <a:solidFill>
            <a:srgbClr val="1B3855"/>
          </a:solidFill>
          <a:ln w="12700">
            <a:solidFill>
              <a:srgbClr val="1B3855"/>
            </a:solidFill>
            <a:prstDash val="solid"/>
          </a:ln>
        </p:spPr>
      </p:sp>
      <p:sp>
        <p:nvSpPr>
          <p:cNvPr id="14" name="Shape 12"/>
          <p:cNvSpPr/>
          <p:nvPr/>
        </p:nvSpPr>
        <p:spPr>
          <a:xfrm>
            <a:off x="6278728" y="3108960"/>
            <a:ext cx="64008" cy="2286000"/>
          </a:xfrm>
          <a:prstGeom prst="rect">
            <a:avLst/>
          </a:prstGeom>
          <a:solidFill>
            <a:srgbClr val="C5A059"/>
          </a:solidFill>
          <a:ln w="12700">
            <a:solidFill>
              <a:srgbClr val="C5A059"/>
            </a:solidFill>
            <a:prstDash val="solid"/>
          </a:ln>
        </p:spPr>
      </p:sp>
      <p:sp>
        <p:nvSpPr>
          <p:cNvPr id="15" name="Text 13"/>
          <p:cNvSpPr/>
          <p:nvPr/>
        </p:nvSpPr>
        <p:spPr>
          <a:xfrm>
            <a:off x="6534760" y="3273552"/>
            <a:ext cx="486140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SCHULTZ, DAYAN Y MONTAGUE, 1997</a:t>
            </a:r>
            <a:endParaRPr lang="en-US" sz="1100" dirty="0"/>
          </a:p>
        </p:txBody>
      </p:sp>
      <p:sp>
        <p:nvSpPr>
          <p:cNvPr id="16" name="Text 14"/>
          <p:cNvSpPr/>
          <p:nvPr/>
        </p:nvSpPr>
        <p:spPr>
          <a:xfrm>
            <a:off x="6534760" y="3611880"/>
            <a:ext cx="4861408" cy="1600200"/>
          </a:xfrm>
          <a:prstGeom prst="rect">
            <a:avLst/>
          </a:prstGeom>
          <a:noFill/>
          <a:ln/>
        </p:spPr>
        <p:txBody>
          <a:bodyPr wrap="square" rtlCol="0" anchor="ctr"/>
          <a:lstStyle/>
          <a:p>
            <a:pPr indent="0" marL="0">
              <a:lnSpc>
                <a:spcPct val="115000"/>
              </a:lnSpc>
              <a:buNone/>
            </a:pPr>
            <a:r>
              <a:rPr lang="en-US" sz="1400" dirty="0">
                <a:solidFill>
                  <a:srgbClr val="D3E4FB"/>
                </a:solidFill>
                <a:latin typeface="Calibri" pitchFamily="34" charset="0"/>
                <a:ea typeface="Calibri" pitchFamily="34" charset="-122"/>
                <a:cs typeface="Calibri" pitchFamily="34" charset="-120"/>
              </a:rPr>
              <a:t>Las neuronas dopaminérgicas no responden al premio en sí, sino a la predicción del premio. La respuesta se dispara cuando el resultado es incierto: la anticipación pesa más que el resultado.</a:t>
            </a:r>
            <a:endParaRPr lang="en-US" sz="1400" dirty="0"/>
          </a:p>
        </p:txBody>
      </p:sp>
      <p:sp>
        <p:nvSpPr>
          <p:cNvPr id="17" name="Shape 15"/>
          <p:cNvSpPr/>
          <p:nvPr/>
        </p:nvSpPr>
        <p:spPr>
          <a:xfrm>
            <a:off x="640080" y="5989320"/>
            <a:ext cx="10911535" cy="20117"/>
          </a:xfrm>
          <a:prstGeom prst="rect">
            <a:avLst/>
          </a:prstGeom>
          <a:solidFill>
            <a:srgbClr val="C5A059"/>
          </a:solidFill>
          <a:ln w="12700">
            <a:solidFill>
              <a:srgbClr val="C5A059"/>
            </a:solidFill>
            <a:prstDash val="solid"/>
          </a:ln>
        </p:spPr>
      </p:sp>
      <p:sp>
        <p:nvSpPr>
          <p:cNvPr id="18" name="Text 16"/>
          <p:cNvSpPr/>
          <p:nvPr/>
        </p:nvSpPr>
        <p:spPr>
          <a:xfrm>
            <a:off x="640080" y="6053328"/>
            <a:ext cx="10911535" cy="640080"/>
          </a:xfrm>
          <a:prstGeom prst="rect">
            <a:avLst/>
          </a:prstGeom>
          <a:noFill/>
          <a:ln/>
        </p:spPr>
        <p:txBody>
          <a:bodyPr wrap="square" rtlCol="0" anchor="ctr"/>
          <a:lstStyle/>
          <a:p>
            <a:pPr indent="0" marL="0">
              <a:buNone/>
            </a:pPr>
            <a:r>
              <a:rPr lang="en-US" sz="900" i="1" dirty="0">
                <a:solidFill>
                  <a:srgbClr val="7C90AC"/>
                </a:solidFill>
                <a:latin typeface="Calibri" pitchFamily="34" charset="0"/>
                <a:ea typeface="Calibri" pitchFamily="34" charset="-122"/>
                <a:cs typeface="Calibri" pitchFamily="34" charset="-120"/>
              </a:rPr>
              <a:t>Skinner, B. F. (1938). The Behavior of Organisms.  ·  Schultz, W., Dayan, P., &amp; Montague, P. R. (1997). Science, 275(5306), 1593-1599.  ·  Griffiths, M. D. (1993). Journal of Gambling Studies, 9(2), 101-120.  ·  Bilinkis, S. (2024). Futuro en Construcción, T13 E10.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BLOQUE 3 — DINÁMICA 1</a:t>
            </a:r>
            <a:endParaRPr lang="en-US" sz="1100" dirty="0"/>
          </a:p>
        </p:txBody>
      </p:sp>
      <p:sp>
        <p:nvSpPr>
          <p:cNvPr id="3" name="Text 1"/>
          <p:cNvSpPr/>
          <p:nvPr/>
        </p:nvSpPr>
        <p:spPr>
          <a:xfrm>
            <a:off x="640080" y="621792"/>
            <a:ext cx="10911535" cy="658368"/>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El adolescente en riesgo</a:t>
            </a:r>
            <a:endParaRPr lang="en-US" sz="2800" dirty="0"/>
          </a:p>
        </p:txBody>
      </p:sp>
      <p:sp>
        <p:nvSpPr>
          <p:cNvPr id="4" name="Shape 2"/>
          <p:cNvSpPr/>
          <p:nvPr/>
        </p:nvSpPr>
        <p:spPr>
          <a:xfrm>
            <a:off x="640080" y="1298448"/>
            <a:ext cx="1645920" cy="20117"/>
          </a:xfrm>
          <a:prstGeom prst="rect">
            <a:avLst/>
          </a:prstGeom>
          <a:solidFill>
            <a:srgbClr val="C5A059"/>
          </a:solidFill>
          <a:ln w="12700">
            <a:solidFill>
              <a:srgbClr val="C5A059"/>
            </a:solidFill>
            <a:prstDash val="solid"/>
          </a:ln>
        </p:spPr>
      </p:sp>
      <p:sp>
        <p:nvSpPr>
          <p:cNvPr id="5" name="Text 3"/>
          <p:cNvSpPr/>
          <p:nvPr/>
        </p:nvSpPr>
        <p:spPr>
          <a:xfrm>
            <a:off x="640080" y="1508760"/>
            <a:ext cx="10911535" cy="502920"/>
          </a:xfrm>
          <a:prstGeom prst="rect">
            <a:avLst/>
          </a:prstGeom>
          <a:noFill/>
          <a:ln/>
        </p:spPr>
        <p:txBody>
          <a:bodyPr wrap="square" rtlCol="0" anchor="ctr"/>
          <a:lstStyle/>
          <a:p>
            <a:pPr indent="0" marL="0">
              <a:buNone/>
            </a:pPr>
            <a:r>
              <a:rPr lang="en-US" sz="1500" i="1" dirty="0">
                <a:solidFill>
                  <a:srgbClr val="9FB4D4"/>
                </a:solidFill>
                <a:latin typeface="Calibri" pitchFamily="34" charset="0"/>
                <a:ea typeface="Calibri" pitchFamily="34" charset="-122"/>
                <a:cs typeface="Calibri" pitchFamily="34" charset="-120"/>
              </a:rPr>
              <a:t>Voy a describir un perfil. Mientras lo hago, piensen si reconocen a alguien: un alumno, un paciente, un chico del club. No hace falta decirlo en voz alta.</a:t>
            </a:r>
            <a:endParaRPr lang="en-US" sz="1500" dirty="0"/>
          </a:p>
        </p:txBody>
      </p:sp>
      <p:sp>
        <p:nvSpPr>
          <p:cNvPr id="6" name="Shape 4"/>
          <p:cNvSpPr/>
          <p:nvPr/>
        </p:nvSpPr>
        <p:spPr>
          <a:xfrm>
            <a:off x="640080" y="2148840"/>
            <a:ext cx="10911535" cy="3200400"/>
          </a:xfrm>
          <a:prstGeom prst="rect">
            <a:avLst/>
          </a:prstGeom>
          <a:solidFill>
            <a:srgbClr val="16304C"/>
          </a:solidFill>
          <a:ln w="12700">
            <a:solidFill>
              <a:srgbClr val="16304C"/>
            </a:solidFill>
            <a:prstDash val="solid"/>
          </a:ln>
        </p:spPr>
      </p:sp>
      <p:sp>
        <p:nvSpPr>
          <p:cNvPr id="7" name="Shape 5"/>
          <p:cNvSpPr/>
          <p:nvPr/>
        </p:nvSpPr>
        <p:spPr>
          <a:xfrm>
            <a:off x="640080" y="2148840"/>
            <a:ext cx="64008" cy="3200400"/>
          </a:xfrm>
          <a:prstGeom prst="rect">
            <a:avLst/>
          </a:prstGeom>
          <a:solidFill>
            <a:srgbClr val="C5A059"/>
          </a:solidFill>
          <a:ln w="12700">
            <a:solidFill>
              <a:srgbClr val="C5A059"/>
            </a:solidFill>
            <a:prstDash val="solid"/>
          </a:ln>
        </p:spPr>
      </p:sp>
      <p:sp>
        <p:nvSpPr>
          <p:cNvPr id="8" name="Text 6"/>
          <p:cNvSpPr/>
          <p:nvPr/>
        </p:nvSpPr>
        <p:spPr>
          <a:xfrm>
            <a:off x="896112" y="2313432"/>
            <a:ext cx="10500055"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PERFIL</a:t>
            </a:r>
            <a:endParaRPr lang="en-US" sz="1100" dirty="0"/>
          </a:p>
        </p:txBody>
      </p:sp>
      <p:sp>
        <p:nvSpPr>
          <p:cNvPr id="9" name="Text 7"/>
          <p:cNvSpPr/>
          <p:nvPr/>
        </p:nvSpPr>
        <p:spPr>
          <a:xfrm>
            <a:off x="896112" y="2651760"/>
            <a:ext cx="10500055" cy="2514600"/>
          </a:xfrm>
          <a:prstGeom prst="rect">
            <a:avLst/>
          </a:prstGeom>
          <a:noFill/>
          <a:ln/>
        </p:spPr>
        <p:txBody>
          <a:bodyPr wrap="square" rtlCol="0" anchor="ctr"/>
          <a:lstStyle/>
          <a:p>
            <a:pPr marL="127000" indent="-127000">
              <a:buSzPct val="100000"/>
              <a:buChar char="•"/>
            </a:pPr>
            <a:r>
              <a:rPr lang="en-US" sz="1500" dirty="0">
                <a:solidFill>
                  <a:srgbClr val="D3E4FB"/>
                </a:solidFill>
                <a:latin typeface="Calibri" pitchFamily="34" charset="0"/>
                <a:ea typeface="Calibri" pitchFamily="34" charset="-122"/>
                <a:cs typeface="Calibri" pitchFamily="34" charset="-120"/>
              </a:rPr>
              <a:t>Varón, 14–20 años.</a:t>
            </a:r>
            <a:endParaRPr lang="en-US" sz="1500" dirty="0"/>
          </a:p>
          <a:p>
            <a:pPr marL="127000" indent="-127000">
              <a:buSzPct val="100000"/>
              <a:buChar char="•"/>
            </a:pPr>
            <a:r>
              <a:rPr lang="en-US" sz="1500" dirty="0">
                <a:solidFill>
                  <a:srgbClr val="D3E4FB"/>
                </a:solidFill>
                <a:latin typeface="Calibri" pitchFamily="34" charset="0"/>
                <a:ea typeface="Calibri" pitchFamily="34" charset="-122"/>
                <a:cs typeface="Calibri" pitchFamily="34" charset="-120"/>
              </a:rPr>
              <a:t>Impulsivo, baja tolerancia a la frustración, estado de ánimo disfórico o inestable.</a:t>
            </a:r>
            <a:endParaRPr lang="en-US" sz="1500" dirty="0"/>
          </a:p>
          <a:p>
            <a:pPr marL="127000" indent="-127000">
              <a:buSzPct val="100000"/>
              <a:buChar char="•"/>
            </a:pPr>
            <a:r>
              <a:rPr lang="en-US" sz="1500" dirty="0">
                <a:solidFill>
                  <a:srgbClr val="D3E4FB"/>
                </a:solidFill>
                <a:latin typeface="Calibri" pitchFamily="34" charset="0"/>
                <a:ea typeface="Calibri" pitchFamily="34" charset="-122"/>
                <a:cs typeface="Calibri" pitchFamily="34" charset="-120"/>
              </a:rPr>
              <a:t>Búsqueda intensa de sensaciones, baja autoestima.</a:t>
            </a:r>
            <a:endParaRPr lang="en-US" sz="1500" dirty="0"/>
          </a:p>
          <a:p>
            <a:pPr marL="127000" indent="-127000">
              <a:buSzPct val="100000"/>
              <a:buChar char="•"/>
            </a:pPr>
            <a:r>
              <a:rPr lang="en-US" sz="1500" dirty="0">
                <a:solidFill>
                  <a:srgbClr val="D3E4FB"/>
                </a:solidFill>
                <a:latin typeface="Calibri" pitchFamily="34" charset="0"/>
                <a:ea typeface="Calibri" pitchFamily="34" charset="-122"/>
                <a:cs typeface="Calibri" pitchFamily="34" charset="-120"/>
              </a:rPr>
              <a:t>Entorno familiar con escasa supervisión o antecedentes de juego.</a:t>
            </a:r>
            <a:endParaRPr lang="en-US" sz="1500" dirty="0"/>
          </a:p>
          <a:p>
            <a:pPr marL="127000" indent="-127000">
              <a:buSzPct val="100000"/>
              <a:buChar char="•"/>
            </a:pPr>
            <a:r>
              <a:rPr lang="en-US" sz="1500" dirty="0">
                <a:solidFill>
                  <a:srgbClr val="D3E4FB"/>
                </a:solidFill>
                <a:latin typeface="Calibri" pitchFamily="34" charset="0"/>
                <a:ea typeface="Calibri" pitchFamily="34" charset="-122"/>
                <a:cs typeface="Calibri" pitchFamily="34" charset="-120"/>
              </a:rPr>
              <a:t>Acceso irrestricto al celular y billetera virtual.</a:t>
            </a:r>
            <a:endParaRPr lang="en-US" sz="1500" dirty="0"/>
          </a:p>
          <a:p>
            <a:pPr marL="127000" indent="-127000">
              <a:buSzPct val="100000"/>
              <a:buChar char="•"/>
            </a:pPr>
            <a:r>
              <a:rPr lang="en-US" sz="1500" dirty="0">
                <a:solidFill>
                  <a:srgbClr val="D3E4FB"/>
                </a:solidFill>
                <a:latin typeface="Calibri" pitchFamily="34" charset="0"/>
                <a:ea typeface="Calibri" pitchFamily="34" charset="-122"/>
                <a:cs typeface="Calibri" pitchFamily="34" charset="-120"/>
              </a:rPr>
              <a:t>Grupo de pares que apuesta.</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BLOQUE 3 — FACTORES DE VULNERABILIDAD</a:t>
            </a:r>
            <a:endParaRPr lang="en-US" sz="1100" dirty="0"/>
          </a:p>
        </p:txBody>
      </p:sp>
      <p:sp>
        <p:nvSpPr>
          <p:cNvPr id="3" name="Text 1"/>
          <p:cNvSpPr/>
          <p:nvPr/>
        </p:nvSpPr>
        <p:spPr>
          <a:xfrm>
            <a:off x="640080" y="621792"/>
            <a:ext cx="10911535" cy="658368"/>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Riesgo y protección</a:t>
            </a:r>
            <a:endParaRPr lang="en-US" sz="2800" dirty="0"/>
          </a:p>
        </p:txBody>
      </p:sp>
      <p:sp>
        <p:nvSpPr>
          <p:cNvPr id="4" name="Shape 2"/>
          <p:cNvSpPr/>
          <p:nvPr/>
        </p:nvSpPr>
        <p:spPr>
          <a:xfrm>
            <a:off x="640080" y="1298448"/>
            <a:ext cx="1645920" cy="20117"/>
          </a:xfrm>
          <a:prstGeom prst="rect">
            <a:avLst/>
          </a:prstGeom>
          <a:solidFill>
            <a:srgbClr val="C5A059"/>
          </a:solidFill>
          <a:ln w="12700">
            <a:solidFill>
              <a:srgbClr val="C5A059"/>
            </a:solidFill>
            <a:prstDash val="solid"/>
          </a:ln>
        </p:spPr>
      </p:sp>
      <p:sp>
        <p:nvSpPr>
          <p:cNvPr id="5" name="Shape 3"/>
          <p:cNvSpPr/>
          <p:nvPr/>
        </p:nvSpPr>
        <p:spPr>
          <a:xfrm>
            <a:off x="640080" y="1554480"/>
            <a:ext cx="5272888" cy="3108960"/>
          </a:xfrm>
          <a:prstGeom prst="rect">
            <a:avLst/>
          </a:prstGeom>
          <a:solidFill>
            <a:srgbClr val="16304C"/>
          </a:solidFill>
          <a:ln w="12700">
            <a:solidFill>
              <a:srgbClr val="16304C"/>
            </a:solidFill>
            <a:prstDash val="solid"/>
          </a:ln>
        </p:spPr>
      </p:sp>
      <p:sp>
        <p:nvSpPr>
          <p:cNvPr id="6" name="Shape 4"/>
          <p:cNvSpPr/>
          <p:nvPr/>
        </p:nvSpPr>
        <p:spPr>
          <a:xfrm>
            <a:off x="640080" y="1554480"/>
            <a:ext cx="64008" cy="3108960"/>
          </a:xfrm>
          <a:prstGeom prst="rect">
            <a:avLst/>
          </a:prstGeom>
          <a:solidFill>
            <a:srgbClr val="C5A059"/>
          </a:solidFill>
          <a:ln w="12700">
            <a:solidFill>
              <a:srgbClr val="C5A059"/>
            </a:solidFill>
            <a:prstDash val="solid"/>
          </a:ln>
        </p:spPr>
      </p:sp>
      <p:sp>
        <p:nvSpPr>
          <p:cNvPr id="7" name="Text 5"/>
          <p:cNvSpPr/>
          <p:nvPr/>
        </p:nvSpPr>
        <p:spPr>
          <a:xfrm>
            <a:off x="896112" y="1719072"/>
            <a:ext cx="486140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FACTORES INDIVIDUALES</a:t>
            </a:r>
            <a:endParaRPr lang="en-US" sz="1100" dirty="0"/>
          </a:p>
        </p:txBody>
      </p:sp>
      <p:sp>
        <p:nvSpPr>
          <p:cNvPr id="8" name="Text 6"/>
          <p:cNvSpPr/>
          <p:nvPr/>
        </p:nvSpPr>
        <p:spPr>
          <a:xfrm>
            <a:off x="896112" y="2057400"/>
            <a:ext cx="4861408" cy="2423160"/>
          </a:xfrm>
          <a:prstGeom prst="rect">
            <a:avLst/>
          </a:prstGeom>
          <a:noFill/>
          <a:ln/>
        </p:spPr>
        <p:txBody>
          <a:bodyPr wrap="square" rtlCol="0" anchor="ctr"/>
          <a:lstStyle/>
          <a:p>
            <a:pPr marL="127000" indent="-127000">
              <a:buSzPct val="100000"/>
              <a:buChar char="•"/>
            </a:pPr>
            <a:r>
              <a:rPr lang="en-US" sz="1350" dirty="0">
                <a:solidFill>
                  <a:srgbClr val="D3E4FB"/>
                </a:solidFill>
                <a:latin typeface="Calibri" pitchFamily="34" charset="0"/>
                <a:ea typeface="Calibri" pitchFamily="34" charset="-122"/>
                <a:cs typeface="Calibri" pitchFamily="34" charset="-120"/>
              </a:rPr>
              <a:t>Estado de ánimo disfórico</a:t>
            </a:r>
            <a:endParaRPr lang="en-US" sz="1350" dirty="0"/>
          </a:p>
          <a:p>
            <a:pPr marL="127000" indent="-127000">
              <a:buSzPct val="100000"/>
              <a:buChar char="•"/>
            </a:pPr>
            <a:r>
              <a:rPr lang="en-US" sz="1350" dirty="0">
                <a:solidFill>
                  <a:srgbClr val="D3E4FB"/>
                </a:solidFill>
                <a:latin typeface="Calibri" pitchFamily="34" charset="0"/>
                <a:ea typeface="Calibri" pitchFamily="34" charset="-122"/>
                <a:cs typeface="Calibri" pitchFamily="34" charset="-120"/>
              </a:rPr>
              <a:t>Baja tolerancia al malestar</a:t>
            </a:r>
            <a:endParaRPr lang="en-US" sz="1350" dirty="0"/>
          </a:p>
          <a:p>
            <a:pPr marL="127000" indent="-127000">
              <a:buSzPct val="100000"/>
              <a:buChar char="•"/>
            </a:pPr>
            <a:r>
              <a:rPr lang="en-US" sz="1350" dirty="0">
                <a:solidFill>
                  <a:srgbClr val="D3E4FB"/>
                </a:solidFill>
                <a:latin typeface="Calibri" pitchFamily="34" charset="0"/>
                <a:ea typeface="Calibri" pitchFamily="34" charset="-122"/>
                <a:cs typeface="Calibri" pitchFamily="34" charset="-120"/>
              </a:rPr>
              <a:t>Impulsividad / búsqueda de sensaciones</a:t>
            </a:r>
            <a:endParaRPr lang="en-US" sz="1350" dirty="0"/>
          </a:p>
          <a:p>
            <a:pPr marL="127000" indent="-127000">
              <a:buSzPct val="100000"/>
              <a:buChar char="•"/>
            </a:pPr>
            <a:r>
              <a:rPr lang="en-US" sz="1350" dirty="0">
                <a:solidFill>
                  <a:srgbClr val="D3E4FB"/>
                </a:solidFill>
                <a:latin typeface="Calibri" pitchFamily="34" charset="0"/>
                <a:ea typeface="Calibri" pitchFamily="34" charset="-122"/>
                <a:cs typeface="Calibri" pitchFamily="34" charset="-120"/>
              </a:rPr>
              <a:t>Baja autoestima</a:t>
            </a:r>
            <a:endParaRPr lang="en-US" sz="1350" dirty="0"/>
          </a:p>
          <a:p>
            <a:pPr marL="127000" indent="-127000">
              <a:buSzPct val="100000"/>
              <a:buChar char="•"/>
            </a:pPr>
            <a:r>
              <a:rPr lang="en-US" sz="1350" dirty="0">
                <a:solidFill>
                  <a:srgbClr val="D3E4FB"/>
                </a:solidFill>
                <a:latin typeface="Calibri" pitchFamily="34" charset="0"/>
                <a:ea typeface="Calibri" pitchFamily="34" charset="-122"/>
                <a:cs typeface="Calibri" pitchFamily="34" charset="-120"/>
              </a:rPr>
              <a:t>Estilos de afrontamiento inadecuados</a:t>
            </a:r>
            <a:endParaRPr lang="en-US" sz="1350" dirty="0"/>
          </a:p>
          <a:p>
            <a:pPr marL="127000" indent="-127000">
              <a:buSzPct val="100000"/>
              <a:buChar char="•"/>
            </a:pPr>
            <a:r>
              <a:rPr lang="en-US" sz="1350" dirty="0">
                <a:solidFill>
                  <a:srgbClr val="D3E4FB"/>
                </a:solidFill>
                <a:latin typeface="Calibri" pitchFamily="34" charset="0"/>
                <a:ea typeface="Calibri" pitchFamily="34" charset="-122"/>
                <a:cs typeface="Calibri" pitchFamily="34" charset="-120"/>
              </a:rPr>
              <a:t>Inestabilidad afectiva</a:t>
            </a:r>
            <a:endParaRPr lang="en-US" sz="1350" dirty="0"/>
          </a:p>
        </p:txBody>
      </p:sp>
      <p:sp>
        <p:nvSpPr>
          <p:cNvPr id="9" name="Shape 7"/>
          <p:cNvSpPr/>
          <p:nvPr/>
        </p:nvSpPr>
        <p:spPr>
          <a:xfrm>
            <a:off x="6278728" y="1554480"/>
            <a:ext cx="5272888" cy="3108960"/>
          </a:xfrm>
          <a:prstGeom prst="rect">
            <a:avLst/>
          </a:prstGeom>
          <a:solidFill>
            <a:srgbClr val="1B3855"/>
          </a:solidFill>
          <a:ln w="12700">
            <a:solidFill>
              <a:srgbClr val="1B3855"/>
            </a:solidFill>
            <a:prstDash val="solid"/>
          </a:ln>
        </p:spPr>
      </p:sp>
      <p:sp>
        <p:nvSpPr>
          <p:cNvPr id="10" name="Shape 8"/>
          <p:cNvSpPr/>
          <p:nvPr/>
        </p:nvSpPr>
        <p:spPr>
          <a:xfrm>
            <a:off x="6278728" y="1554480"/>
            <a:ext cx="64008" cy="3108960"/>
          </a:xfrm>
          <a:prstGeom prst="rect">
            <a:avLst/>
          </a:prstGeom>
          <a:solidFill>
            <a:srgbClr val="C5A059"/>
          </a:solidFill>
          <a:ln w="12700">
            <a:solidFill>
              <a:srgbClr val="C5A059"/>
            </a:solidFill>
            <a:prstDash val="solid"/>
          </a:ln>
        </p:spPr>
      </p:sp>
      <p:sp>
        <p:nvSpPr>
          <p:cNvPr id="11" name="Text 9"/>
          <p:cNvSpPr/>
          <p:nvPr/>
        </p:nvSpPr>
        <p:spPr>
          <a:xfrm>
            <a:off x="6534760" y="1719072"/>
            <a:ext cx="486140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FACTORES PSICOSOCIALES</a:t>
            </a:r>
            <a:endParaRPr lang="en-US" sz="1100" dirty="0"/>
          </a:p>
        </p:txBody>
      </p:sp>
      <p:sp>
        <p:nvSpPr>
          <p:cNvPr id="12" name="Text 10"/>
          <p:cNvSpPr/>
          <p:nvPr/>
        </p:nvSpPr>
        <p:spPr>
          <a:xfrm>
            <a:off x="6534760" y="2057400"/>
            <a:ext cx="4861408" cy="2423160"/>
          </a:xfrm>
          <a:prstGeom prst="rect">
            <a:avLst/>
          </a:prstGeom>
          <a:noFill/>
          <a:ln/>
        </p:spPr>
        <p:txBody>
          <a:bodyPr wrap="square" rtlCol="0" anchor="ctr"/>
          <a:lstStyle/>
          <a:p>
            <a:pPr marL="127000" indent="-127000">
              <a:buSzPct val="100000"/>
              <a:buChar char="•"/>
            </a:pPr>
            <a:r>
              <a:rPr lang="en-US" sz="1350" dirty="0">
                <a:solidFill>
                  <a:srgbClr val="D3E4FB"/>
                </a:solidFill>
                <a:latin typeface="Calibri" pitchFamily="34" charset="0"/>
                <a:ea typeface="Calibri" pitchFamily="34" charset="-122"/>
                <a:cs typeface="Calibri" pitchFamily="34" charset="-120"/>
              </a:rPr>
              <a:t>Características familiares desfavorables</a:t>
            </a:r>
            <a:endParaRPr lang="en-US" sz="1350" dirty="0"/>
          </a:p>
          <a:p>
            <a:pPr marL="127000" indent="-127000">
              <a:buSzPct val="100000"/>
              <a:buChar char="•"/>
            </a:pPr>
            <a:r>
              <a:rPr lang="en-US" sz="1350" dirty="0">
                <a:solidFill>
                  <a:srgbClr val="D3E4FB"/>
                </a:solidFill>
                <a:latin typeface="Calibri" pitchFamily="34" charset="0"/>
                <a:ea typeface="Calibri" pitchFamily="34" charset="-122"/>
                <a:cs typeface="Calibri" pitchFamily="34" charset="-120"/>
              </a:rPr>
              <a:t>Presión del grupo de pares</a:t>
            </a:r>
            <a:endParaRPr lang="en-US" sz="1350" dirty="0"/>
          </a:p>
          <a:p>
            <a:pPr marL="127000" indent="-127000">
              <a:buSzPct val="100000"/>
              <a:buChar char="•"/>
            </a:pPr>
            <a:r>
              <a:rPr lang="en-US" sz="1350" dirty="0">
                <a:solidFill>
                  <a:srgbClr val="D3E4FB"/>
                </a:solidFill>
                <a:latin typeface="Calibri" pitchFamily="34" charset="0"/>
                <a:ea typeface="Calibri" pitchFamily="34" charset="-122"/>
                <a:cs typeface="Calibri" pitchFamily="34" charset="-120"/>
              </a:rPr>
              <a:t>Acceso fácil al objeto adictivo</a:t>
            </a:r>
            <a:endParaRPr lang="en-US" sz="1350" dirty="0"/>
          </a:p>
          <a:p>
            <a:pPr marL="127000" indent="-127000">
              <a:buSzPct val="100000"/>
              <a:buChar char="•"/>
            </a:pPr>
            <a:r>
              <a:rPr lang="en-US" sz="1350" dirty="0">
                <a:solidFill>
                  <a:srgbClr val="D3E4FB"/>
                </a:solidFill>
                <a:latin typeface="Calibri" pitchFamily="34" charset="0"/>
                <a:ea typeface="Calibri" pitchFamily="34" charset="-122"/>
                <a:cs typeface="Calibri" pitchFamily="34" charset="-120"/>
              </a:rPr>
              <a:t>Recompensas inmediatas disponibles</a:t>
            </a:r>
            <a:endParaRPr lang="en-US" sz="1350" dirty="0"/>
          </a:p>
          <a:p>
            <a:pPr marL="127000" indent="-127000">
              <a:buSzPct val="100000"/>
              <a:buChar char="•"/>
            </a:pPr>
            <a:r>
              <a:rPr lang="en-US" sz="1350" dirty="0">
                <a:solidFill>
                  <a:srgbClr val="D3E4FB"/>
                </a:solidFill>
                <a:latin typeface="Calibri" pitchFamily="34" charset="0"/>
                <a:ea typeface="Calibri" pitchFamily="34" charset="-122"/>
                <a:cs typeface="Calibri" pitchFamily="34" charset="-120"/>
              </a:rPr>
              <a:t>Estrés crónico / vacío existencial</a:t>
            </a:r>
            <a:endParaRPr lang="en-US" sz="1350" dirty="0"/>
          </a:p>
        </p:txBody>
      </p:sp>
      <p:sp>
        <p:nvSpPr>
          <p:cNvPr id="13" name="Text 11"/>
          <p:cNvSpPr/>
          <p:nvPr/>
        </p:nvSpPr>
        <p:spPr>
          <a:xfrm>
            <a:off x="640080" y="4892040"/>
            <a:ext cx="10911535" cy="640080"/>
          </a:xfrm>
          <a:prstGeom prst="rect">
            <a:avLst/>
          </a:prstGeom>
          <a:noFill/>
          <a:ln/>
        </p:spPr>
        <p:txBody>
          <a:bodyPr wrap="square" rtlCol="0" anchor="ctr"/>
          <a:lstStyle/>
          <a:p>
            <a:pPr indent="0" marL="0">
              <a:buNone/>
            </a:pPr>
            <a:r>
              <a:rPr lang="en-US" sz="1400" dirty="0">
                <a:solidFill>
                  <a:srgbClr val="E0C68A"/>
                </a:solidFill>
                <a:latin typeface="Calibri" pitchFamily="34" charset="0"/>
                <a:ea typeface="Calibri" pitchFamily="34" charset="-122"/>
                <a:cs typeface="Calibri" pitchFamily="34" charset="-120"/>
              </a:rPr>
              <a:t>Factores protectores: autoestima adecuada · vínculos con supervisión · actividades alternativas · adultos referentes · habilidades sociales.</a:t>
            </a:r>
            <a:endParaRPr lang="en-US" sz="1400" dirty="0"/>
          </a:p>
        </p:txBody>
      </p:sp>
      <p:sp>
        <p:nvSpPr>
          <p:cNvPr id="14" name="Shape 12"/>
          <p:cNvSpPr/>
          <p:nvPr/>
        </p:nvSpPr>
        <p:spPr>
          <a:xfrm>
            <a:off x="640080" y="5989320"/>
            <a:ext cx="10911535" cy="20117"/>
          </a:xfrm>
          <a:prstGeom prst="rect">
            <a:avLst/>
          </a:prstGeom>
          <a:solidFill>
            <a:srgbClr val="C5A059"/>
          </a:solidFill>
          <a:ln w="12700">
            <a:solidFill>
              <a:srgbClr val="C5A059"/>
            </a:solidFill>
            <a:prstDash val="solid"/>
          </a:ln>
        </p:spPr>
      </p:sp>
      <p:sp>
        <p:nvSpPr>
          <p:cNvPr id="15" name="Text 13"/>
          <p:cNvSpPr/>
          <p:nvPr/>
        </p:nvSpPr>
        <p:spPr>
          <a:xfrm>
            <a:off x="640080" y="6053328"/>
            <a:ext cx="10911535" cy="640080"/>
          </a:xfrm>
          <a:prstGeom prst="rect">
            <a:avLst/>
          </a:prstGeom>
          <a:noFill/>
          <a:ln/>
        </p:spPr>
        <p:txBody>
          <a:bodyPr wrap="square" rtlCol="0" anchor="ctr"/>
          <a:lstStyle/>
          <a:p>
            <a:pPr indent="0" marL="0">
              <a:buNone/>
            </a:pPr>
            <a:r>
              <a:rPr lang="en-US" sz="900" i="1" dirty="0">
                <a:solidFill>
                  <a:srgbClr val="7C90AC"/>
                </a:solidFill>
                <a:latin typeface="Calibri" pitchFamily="34" charset="0"/>
                <a:ea typeface="Calibri" pitchFamily="34" charset="-122"/>
                <a:cs typeface="Calibri" pitchFamily="34" charset="-120"/>
              </a:rPr>
              <a:t>Programa CASS (2009). Factores de vulnerabilidad a las adicciones — conferencia Lic. Alejandro G. Sánchez.  ·  Echeburúa, E., &amp; Corral, P. (2010). Adicciones, 22(2), 91-96.  ·  Derevensky, J. L., &amp; Gilbeau, L. (2019). Canadian Journal of Addiction, 10(1), 10-20.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BLOQUE 3 — ENTORNO DIGITAL</a:t>
            </a:r>
            <a:endParaRPr lang="en-US" sz="1100" dirty="0"/>
          </a:p>
        </p:txBody>
      </p:sp>
      <p:sp>
        <p:nvSpPr>
          <p:cNvPr id="3" name="Text 1"/>
          <p:cNvSpPr/>
          <p:nvPr/>
        </p:nvSpPr>
        <p:spPr>
          <a:xfrm>
            <a:off x="640080" y="621792"/>
            <a:ext cx="10911535" cy="658368"/>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No es falta de voluntad. Es diseño.</a:t>
            </a:r>
            <a:endParaRPr lang="en-US" sz="2800" dirty="0"/>
          </a:p>
        </p:txBody>
      </p:sp>
      <p:sp>
        <p:nvSpPr>
          <p:cNvPr id="4" name="Shape 2"/>
          <p:cNvSpPr/>
          <p:nvPr/>
        </p:nvSpPr>
        <p:spPr>
          <a:xfrm>
            <a:off x="640080" y="1298448"/>
            <a:ext cx="1645920" cy="20117"/>
          </a:xfrm>
          <a:prstGeom prst="rect">
            <a:avLst/>
          </a:prstGeom>
          <a:solidFill>
            <a:srgbClr val="C5A059"/>
          </a:solidFill>
          <a:ln w="12700">
            <a:solidFill>
              <a:srgbClr val="C5A059"/>
            </a:solidFill>
            <a:prstDash val="solid"/>
          </a:ln>
        </p:spPr>
      </p:sp>
      <p:sp>
        <p:nvSpPr>
          <p:cNvPr id="5" name="Text 3"/>
          <p:cNvSpPr/>
          <p:nvPr/>
        </p:nvSpPr>
        <p:spPr>
          <a:xfrm>
            <a:off x="640080" y="1554480"/>
            <a:ext cx="10911535" cy="365760"/>
          </a:xfrm>
          <a:prstGeom prst="rect">
            <a:avLst/>
          </a:prstGeom>
          <a:noFill/>
          <a:ln/>
        </p:spPr>
        <p:txBody>
          <a:bodyPr wrap="square" rtlCol="0" anchor="ctr"/>
          <a:lstStyle/>
          <a:p>
            <a:pPr indent="0" marL="0">
              <a:buNone/>
            </a:pPr>
            <a:r>
              <a:rPr lang="en-US" sz="1500" dirty="0">
                <a:solidFill>
                  <a:srgbClr val="D3E4FB"/>
                </a:solidFill>
                <a:latin typeface="Calibri" pitchFamily="34" charset="0"/>
                <a:ea typeface="Calibri" pitchFamily="34" charset="-122"/>
                <a:cs typeface="Calibri" pitchFamily="34" charset="-120"/>
              </a:rPr>
              <a:t>El entorno digital es un factor de riesgo en sí mismo. Las plataformas maximizan retención:</a:t>
            </a:r>
            <a:endParaRPr lang="en-US" sz="1500" dirty="0"/>
          </a:p>
        </p:txBody>
      </p:sp>
      <p:sp>
        <p:nvSpPr>
          <p:cNvPr id="6" name="Shape 4"/>
          <p:cNvSpPr/>
          <p:nvPr/>
        </p:nvSpPr>
        <p:spPr>
          <a:xfrm>
            <a:off x="640080" y="2148840"/>
            <a:ext cx="2522144" cy="1005840"/>
          </a:xfrm>
          <a:prstGeom prst="roundRect">
            <a:avLst>
              <a:gd name="adj" fmla="val 7273"/>
            </a:avLst>
          </a:prstGeom>
          <a:solidFill>
            <a:srgbClr val="16304C"/>
          </a:solidFill>
          <a:ln w="12700">
            <a:solidFill>
              <a:srgbClr val="C5A059"/>
            </a:solidFill>
            <a:prstDash val="solid"/>
          </a:ln>
        </p:spPr>
      </p:sp>
      <p:sp>
        <p:nvSpPr>
          <p:cNvPr id="7" name="Text 5"/>
          <p:cNvSpPr/>
          <p:nvPr/>
        </p:nvSpPr>
        <p:spPr>
          <a:xfrm>
            <a:off x="731520" y="2286000"/>
            <a:ext cx="2339264" cy="731520"/>
          </a:xfrm>
          <a:prstGeom prst="rect">
            <a:avLst/>
          </a:prstGeom>
          <a:noFill/>
          <a:ln/>
        </p:spPr>
        <p:txBody>
          <a:bodyPr wrap="square" rtlCol="0" anchor="ctr"/>
          <a:lstStyle/>
          <a:p>
            <a:pPr algn="ctr" indent="0" marL="0">
              <a:buNone/>
            </a:pPr>
            <a:r>
              <a:rPr lang="en-US" sz="1500" dirty="0">
                <a:solidFill>
                  <a:srgbClr val="FFFFFF"/>
                </a:solidFill>
                <a:latin typeface="Georgia" pitchFamily="34" charset="0"/>
                <a:ea typeface="Georgia" pitchFamily="34" charset="-122"/>
                <a:cs typeface="Georgia" pitchFamily="34" charset="-120"/>
              </a:rPr>
              <a:t>Scroll infinito</a:t>
            </a:r>
            <a:endParaRPr lang="en-US" sz="1500" dirty="0"/>
          </a:p>
        </p:txBody>
      </p:sp>
      <p:sp>
        <p:nvSpPr>
          <p:cNvPr id="8" name="Shape 6"/>
          <p:cNvSpPr/>
          <p:nvPr/>
        </p:nvSpPr>
        <p:spPr>
          <a:xfrm>
            <a:off x="3436544" y="2148840"/>
            <a:ext cx="2522144" cy="1005840"/>
          </a:xfrm>
          <a:prstGeom prst="roundRect">
            <a:avLst>
              <a:gd name="adj" fmla="val 7273"/>
            </a:avLst>
          </a:prstGeom>
          <a:solidFill>
            <a:srgbClr val="16304C"/>
          </a:solidFill>
          <a:ln w="12700">
            <a:solidFill>
              <a:srgbClr val="C5A059"/>
            </a:solidFill>
            <a:prstDash val="solid"/>
          </a:ln>
        </p:spPr>
      </p:sp>
      <p:sp>
        <p:nvSpPr>
          <p:cNvPr id="9" name="Text 7"/>
          <p:cNvSpPr/>
          <p:nvPr/>
        </p:nvSpPr>
        <p:spPr>
          <a:xfrm>
            <a:off x="3527984" y="2286000"/>
            <a:ext cx="2339264" cy="731520"/>
          </a:xfrm>
          <a:prstGeom prst="rect">
            <a:avLst/>
          </a:prstGeom>
          <a:noFill/>
          <a:ln/>
        </p:spPr>
        <p:txBody>
          <a:bodyPr wrap="square" rtlCol="0" anchor="ctr"/>
          <a:lstStyle/>
          <a:p>
            <a:pPr algn="ctr" indent="0" marL="0">
              <a:buNone/>
            </a:pPr>
            <a:r>
              <a:rPr lang="en-US" sz="1500" dirty="0">
                <a:solidFill>
                  <a:srgbClr val="FFFFFF"/>
                </a:solidFill>
                <a:latin typeface="Georgia" pitchFamily="34" charset="0"/>
                <a:ea typeface="Georgia" pitchFamily="34" charset="-122"/>
                <a:cs typeface="Georgia" pitchFamily="34" charset="-120"/>
              </a:rPr>
              <a:t>Recompensa variable</a:t>
            </a:r>
            <a:endParaRPr lang="en-US" sz="1500" dirty="0"/>
          </a:p>
        </p:txBody>
      </p:sp>
      <p:sp>
        <p:nvSpPr>
          <p:cNvPr id="10" name="Shape 8"/>
          <p:cNvSpPr/>
          <p:nvPr/>
        </p:nvSpPr>
        <p:spPr>
          <a:xfrm>
            <a:off x="6233008" y="2148840"/>
            <a:ext cx="2522144" cy="1005840"/>
          </a:xfrm>
          <a:prstGeom prst="roundRect">
            <a:avLst>
              <a:gd name="adj" fmla="val 7273"/>
            </a:avLst>
          </a:prstGeom>
          <a:solidFill>
            <a:srgbClr val="16304C"/>
          </a:solidFill>
          <a:ln w="12700">
            <a:solidFill>
              <a:srgbClr val="C5A059"/>
            </a:solidFill>
            <a:prstDash val="solid"/>
          </a:ln>
        </p:spPr>
      </p:sp>
      <p:sp>
        <p:nvSpPr>
          <p:cNvPr id="11" name="Text 9"/>
          <p:cNvSpPr/>
          <p:nvPr/>
        </p:nvSpPr>
        <p:spPr>
          <a:xfrm>
            <a:off x="6324448" y="2286000"/>
            <a:ext cx="2339264" cy="731520"/>
          </a:xfrm>
          <a:prstGeom prst="rect">
            <a:avLst/>
          </a:prstGeom>
          <a:noFill/>
          <a:ln/>
        </p:spPr>
        <p:txBody>
          <a:bodyPr wrap="square" rtlCol="0" anchor="ctr"/>
          <a:lstStyle/>
          <a:p>
            <a:pPr algn="ctr" indent="0" marL="0">
              <a:buNone/>
            </a:pPr>
            <a:r>
              <a:rPr lang="en-US" sz="1500" dirty="0">
                <a:solidFill>
                  <a:srgbClr val="FFFFFF"/>
                </a:solidFill>
                <a:latin typeface="Georgia" pitchFamily="34" charset="0"/>
                <a:ea typeface="Georgia" pitchFamily="34" charset="-122"/>
                <a:cs typeface="Georgia" pitchFamily="34" charset="-120"/>
              </a:rPr>
              <a:t>Algoritmos que aprenden vulnerabilidades</a:t>
            </a:r>
            <a:endParaRPr lang="en-US" sz="1500" dirty="0"/>
          </a:p>
        </p:txBody>
      </p:sp>
      <p:sp>
        <p:nvSpPr>
          <p:cNvPr id="12" name="Shape 10"/>
          <p:cNvSpPr/>
          <p:nvPr/>
        </p:nvSpPr>
        <p:spPr>
          <a:xfrm>
            <a:off x="9029471" y="2148840"/>
            <a:ext cx="2522144" cy="1005840"/>
          </a:xfrm>
          <a:prstGeom prst="roundRect">
            <a:avLst>
              <a:gd name="adj" fmla="val 7273"/>
            </a:avLst>
          </a:prstGeom>
          <a:solidFill>
            <a:srgbClr val="16304C"/>
          </a:solidFill>
          <a:ln w="12700">
            <a:solidFill>
              <a:srgbClr val="C5A059"/>
            </a:solidFill>
            <a:prstDash val="solid"/>
          </a:ln>
        </p:spPr>
      </p:sp>
      <p:sp>
        <p:nvSpPr>
          <p:cNvPr id="13" name="Text 11"/>
          <p:cNvSpPr/>
          <p:nvPr/>
        </p:nvSpPr>
        <p:spPr>
          <a:xfrm>
            <a:off x="9120911" y="2286000"/>
            <a:ext cx="2339264" cy="731520"/>
          </a:xfrm>
          <a:prstGeom prst="rect">
            <a:avLst/>
          </a:prstGeom>
          <a:noFill/>
          <a:ln/>
        </p:spPr>
        <p:txBody>
          <a:bodyPr wrap="square" rtlCol="0" anchor="ctr"/>
          <a:lstStyle/>
          <a:p>
            <a:pPr algn="ctr" indent="0" marL="0">
              <a:buNone/>
            </a:pPr>
            <a:r>
              <a:rPr lang="en-US" sz="1500" dirty="0">
                <a:solidFill>
                  <a:srgbClr val="FFFFFF"/>
                </a:solidFill>
                <a:latin typeface="Georgia" pitchFamily="34" charset="0"/>
                <a:ea typeface="Georgia" pitchFamily="34" charset="-122"/>
                <a:cs typeface="Georgia" pitchFamily="34" charset="-120"/>
              </a:rPr>
              <a:t>Notificaciones por defecto</a:t>
            </a:r>
            <a:endParaRPr lang="en-US" sz="1500" dirty="0"/>
          </a:p>
        </p:txBody>
      </p:sp>
      <p:sp>
        <p:nvSpPr>
          <p:cNvPr id="14" name="Shape 12"/>
          <p:cNvSpPr/>
          <p:nvPr/>
        </p:nvSpPr>
        <p:spPr>
          <a:xfrm>
            <a:off x="640080" y="3474720"/>
            <a:ext cx="10911535" cy="1920240"/>
          </a:xfrm>
          <a:prstGeom prst="rect">
            <a:avLst/>
          </a:prstGeom>
          <a:solidFill>
            <a:srgbClr val="16304C"/>
          </a:solidFill>
          <a:ln w="12700">
            <a:solidFill>
              <a:srgbClr val="16304C"/>
            </a:solidFill>
            <a:prstDash val="solid"/>
          </a:ln>
        </p:spPr>
      </p:sp>
      <p:sp>
        <p:nvSpPr>
          <p:cNvPr id="15" name="Shape 13"/>
          <p:cNvSpPr/>
          <p:nvPr/>
        </p:nvSpPr>
        <p:spPr>
          <a:xfrm>
            <a:off x="640080" y="3474720"/>
            <a:ext cx="64008" cy="1920240"/>
          </a:xfrm>
          <a:prstGeom prst="rect">
            <a:avLst/>
          </a:prstGeom>
          <a:solidFill>
            <a:srgbClr val="C5A059"/>
          </a:solidFill>
          <a:ln w="12700">
            <a:solidFill>
              <a:srgbClr val="C5A059"/>
            </a:solidFill>
            <a:prstDash val="solid"/>
          </a:ln>
        </p:spPr>
      </p:sp>
      <p:sp>
        <p:nvSpPr>
          <p:cNvPr id="16" name="Text 14"/>
          <p:cNvSpPr/>
          <p:nvPr/>
        </p:nvSpPr>
        <p:spPr>
          <a:xfrm>
            <a:off x="896112" y="3639312"/>
            <a:ext cx="10500055"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CEREBRO ADOLESCENTE</a:t>
            </a:r>
            <a:endParaRPr lang="en-US" sz="1100" dirty="0"/>
          </a:p>
        </p:txBody>
      </p:sp>
      <p:sp>
        <p:nvSpPr>
          <p:cNvPr id="17" name="Text 15"/>
          <p:cNvSpPr/>
          <p:nvPr/>
        </p:nvSpPr>
        <p:spPr>
          <a:xfrm>
            <a:off x="896112" y="3977640"/>
            <a:ext cx="10500055" cy="1234440"/>
          </a:xfrm>
          <a:prstGeom prst="rect">
            <a:avLst/>
          </a:prstGeom>
          <a:noFill/>
          <a:ln/>
        </p:spPr>
        <p:txBody>
          <a:bodyPr wrap="square" rtlCol="0" anchor="ctr"/>
          <a:lstStyle/>
          <a:p>
            <a:pPr indent="0" marL="0">
              <a:lnSpc>
                <a:spcPct val="115000"/>
              </a:lnSpc>
              <a:buNone/>
            </a:pPr>
            <a:r>
              <a:rPr lang="en-US" sz="1450" dirty="0">
                <a:solidFill>
                  <a:srgbClr val="D3E4FB"/>
                </a:solidFill>
                <a:latin typeface="Calibri" pitchFamily="34" charset="0"/>
                <a:ea typeface="Calibri" pitchFamily="34" charset="-122"/>
                <a:cs typeface="Calibri" pitchFamily="34" charset="-120"/>
              </a:rPr>
              <a:t>El córtex prefrontal —que regula impulsos y evalúa consecuencias a largo plazo— completa su maduración alrededor de los 25 años. El sistema de recompensa, en cambio, está hiperactivo en la adolescencia. Esa combinación genera vulnerabilidad biológica documentada. La ventana útil de detección está en la secundaria y en el club, no en el consultorio de adultos.</a:t>
            </a:r>
            <a:endParaRPr lang="en-US" sz="1450" dirty="0"/>
          </a:p>
        </p:txBody>
      </p:sp>
      <p:sp>
        <p:nvSpPr>
          <p:cNvPr id="18" name="Shape 16"/>
          <p:cNvSpPr/>
          <p:nvPr/>
        </p:nvSpPr>
        <p:spPr>
          <a:xfrm>
            <a:off x="640080" y="5989320"/>
            <a:ext cx="10911535" cy="20117"/>
          </a:xfrm>
          <a:prstGeom prst="rect">
            <a:avLst/>
          </a:prstGeom>
          <a:solidFill>
            <a:srgbClr val="C5A059"/>
          </a:solidFill>
          <a:ln w="12700">
            <a:solidFill>
              <a:srgbClr val="C5A059"/>
            </a:solidFill>
            <a:prstDash val="solid"/>
          </a:ln>
        </p:spPr>
      </p:sp>
      <p:sp>
        <p:nvSpPr>
          <p:cNvPr id="19" name="Text 17"/>
          <p:cNvSpPr/>
          <p:nvPr/>
        </p:nvSpPr>
        <p:spPr>
          <a:xfrm>
            <a:off x="640080" y="6053328"/>
            <a:ext cx="10911535" cy="640080"/>
          </a:xfrm>
          <a:prstGeom prst="rect">
            <a:avLst/>
          </a:prstGeom>
          <a:noFill/>
          <a:ln/>
        </p:spPr>
        <p:txBody>
          <a:bodyPr wrap="square" rtlCol="0" anchor="ctr"/>
          <a:lstStyle/>
          <a:p>
            <a:pPr indent="0" marL="0">
              <a:buNone/>
            </a:pPr>
            <a:r>
              <a:rPr lang="en-US" sz="900" i="1" dirty="0">
                <a:solidFill>
                  <a:srgbClr val="7C90AC"/>
                </a:solidFill>
                <a:latin typeface="Calibri" pitchFamily="34" charset="0"/>
                <a:ea typeface="Calibri" pitchFamily="34" charset="-122"/>
                <a:cs typeface="Calibri" pitchFamily="34" charset="-120"/>
              </a:rPr>
              <a:t>Bilinkis, S. (2024). Futuro en Construcción / Guía para sobrevivir al presente.  ·  Fogg, B. J. (2003). Persuasive Technology. Morgan Kaufmann.  ·  Alter, A. (2017). Irresistible. Penguin.  ·  Casey, B. J., Jones, R. M., &amp; Hare, T. A. (2008). Annals of the NY Academy of Sciences, 1124, 111-126.  ·  Steinberg, L. (2008). Developmental Review, 28(1), 78-106.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BLOQUE 4 — DATOS EPIDEMIOLÓGICOS · ESPAÑA</a:t>
            </a:r>
            <a:endParaRPr lang="en-US" sz="1100" dirty="0"/>
          </a:p>
        </p:txBody>
      </p:sp>
      <p:sp>
        <p:nvSpPr>
          <p:cNvPr id="3" name="Text 1"/>
          <p:cNvSpPr/>
          <p:nvPr/>
        </p:nvSpPr>
        <p:spPr>
          <a:xfrm>
            <a:off x="640080" y="621792"/>
            <a:ext cx="10911535" cy="658368"/>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ESTUDES 2023 — estudiantes 14 a 18 años</a:t>
            </a:r>
            <a:endParaRPr lang="en-US" sz="2800" dirty="0"/>
          </a:p>
        </p:txBody>
      </p:sp>
      <p:sp>
        <p:nvSpPr>
          <p:cNvPr id="4" name="Shape 2"/>
          <p:cNvSpPr/>
          <p:nvPr/>
        </p:nvSpPr>
        <p:spPr>
          <a:xfrm>
            <a:off x="640080" y="1298448"/>
            <a:ext cx="1645920" cy="20117"/>
          </a:xfrm>
          <a:prstGeom prst="rect">
            <a:avLst/>
          </a:prstGeom>
          <a:solidFill>
            <a:srgbClr val="C5A059"/>
          </a:solidFill>
          <a:ln w="12700">
            <a:solidFill>
              <a:srgbClr val="C5A059"/>
            </a:solidFill>
            <a:prstDash val="solid"/>
          </a:ln>
        </p:spPr>
      </p:sp>
      <p:sp>
        <p:nvSpPr>
          <p:cNvPr id="5" name="Text 3"/>
          <p:cNvSpPr/>
          <p:nvPr/>
        </p:nvSpPr>
        <p:spPr>
          <a:xfrm>
            <a:off x="640080" y="1463040"/>
            <a:ext cx="10911535" cy="274320"/>
          </a:xfrm>
          <a:prstGeom prst="rect">
            <a:avLst/>
          </a:prstGeom>
          <a:noFill/>
          <a:ln/>
        </p:spPr>
        <p:txBody>
          <a:bodyPr wrap="square" rtlCol="0" anchor="ctr"/>
          <a:lstStyle/>
          <a:p>
            <a:pPr indent="0" marL="0">
              <a:buNone/>
            </a:pPr>
            <a:r>
              <a:rPr lang="en-US" sz="1300" i="1" dirty="0">
                <a:solidFill>
                  <a:srgbClr val="E0C68A"/>
                </a:solidFill>
                <a:latin typeface="Calibri" pitchFamily="34" charset="0"/>
                <a:ea typeface="Calibri" pitchFamily="34" charset="-122"/>
                <a:cs typeface="Calibri" pitchFamily="34" charset="-120"/>
              </a:rPr>
              <a:t>n = 42.208  ·  fuente más rigurosa disponible en español (OEDA 2024)</a:t>
            </a:r>
            <a:endParaRPr lang="en-US" sz="1300" dirty="0"/>
          </a:p>
        </p:txBody>
      </p:sp>
      <p:sp>
        <p:nvSpPr>
          <p:cNvPr id="6" name="Shape 4"/>
          <p:cNvSpPr/>
          <p:nvPr/>
        </p:nvSpPr>
        <p:spPr>
          <a:xfrm>
            <a:off x="640080" y="1920240"/>
            <a:ext cx="5272888" cy="1554480"/>
          </a:xfrm>
          <a:prstGeom prst="rect">
            <a:avLst/>
          </a:prstGeom>
          <a:solidFill>
            <a:srgbClr val="16304C"/>
          </a:solidFill>
          <a:ln w="12700">
            <a:solidFill>
              <a:srgbClr val="16304C"/>
            </a:solidFill>
            <a:prstDash val="solid"/>
          </a:ln>
        </p:spPr>
      </p:sp>
      <p:sp>
        <p:nvSpPr>
          <p:cNvPr id="7" name="Shape 5"/>
          <p:cNvSpPr/>
          <p:nvPr/>
        </p:nvSpPr>
        <p:spPr>
          <a:xfrm>
            <a:off x="640080" y="1920240"/>
            <a:ext cx="64008" cy="1554480"/>
          </a:xfrm>
          <a:prstGeom prst="rect">
            <a:avLst/>
          </a:prstGeom>
          <a:solidFill>
            <a:srgbClr val="C5A059"/>
          </a:solidFill>
          <a:ln w="12700">
            <a:solidFill>
              <a:srgbClr val="C5A059"/>
            </a:solidFill>
            <a:prstDash val="solid"/>
          </a:ln>
        </p:spPr>
      </p:sp>
      <p:sp>
        <p:nvSpPr>
          <p:cNvPr id="8" name="Text 6"/>
          <p:cNvSpPr/>
          <p:nvPr/>
        </p:nvSpPr>
        <p:spPr>
          <a:xfrm>
            <a:off x="896112" y="2084832"/>
            <a:ext cx="486140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10,7 %</a:t>
            </a:r>
            <a:endParaRPr lang="en-US" sz="1100" dirty="0"/>
          </a:p>
        </p:txBody>
      </p:sp>
      <p:sp>
        <p:nvSpPr>
          <p:cNvPr id="9" name="Text 7"/>
          <p:cNvSpPr/>
          <p:nvPr/>
        </p:nvSpPr>
        <p:spPr>
          <a:xfrm>
            <a:off x="896112" y="2423160"/>
            <a:ext cx="4861408" cy="868680"/>
          </a:xfrm>
          <a:prstGeom prst="rect">
            <a:avLst/>
          </a:prstGeom>
          <a:noFill/>
          <a:ln/>
        </p:spPr>
        <p:txBody>
          <a:bodyPr wrap="square" rtlCol="0" anchor="ctr"/>
          <a:lstStyle/>
          <a:p>
            <a:pPr indent="0" marL="0">
              <a:lnSpc>
                <a:spcPct val="115000"/>
              </a:lnSpc>
              <a:buNone/>
            </a:pPr>
            <a:r>
              <a:rPr lang="en-US" sz="1500" dirty="0">
                <a:solidFill>
                  <a:srgbClr val="D3E4FB"/>
                </a:solidFill>
                <a:latin typeface="Calibri" pitchFamily="34" charset="0"/>
                <a:ea typeface="Calibri" pitchFamily="34" charset="-122"/>
                <a:cs typeface="Calibri" pitchFamily="34" charset="-120"/>
              </a:rPr>
              <a:t>jugó online en últimos 12 meses — máximo histórico de la serie</a:t>
            </a:r>
            <a:endParaRPr lang="en-US" sz="1500" dirty="0"/>
          </a:p>
        </p:txBody>
      </p:sp>
      <p:sp>
        <p:nvSpPr>
          <p:cNvPr id="10" name="Shape 8"/>
          <p:cNvSpPr/>
          <p:nvPr/>
        </p:nvSpPr>
        <p:spPr>
          <a:xfrm>
            <a:off x="6278728" y="1920240"/>
            <a:ext cx="5272888" cy="1554480"/>
          </a:xfrm>
          <a:prstGeom prst="rect">
            <a:avLst/>
          </a:prstGeom>
          <a:solidFill>
            <a:srgbClr val="16304C"/>
          </a:solidFill>
          <a:ln w="12700">
            <a:solidFill>
              <a:srgbClr val="16304C"/>
            </a:solidFill>
            <a:prstDash val="solid"/>
          </a:ln>
        </p:spPr>
      </p:sp>
      <p:sp>
        <p:nvSpPr>
          <p:cNvPr id="11" name="Shape 9"/>
          <p:cNvSpPr/>
          <p:nvPr/>
        </p:nvSpPr>
        <p:spPr>
          <a:xfrm>
            <a:off x="6278728" y="1920240"/>
            <a:ext cx="64008" cy="1554480"/>
          </a:xfrm>
          <a:prstGeom prst="rect">
            <a:avLst/>
          </a:prstGeom>
          <a:solidFill>
            <a:srgbClr val="C5A059"/>
          </a:solidFill>
          <a:ln w="12700">
            <a:solidFill>
              <a:srgbClr val="C5A059"/>
            </a:solidFill>
            <a:prstDash val="solid"/>
          </a:ln>
        </p:spPr>
      </p:sp>
      <p:sp>
        <p:nvSpPr>
          <p:cNvPr id="12" name="Text 10"/>
          <p:cNvSpPr/>
          <p:nvPr/>
        </p:nvSpPr>
        <p:spPr>
          <a:xfrm>
            <a:off x="6534760" y="2084832"/>
            <a:ext cx="486140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14,7</a:t>
            </a:r>
            <a:endParaRPr lang="en-US" sz="1100" dirty="0"/>
          </a:p>
        </p:txBody>
      </p:sp>
      <p:sp>
        <p:nvSpPr>
          <p:cNvPr id="13" name="Text 11"/>
          <p:cNvSpPr/>
          <p:nvPr/>
        </p:nvSpPr>
        <p:spPr>
          <a:xfrm>
            <a:off x="6534760" y="2423160"/>
            <a:ext cx="4861408" cy="868680"/>
          </a:xfrm>
          <a:prstGeom prst="rect">
            <a:avLst/>
          </a:prstGeom>
          <a:noFill/>
          <a:ln/>
        </p:spPr>
        <p:txBody>
          <a:bodyPr wrap="square" rtlCol="0" anchor="ctr"/>
          <a:lstStyle/>
          <a:p>
            <a:pPr indent="0" marL="0">
              <a:lnSpc>
                <a:spcPct val="115000"/>
              </a:lnSpc>
              <a:buNone/>
            </a:pPr>
            <a:r>
              <a:rPr lang="en-US" sz="1500" dirty="0">
                <a:solidFill>
                  <a:srgbClr val="D3E4FB"/>
                </a:solidFill>
                <a:latin typeface="Calibri" pitchFamily="34" charset="0"/>
                <a:ea typeface="Calibri" pitchFamily="34" charset="-122"/>
                <a:cs typeface="Calibri" pitchFamily="34" charset="-120"/>
              </a:rPr>
              <a:t>años: edad media de inicio online (14,8 presencial)</a:t>
            </a:r>
            <a:endParaRPr lang="en-US" sz="1500" dirty="0"/>
          </a:p>
        </p:txBody>
      </p:sp>
      <p:sp>
        <p:nvSpPr>
          <p:cNvPr id="14" name="Shape 12"/>
          <p:cNvSpPr/>
          <p:nvPr/>
        </p:nvSpPr>
        <p:spPr>
          <a:xfrm>
            <a:off x="640080" y="3657600"/>
            <a:ext cx="5272888" cy="1554480"/>
          </a:xfrm>
          <a:prstGeom prst="rect">
            <a:avLst/>
          </a:prstGeom>
          <a:solidFill>
            <a:srgbClr val="1B3855"/>
          </a:solidFill>
          <a:ln w="12700">
            <a:solidFill>
              <a:srgbClr val="1B3855"/>
            </a:solidFill>
            <a:prstDash val="solid"/>
          </a:ln>
        </p:spPr>
      </p:sp>
      <p:sp>
        <p:nvSpPr>
          <p:cNvPr id="15" name="Shape 13"/>
          <p:cNvSpPr/>
          <p:nvPr/>
        </p:nvSpPr>
        <p:spPr>
          <a:xfrm>
            <a:off x="640080" y="3657600"/>
            <a:ext cx="64008" cy="1554480"/>
          </a:xfrm>
          <a:prstGeom prst="rect">
            <a:avLst/>
          </a:prstGeom>
          <a:solidFill>
            <a:srgbClr val="C5A059"/>
          </a:solidFill>
          <a:ln w="12700">
            <a:solidFill>
              <a:srgbClr val="C5A059"/>
            </a:solidFill>
            <a:prstDash val="solid"/>
          </a:ln>
        </p:spPr>
      </p:sp>
      <p:sp>
        <p:nvSpPr>
          <p:cNvPr id="16" name="Text 14"/>
          <p:cNvSpPr/>
          <p:nvPr/>
        </p:nvSpPr>
        <p:spPr>
          <a:xfrm>
            <a:off x="896112" y="3822192"/>
            <a:ext cx="486140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4,0 %</a:t>
            </a:r>
            <a:endParaRPr lang="en-US" sz="1100" dirty="0"/>
          </a:p>
        </p:txBody>
      </p:sp>
      <p:sp>
        <p:nvSpPr>
          <p:cNvPr id="17" name="Text 15"/>
          <p:cNvSpPr/>
          <p:nvPr/>
        </p:nvSpPr>
        <p:spPr>
          <a:xfrm>
            <a:off x="896112" y="4160520"/>
            <a:ext cx="4861408" cy="868680"/>
          </a:xfrm>
          <a:prstGeom prst="rect">
            <a:avLst/>
          </a:prstGeom>
          <a:noFill/>
          <a:ln/>
        </p:spPr>
        <p:txBody>
          <a:bodyPr wrap="square" rtlCol="0" anchor="ctr"/>
          <a:lstStyle/>
          <a:p>
            <a:pPr indent="0" marL="0">
              <a:lnSpc>
                <a:spcPct val="115000"/>
              </a:lnSpc>
              <a:buNone/>
            </a:pPr>
            <a:r>
              <a:rPr lang="en-US" sz="1500" dirty="0">
                <a:solidFill>
                  <a:srgbClr val="D3E4FB"/>
                </a:solidFill>
                <a:latin typeface="Calibri" pitchFamily="34" charset="0"/>
                <a:ea typeface="Calibri" pitchFamily="34" charset="-122"/>
                <a:cs typeface="Calibri" pitchFamily="34" charset="-120"/>
              </a:rPr>
              <a:t>posible juego problemático (Lie/Bet) — 6,0 % en varones</a:t>
            </a:r>
            <a:endParaRPr lang="en-US" sz="1500" dirty="0"/>
          </a:p>
        </p:txBody>
      </p:sp>
      <p:sp>
        <p:nvSpPr>
          <p:cNvPr id="18" name="Shape 16"/>
          <p:cNvSpPr/>
          <p:nvPr/>
        </p:nvSpPr>
        <p:spPr>
          <a:xfrm>
            <a:off x="6278728" y="3657600"/>
            <a:ext cx="5272888" cy="1554480"/>
          </a:xfrm>
          <a:prstGeom prst="rect">
            <a:avLst/>
          </a:prstGeom>
          <a:solidFill>
            <a:srgbClr val="1B3855"/>
          </a:solidFill>
          <a:ln w="12700">
            <a:solidFill>
              <a:srgbClr val="1B3855"/>
            </a:solidFill>
            <a:prstDash val="solid"/>
          </a:ln>
        </p:spPr>
      </p:sp>
      <p:sp>
        <p:nvSpPr>
          <p:cNvPr id="19" name="Shape 17"/>
          <p:cNvSpPr/>
          <p:nvPr/>
        </p:nvSpPr>
        <p:spPr>
          <a:xfrm>
            <a:off x="6278728" y="3657600"/>
            <a:ext cx="64008" cy="1554480"/>
          </a:xfrm>
          <a:prstGeom prst="rect">
            <a:avLst/>
          </a:prstGeom>
          <a:solidFill>
            <a:srgbClr val="C5A059"/>
          </a:solidFill>
          <a:ln w="12700">
            <a:solidFill>
              <a:srgbClr val="C5A059"/>
            </a:solidFill>
            <a:prstDash val="solid"/>
          </a:ln>
        </p:spPr>
      </p:sp>
      <p:sp>
        <p:nvSpPr>
          <p:cNvPr id="20" name="Text 18"/>
          <p:cNvSpPr/>
          <p:nvPr/>
        </p:nvSpPr>
        <p:spPr>
          <a:xfrm>
            <a:off x="6534760" y="3822192"/>
            <a:ext cx="486140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31,5 %</a:t>
            </a:r>
            <a:endParaRPr lang="en-US" sz="1100" dirty="0"/>
          </a:p>
        </p:txBody>
      </p:sp>
      <p:sp>
        <p:nvSpPr>
          <p:cNvPr id="21" name="Text 19"/>
          <p:cNvSpPr/>
          <p:nvPr/>
        </p:nvSpPr>
        <p:spPr>
          <a:xfrm>
            <a:off x="6534760" y="4160520"/>
            <a:ext cx="4861408" cy="868680"/>
          </a:xfrm>
          <a:prstGeom prst="rect">
            <a:avLst/>
          </a:prstGeom>
          <a:noFill/>
          <a:ln/>
        </p:spPr>
        <p:txBody>
          <a:bodyPr wrap="square" rtlCol="0" anchor="ctr"/>
          <a:lstStyle/>
          <a:p>
            <a:pPr indent="0" marL="0">
              <a:lnSpc>
                <a:spcPct val="115000"/>
              </a:lnSpc>
              <a:buNone/>
            </a:pPr>
            <a:r>
              <a:rPr lang="en-US" sz="1500" dirty="0">
                <a:solidFill>
                  <a:srgbClr val="D3E4FB"/>
                </a:solidFill>
                <a:latin typeface="Calibri" pitchFamily="34" charset="0"/>
                <a:ea typeface="Calibri" pitchFamily="34" charset="-122"/>
                <a:cs typeface="Calibri" pitchFamily="34" charset="-120"/>
              </a:rPr>
              <a:t>de quienes juegan online gastó más de 60 € en un solo día</a:t>
            </a:r>
            <a:endParaRPr lang="en-US" sz="1500" dirty="0"/>
          </a:p>
        </p:txBody>
      </p:sp>
      <p:sp>
        <p:nvSpPr>
          <p:cNvPr id="22" name="Shape 20"/>
          <p:cNvSpPr/>
          <p:nvPr/>
        </p:nvSpPr>
        <p:spPr>
          <a:xfrm>
            <a:off x="640080" y="5989320"/>
            <a:ext cx="10911535" cy="20117"/>
          </a:xfrm>
          <a:prstGeom prst="rect">
            <a:avLst/>
          </a:prstGeom>
          <a:solidFill>
            <a:srgbClr val="C5A059"/>
          </a:solidFill>
          <a:ln w="12700">
            <a:solidFill>
              <a:srgbClr val="C5A059"/>
            </a:solidFill>
            <a:prstDash val="solid"/>
          </a:ln>
        </p:spPr>
      </p:sp>
      <p:sp>
        <p:nvSpPr>
          <p:cNvPr id="23" name="Text 21"/>
          <p:cNvSpPr/>
          <p:nvPr/>
        </p:nvSpPr>
        <p:spPr>
          <a:xfrm>
            <a:off x="640080" y="6053328"/>
            <a:ext cx="10911535" cy="640080"/>
          </a:xfrm>
          <a:prstGeom prst="rect">
            <a:avLst/>
          </a:prstGeom>
          <a:noFill/>
          <a:ln/>
        </p:spPr>
        <p:txBody>
          <a:bodyPr wrap="square" rtlCol="0" anchor="ctr"/>
          <a:lstStyle/>
          <a:p>
            <a:pPr indent="0" marL="0">
              <a:buNone/>
            </a:pPr>
            <a:r>
              <a:rPr lang="en-US" sz="900" i="1" dirty="0">
                <a:solidFill>
                  <a:srgbClr val="7C90AC"/>
                </a:solidFill>
                <a:latin typeface="Calibri" pitchFamily="34" charset="0"/>
                <a:ea typeface="Calibri" pitchFamily="34" charset="-122"/>
                <a:cs typeface="Calibri" pitchFamily="34" charset="-120"/>
              </a:rPr>
              <a:t>Observatorio Español de las Drogas y las Adicciones (OEDA). Informe sobre Adicciones Comportamentales y Otros Trastornos Adictivos 2024. Madrid: Ministerio de Sanidad / DGPNSD. Encuesta ESTUDES 2023.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BLOQUE 4 — DATOS EPIDEMIOLÓGICOS · ESPAÑA</a:t>
            </a:r>
            <a:endParaRPr lang="en-US" sz="1100" dirty="0"/>
          </a:p>
        </p:txBody>
      </p:sp>
      <p:sp>
        <p:nvSpPr>
          <p:cNvPr id="3" name="Text 1"/>
          <p:cNvSpPr/>
          <p:nvPr/>
        </p:nvSpPr>
        <p:spPr>
          <a:xfrm>
            <a:off x="640080" y="621792"/>
            <a:ext cx="10911535" cy="658368"/>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EDADES 2024 — población 15 a 64 años</a:t>
            </a:r>
            <a:endParaRPr lang="en-US" sz="2800" dirty="0"/>
          </a:p>
        </p:txBody>
      </p:sp>
      <p:sp>
        <p:nvSpPr>
          <p:cNvPr id="4" name="Shape 2"/>
          <p:cNvSpPr/>
          <p:nvPr/>
        </p:nvSpPr>
        <p:spPr>
          <a:xfrm>
            <a:off x="640080" y="1298448"/>
            <a:ext cx="1645920" cy="20117"/>
          </a:xfrm>
          <a:prstGeom prst="rect">
            <a:avLst/>
          </a:prstGeom>
          <a:solidFill>
            <a:srgbClr val="C5A059"/>
          </a:solidFill>
          <a:ln w="12700">
            <a:solidFill>
              <a:srgbClr val="C5A059"/>
            </a:solidFill>
            <a:prstDash val="solid"/>
          </a:ln>
        </p:spPr>
      </p:sp>
      <p:sp>
        <p:nvSpPr>
          <p:cNvPr id="5" name="Shape 3"/>
          <p:cNvSpPr/>
          <p:nvPr/>
        </p:nvSpPr>
        <p:spPr>
          <a:xfrm>
            <a:off x="640080" y="1600200"/>
            <a:ext cx="5272888" cy="3749040"/>
          </a:xfrm>
          <a:prstGeom prst="rect">
            <a:avLst/>
          </a:prstGeom>
          <a:solidFill>
            <a:srgbClr val="16304C"/>
          </a:solidFill>
          <a:ln w="12700">
            <a:solidFill>
              <a:srgbClr val="16304C"/>
            </a:solidFill>
            <a:prstDash val="solid"/>
          </a:ln>
        </p:spPr>
      </p:sp>
      <p:sp>
        <p:nvSpPr>
          <p:cNvPr id="6" name="Shape 4"/>
          <p:cNvSpPr/>
          <p:nvPr/>
        </p:nvSpPr>
        <p:spPr>
          <a:xfrm>
            <a:off x="640080" y="1600200"/>
            <a:ext cx="64008" cy="3749040"/>
          </a:xfrm>
          <a:prstGeom prst="rect">
            <a:avLst/>
          </a:prstGeom>
          <a:solidFill>
            <a:srgbClr val="C5A059"/>
          </a:solidFill>
          <a:ln w="12700">
            <a:solidFill>
              <a:srgbClr val="C5A059"/>
            </a:solidFill>
            <a:prstDash val="solid"/>
          </a:ln>
        </p:spPr>
      </p:sp>
      <p:sp>
        <p:nvSpPr>
          <p:cNvPr id="7" name="Text 5"/>
          <p:cNvSpPr/>
          <p:nvPr/>
        </p:nvSpPr>
        <p:spPr>
          <a:xfrm>
            <a:off x="896112" y="1764792"/>
            <a:ext cx="486140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MAGNITUD</a:t>
            </a:r>
            <a:endParaRPr lang="en-US" sz="1100" dirty="0"/>
          </a:p>
        </p:txBody>
      </p:sp>
      <p:sp>
        <p:nvSpPr>
          <p:cNvPr id="8" name="Text 6"/>
          <p:cNvSpPr/>
          <p:nvPr/>
        </p:nvSpPr>
        <p:spPr>
          <a:xfrm>
            <a:off x="896112" y="2103120"/>
            <a:ext cx="4861408" cy="3063240"/>
          </a:xfrm>
          <a:prstGeom prst="rect">
            <a:avLst/>
          </a:prstGeom>
          <a:noFill/>
          <a:ln/>
        </p:spPr>
        <p:txBody>
          <a:bodyPr wrap="square" rtlCol="0" anchor="ctr"/>
          <a:lstStyle/>
          <a:p>
            <a:pPr marL="127000" indent="-127000">
              <a:buSzPct val="100000"/>
              <a:buChar char="•"/>
            </a:pPr>
            <a:r>
              <a:rPr lang="en-US" sz="1400" dirty="0">
                <a:solidFill>
                  <a:srgbClr val="D3E4FB"/>
                </a:solidFill>
                <a:latin typeface="Calibri" pitchFamily="34" charset="0"/>
                <a:ea typeface="Calibri" pitchFamily="34" charset="-122"/>
                <a:cs typeface="Calibri" pitchFamily="34" charset="-120"/>
              </a:rPr>
              <a:t>5,5 % jugó online en últimos 12 meses (hombres 8,2 % · mujeres 2,7 %).</a:t>
            </a:r>
            <a:endParaRPr lang="en-US" sz="1400" dirty="0"/>
          </a:p>
          <a:p>
            <a:pPr marL="127000" indent="-127000">
              <a:buSzPct val="100000"/>
              <a:buChar char="•"/>
            </a:pPr>
            <a:r>
              <a:rPr lang="en-US" sz="1400" dirty="0">
                <a:solidFill>
                  <a:srgbClr val="D3E4FB"/>
                </a:solidFill>
                <a:latin typeface="Calibri" pitchFamily="34" charset="0"/>
                <a:ea typeface="Calibri" pitchFamily="34" charset="-122"/>
                <a:cs typeface="Calibri" pitchFamily="34" charset="-120"/>
              </a:rPr>
              <a:t>Juego online: prevalencia de juego problemático 4× superior al presencial (18,4 % vs 4,3 %).</a:t>
            </a:r>
            <a:endParaRPr lang="en-US" sz="1400" dirty="0"/>
          </a:p>
          <a:p>
            <a:pPr marL="127000" indent="-127000">
              <a:buSzPct val="100000"/>
              <a:buChar char="•"/>
            </a:pPr>
            <a:r>
              <a:rPr lang="en-US" sz="1400" dirty="0">
                <a:solidFill>
                  <a:srgbClr val="D3E4FB"/>
                </a:solidFill>
                <a:latin typeface="Calibri" pitchFamily="34" charset="0"/>
                <a:ea typeface="Calibri" pitchFamily="34" charset="-122"/>
                <a:cs typeface="Calibri" pitchFamily="34" charset="-120"/>
              </a:rPr>
              <a:t>Juegos tipo III (deportivas y slots): 5× más probabilidad de juego problemático que loterías.</a:t>
            </a:r>
            <a:endParaRPr lang="en-US" sz="1400" dirty="0"/>
          </a:p>
          <a:p>
            <a:pPr marL="127000" indent="-127000">
              <a:buSzPct val="100000"/>
              <a:buChar char="•"/>
            </a:pPr>
            <a:r>
              <a:rPr lang="en-US" sz="1400" dirty="0">
                <a:solidFill>
                  <a:srgbClr val="D3E4FB"/>
                </a:solidFill>
                <a:latin typeface="Calibri" pitchFamily="34" charset="0"/>
                <a:ea typeface="Calibri" pitchFamily="34" charset="-122"/>
                <a:cs typeface="Calibri" pitchFamily="34" charset="-120"/>
              </a:rPr>
              <a:t>Entre online con juego problemático: 9,7 % juega a diario.</a:t>
            </a:r>
            <a:endParaRPr lang="en-US" sz="1400" dirty="0"/>
          </a:p>
        </p:txBody>
      </p:sp>
      <p:sp>
        <p:nvSpPr>
          <p:cNvPr id="9" name="Shape 7"/>
          <p:cNvSpPr/>
          <p:nvPr/>
        </p:nvSpPr>
        <p:spPr>
          <a:xfrm>
            <a:off x="6278728" y="1600200"/>
            <a:ext cx="5272888" cy="3749040"/>
          </a:xfrm>
          <a:prstGeom prst="rect">
            <a:avLst/>
          </a:prstGeom>
          <a:solidFill>
            <a:srgbClr val="1B3855"/>
          </a:solidFill>
          <a:ln w="12700">
            <a:solidFill>
              <a:srgbClr val="1B3855"/>
            </a:solidFill>
            <a:prstDash val="solid"/>
          </a:ln>
        </p:spPr>
      </p:sp>
      <p:sp>
        <p:nvSpPr>
          <p:cNvPr id="10" name="Shape 8"/>
          <p:cNvSpPr/>
          <p:nvPr/>
        </p:nvSpPr>
        <p:spPr>
          <a:xfrm>
            <a:off x="6278728" y="1600200"/>
            <a:ext cx="64008" cy="3749040"/>
          </a:xfrm>
          <a:prstGeom prst="rect">
            <a:avLst/>
          </a:prstGeom>
          <a:solidFill>
            <a:srgbClr val="C5A059"/>
          </a:solidFill>
          <a:ln w="12700">
            <a:solidFill>
              <a:srgbClr val="C5A059"/>
            </a:solidFill>
            <a:prstDash val="solid"/>
          </a:ln>
        </p:spPr>
      </p:sp>
      <p:sp>
        <p:nvSpPr>
          <p:cNvPr id="11" name="Text 9"/>
          <p:cNvSpPr/>
          <p:nvPr/>
        </p:nvSpPr>
        <p:spPr>
          <a:xfrm>
            <a:off x="6534760" y="1764792"/>
            <a:ext cx="486140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SEVERIDAD CLÍNICA</a:t>
            </a:r>
            <a:endParaRPr lang="en-US" sz="1100" dirty="0"/>
          </a:p>
        </p:txBody>
      </p:sp>
      <p:sp>
        <p:nvSpPr>
          <p:cNvPr id="12" name="Text 10"/>
          <p:cNvSpPr/>
          <p:nvPr/>
        </p:nvSpPr>
        <p:spPr>
          <a:xfrm>
            <a:off x="6534760" y="2103120"/>
            <a:ext cx="4861408" cy="3063240"/>
          </a:xfrm>
          <a:prstGeom prst="rect">
            <a:avLst/>
          </a:prstGeom>
          <a:noFill/>
          <a:ln/>
        </p:spPr>
        <p:txBody>
          <a:bodyPr wrap="square" rtlCol="0" anchor="ctr"/>
          <a:lstStyle/>
          <a:p>
            <a:pPr marL="127000" indent="-127000">
              <a:buSzPct val="100000"/>
              <a:buChar char="•"/>
            </a:pPr>
            <a:r>
              <a:rPr lang="en-US" sz="1400" dirty="0">
                <a:solidFill>
                  <a:srgbClr val="D3E4FB"/>
                </a:solidFill>
                <a:latin typeface="Calibri" pitchFamily="34" charset="0"/>
                <a:ea typeface="Calibri" pitchFamily="34" charset="-122"/>
                <a:cs typeface="Calibri" pitchFamily="34" charset="-120"/>
              </a:rPr>
              <a:t>Apuesta máxima en un día (online con trastorno): 2.606 €.</a:t>
            </a:r>
            <a:endParaRPr lang="en-US" sz="1400" dirty="0"/>
          </a:p>
          <a:p>
            <a:pPr marL="127000" indent="-127000">
              <a:buSzPct val="100000"/>
              <a:buChar char="•"/>
            </a:pPr>
            <a:r>
              <a:rPr lang="en-US" sz="1400" dirty="0">
                <a:solidFill>
                  <a:srgbClr val="D3E4FB"/>
                </a:solidFill>
                <a:latin typeface="Calibri" pitchFamily="34" charset="0"/>
                <a:ea typeface="Calibri" pitchFamily="34" charset="-122"/>
                <a:cs typeface="Calibri" pitchFamily="34" charset="-120"/>
              </a:rPr>
              <a:t>Deuda media al inicio de tratamiento: 26.546 €.</a:t>
            </a:r>
            <a:endParaRPr lang="en-US" sz="1400" dirty="0"/>
          </a:p>
          <a:p>
            <a:pPr marL="127000" indent="-127000">
              <a:buSzPct val="100000"/>
              <a:buChar char="•"/>
            </a:pPr>
            <a:r>
              <a:rPr lang="en-US" sz="1400" dirty="0">
                <a:solidFill>
                  <a:srgbClr val="D3E4FB"/>
                </a:solidFill>
                <a:latin typeface="Calibri" pitchFamily="34" charset="0"/>
                <a:ea typeface="Calibri" pitchFamily="34" charset="-122"/>
                <a:cs typeface="Calibri" pitchFamily="34" charset="-120"/>
              </a:rPr>
              <a:t>Admitidos a tratamiento (2022): 90,2 % hombres · edad media 38,5 · inicio 26,2.</a:t>
            </a:r>
            <a:endParaRPr lang="en-US" sz="1400" dirty="0"/>
          </a:p>
          <a:p>
            <a:pPr marL="127000" indent="-127000">
              <a:buSzPct val="100000"/>
              <a:buChar char="•"/>
            </a:pPr>
            <a:r>
              <a:rPr lang="en-US" sz="1400" dirty="0">
                <a:solidFill>
                  <a:srgbClr val="D3E4FB"/>
                </a:solidFill>
                <a:latin typeface="Calibri" pitchFamily="34" charset="0"/>
                <a:ea typeface="Calibri" pitchFamily="34" charset="-122"/>
                <a:cs typeface="Calibri" pitchFamily="34" charset="-120"/>
              </a:rPr>
              <a:t>20,2 % patología dual. Consecuencias: económicas 28,1 %, familiares 26,5 %, salud 16,8 %.</a:t>
            </a:r>
            <a:endParaRPr lang="en-US" sz="1400" dirty="0"/>
          </a:p>
        </p:txBody>
      </p:sp>
      <p:sp>
        <p:nvSpPr>
          <p:cNvPr id="13" name="Shape 11"/>
          <p:cNvSpPr/>
          <p:nvPr/>
        </p:nvSpPr>
        <p:spPr>
          <a:xfrm>
            <a:off x="640080" y="5989320"/>
            <a:ext cx="10911535" cy="20117"/>
          </a:xfrm>
          <a:prstGeom prst="rect">
            <a:avLst/>
          </a:prstGeom>
          <a:solidFill>
            <a:srgbClr val="C5A059"/>
          </a:solidFill>
          <a:ln w="12700">
            <a:solidFill>
              <a:srgbClr val="C5A059"/>
            </a:solidFill>
            <a:prstDash val="solid"/>
          </a:ln>
        </p:spPr>
      </p:sp>
      <p:sp>
        <p:nvSpPr>
          <p:cNvPr id="14" name="Text 12"/>
          <p:cNvSpPr/>
          <p:nvPr/>
        </p:nvSpPr>
        <p:spPr>
          <a:xfrm>
            <a:off x="640080" y="6053328"/>
            <a:ext cx="10911535" cy="640080"/>
          </a:xfrm>
          <a:prstGeom prst="rect">
            <a:avLst/>
          </a:prstGeom>
          <a:noFill/>
          <a:ln/>
        </p:spPr>
        <p:txBody>
          <a:bodyPr wrap="square" rtlCol="0" anchor="ctr"/>
          <a:lstStyle/>
          <a:p>
            <a:pPr indent="0" marL="0">
              <a:buNone/>
            </a:pPr>
            <a:r>
              <a:rPr lang="en-US" sz="900" i="1" dirty="0">
                <a:solidFill>
                  <a:srgbClr val="7C90AC"/>
                </a:solidFill>
                <a:latin typeface="Calibri" pitchFamily="34" charset="0"/>
                <a:ea typeface="Calibri" pitchFamily="34" charset="-122"/>
                <a:cs typeface="Calibri" pitchFamily="34" charset="-120"/>
              </a:rPr>
              <a:t>OEDA (2024). Informe sobre Adicciones Comportamentales… EDADES 2024 (n = 26.878) y perfil de admitidos a tratamiento 2022. Madrid: Ministerio de Sanidad.</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BLOQUE 4 — DATOS EPIDEMIOLÓGICOS · ARGENTINA</a:t>
            </a:r>
            <a:endParaRPr lang="en-US" sz="1100" dirty="0"/>
          </a:p>
        </p:txBody>
      </p:sp>
      <p:sp>
        <p:nvSpPr>
          <p:cNvPr id="3" name="Text 1"/>
          <p:cNvSpPr/>
          <p:nvPr/>
        </p:nvSpPr>
        <p:spPr>
          <a:xfrm>
            <a:off x="640080" y="621792"/>
            <a:ext cx="10911535" cy="658368"/>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Qué sabemos en nuestro país</a:t>
            </a:r>
            <a:endParaRPr lang="en-US" sz="2800" dirty="0"/>
          </a:p>
        </p:txBody>
      </p:sp>
      <p:sp>
        <p:nvSpPr>
          <p:cNvPr id="4" name="Shape 2"/>
          <p:cNvSpPr/>
          <p:nvPr/>
        </p:nvSpPr>
        <p:spPr>
          <a:xfrm>
            <a:off x="640080" y="1298448"/>
            <a:ext cx="1645920" cy="20117"/>
          </a:xfrm>
          <a:prstGeom prst="rect">
            <a:avLst/>
          </a:prstGeom>
          <a:solidFill>
            <a:srgbClr val="C5A059"/>
          </a:solidFill>
          <a:ln w="12700">
            <a:solidFill>
              <a:srgbClr val="C5A059"/>
            </a:solidFill>
            <a:prstDash val="solid"/>
          </a:ln>
        </p:spPr>
      </p:sp>
      <p:sp>
        <p:nvSpPr>
          <p:cNvPr id="5" name="Text 3"/>
          <p:cNvSpPr/>
          <p:nvPr/>
        </p:nvSpPr>
        <p:spPr>
          <a:xfrm>
            <a:off x="640080" y="1554480"/>
            <a:ext cx="1554480" cy="822960"/>
          </a:xfrm>
          <a:prstGeom prst="rect">
            <a:avLst/>
          </a:prstGeom>
          <a:noFill/>
          <a:ln/>
        </p:spPr>
        <p:txBody>
          <a:bodyPr wrap="square" rtlCol="0" anchor="ctr"/>
          <a:lstStyle/>
          <a:p>
            <a:pPr indent="0" marL="0">
              <a:buNone/>
            </a:pPr>
            <a:r>
              <a:rPr lang="en-US" sz="2600" b="1" dirty="0">
                <a:solidFill>
                  <a:srgbClr val="E0C68A"/>
                </a:solidFill>
                <a:latin typeface="Georgia" pitchFamily="34" charset="0"/>
                <a:ea typeface="Georgia" pitchFamily="34" charset="-122"/>
                <a:cs typeface="Georgia" pitchFamily="34" charset="-120"/>
              </a:rPr>
              <a:t>60 %</a:t>
            </a:r>
            <a:endParaRPr lang="en-US" sz="2600" dirty="0"/>
          </a:p>
        </p:txBody>
      </p:sp>
      <p:sp>
        <p:nvSpPr>
          <p:cNvPr id="6" name="Text 4"/>
          <p:cNvSpPr/>
          <p:nvPr/>
        </p:nvSpPr>
        <p:spPr>
          <a:xfrm>
            <a:off x="2377440" y="1554480"/>
            <a:ext cx="9174175" cy="822960"/>
          </a:xfrm>
          <a:prstGeom prst="rect">
            <a:avLst/>
          </a:prstGeom>
          <a:noFill/>
          <a:ln/>
        </p:spPr>
        <p:txBody>
          <a:bodyPr wrap="square" rtlCol="0" anchor="ctr"/>
          <a:lstStyle/>
          <a:p>
            <a:pPr indent="0" marL="0">
              <a:buNone/>
            </a:pPr>
            <a:r>
              <a:rPr lang="en-US" sz="1450" dirty="0">
                <a:solidFill>
                  <a:srgbClr val="D3E4FB"/>
                </a:solidFill>
                <a:latin typeface="Calibri" pitchFamily="34" charset="0"/>
                <a:ea typeface="Calibri" pitchFamily="34" charset="-122"/>
                <a:cs typeface="Calibri" pitchFamily="34" charset="-120"/>
              </a:rPr>
              <a:t>de adolescentes expuesto a plataformas de apuestas (Cruz Roja 2025, n=11.400, 16 provincias). 69 % ansiedad · 12 % endeudado.</a:t>
            </a:r>
            <a:endParaRPr lang="en-US" sz="1450" dirty="0"/>
          </a:p>
        </p:txBody>
      </p:sp>
      <p:sp>
        <p:nvSpPr>
          <p:cNvPr id="7" name="Text 5"/>
          <p:cNvSpPr/>
          <p:nvPr/>
        </p:nvSpPr>
        <p:spPr>
          <a:xfrm>
            <a:off x="640080" y="2514600"/>
            <a:ext cx="1554480" cy="822960"/>
          </a:xfrm>
          <a:prstGeom prst="rect">
            <a:avLst/>
          </a:prstGeom>
          <a:noFill/>
          <a:ln/>
        </p:spPr>
        <p:txBody>
          <a:bodyPr wrap="square" rtlCol="0" anchor="ctr"/>
          <a:lstStyle/>
          <a:p>
            <a:pPr indent="0" marL="0">
              <a:buNone/>
            </a:pPr>
            <a:r>
              <a:rPr lang="en-US" sz="2600" b="1" dirty="0">
                <a:solidFill>
                  <a:srgbClr val="E0C68A"/>
                </a:solidFill>
                <a:latin typeface="Georgia" pitchFamily="34" charset="0"/>
                <a:ea typeface="Georgia" pitchFamily="34" charset="-122"/>
                <a:cs typeface="Georgia" pitchFamily="34" charset="-120"/>
              </a:rPr>
              <a:t>12,5 %</a:t>
            </a:r>
            <a:endParaRPr lang="en-US" sz="2600" dirty="0"/>
          </a:p>
        </p:txBody>
      </p:sp>
      <p:sp>
        <p:nvSpPr>
          <p:cNvPr id="8" name="Text 6"/>
          <p:cNvSpPr/>
          <p:nvPr/>
        </p:nvSpPr>
        <p:spPr>
          <a:xfrm>
            <a:off x="2377440" y="2514600"/>
            <a:ext cx="9174175" cy="822960"/>
          </a:xfrm>
          <a:prstGeom prst="rect">
            <a:avLst/>
          </a:prstGeom>
          <a:noFill/>
          <a:ln/>
        </p:spPr>
        <p:txBody>
          <a:bodyPr wrap="square" rtlCol="0" anchor="ctr"/>
          <a:lstStyle/>
          <a:p>
            <a:pPr indent="0" marL="0">
              <a:buNone/>
            </a:pPr>
            <a:r>
              <a:rPr lang="en-US" sz="1450" dirty="0">
                <a:solidFill>
                  <a:srgbClr val="D3E4FB"/>
                </a:solidFill>
                <a:latin typeface="Calibri" pitchFamily="34" charset="0"/>
                <a:ea typeface="Calibri" pitchFamily="34" charset="-122"/>
                <a:cs typeface="Calibri" pitchFamily="34" charset="-120"/>
              </a:rPr>
              <a:t>de jóvenes 15–24 apostó online (Observatorio Adicciones / Defensoría PBA).</a:t>
            </a:r>
            <a:endParaRPr lang="en-US" sz="1450" dirty="0"/>
          </a:p>
        </p:txBody>
      </p:sp>
      <p:sp>
        <p:nvSpPr>
          <p:cNvPr id="9" name="Text 7"/>
          <p:cNvSpPr/>
          <p:nvPr/>
        </p:nvSpPr>
        <p:spPr>
          <a:xfrm>
            <a:off x="640080" y="3474720"/>
            <a:ext cx="1554480" cy="822960"/>
          </a:xfrm>
          <a:prstGeom prst="rect">
            <a:avLst/>
          </a:prstGeom>
          <a:noFill/>
          <a:ln/>
        </p:spPr>
        <p:txBody>
          <a:bodyPr wrap="square" rtlCol="0" anchor="ctr"/>
          <a:lstStyle/>
          <a:p>
            <a:pPr indent="0" marL="0">
              <a:buNone/>
            </a:pPr>
            <a:r>
              <a:rPr lang="en-US" sz="2600" b="1" dirty="0">
                <a:solidFill>
                  <a:srgbClr val="E0C68A"/>
                </a:solidFill>
                <a:latin typeface="Georgia" pitchFamily="34" charset="0"/>
                <a:ea typeface="Georgia" pitchFamily="34" charset="-122"/>
                <a:cs typeface="Georgia" pitchFamily="34" charset="-120"/>
              </a:rPr>
              <a:t>+250 %</a:t>
            </a:r>
            <a:endParaRPr lang="en-US" sz="2600" dirty="0"/>
          </a:p>
        </p:txBody>
      </p:sp>
      <p:sp>
        <p:nvSpPr>
          <p:cNvPr id="10" name="Text 8"/>
          <p:cNvSpPr/>
          <p:nvPr/>
        </p:nvSpPr>
        <p:spPr>
          <a:xfrm>
            <a:off x="2377440" y="3474720"/>
            <a:ext cx="9174175" cy="822960"/>
          </a:xfrm>
          <a:prstGeom prst="rect">
            <a:avLst/>
          </a:prstGeom>
          <a:noFill/>
          <a:ln/>
        </p:spPr>
        <p:txBody>
          <a:bodyPr wrap="square" rtlCol="0" anchor="ctr"/>
          <a:lstStyle/>
          <a:p>
            <a:pPr indent="0" marL="0">
              <a:buNone/>
            </a:pPr>
            <a:r>
              <a:rPr lang="en-US" sz="1450" dirty="0">
                <a:solidFill>
                  <a:srgbClr val="D3E4FB"/>
                </a:solidFill>
                <a:latin typeface="Calibri" pitchFamily="34" charset="0"/>
                <a:ea typeface="Calibri" pitchFamily="34" charset="-122"/>
                <a:cs typeface="Calibri" pitchFamily="34" charset="-120"/>
              </a:rPr>
              <a:t>crecimiento de consultas a la Línea 141 por juego compulsivo entre 2023 y 2024 (SEDRONAR).</a:t>
            </a:r>
            <a:endParaRPr lang="en-US" sz="1450" dirty="0"/>
          </a:p>
        </p:txBody>
      </p:sp>
      <p:sp>
        <p:nvSpPr>
          <p:cNvPr id="11" name="Text 9"/>
          <p:cNvSpPr/>
          <p:nvPr/>
        </p:nvSpPr>
        <p:spPr>
          <a:xfrm>
            <a:off x="640080" y="4434840"/>
            <a:ext cx="1554480" cy="822960"/>
          </a:xfrm>
          <a:prstGeom prst="rect">
            <a:avLst/>
          </a:prstGeom>
          <a:noFill/>
          <a:ln/>
        </p:spPr>
        <p:txBody>
          <a:bodyPr wrap="square" rtlCol="0" anchor="ctr"/>
          <a:lstStyle/>
          <a:p>
            <a:pPr indent="0" marL="0">
              <a:buNone/>
            </a:pPr>
            <a:r>
              <a:rPr lang="en-US" sz="2600" b="1" dirty="0">
                <a:solidFill>
                  <a:srgbClr val="E0C68A"/>
                </a:solidFill>
                <a:latin typeface="Georgia" pitchFamily="34" charset="0"/>
                <a:ea typeface="Georgia" pitchFamily="34" charset="-122"/>
                <a:cs typeface="Georgia" pitchFamily="34" charset="-120"/>
              </a:rPr>
              <a:t>23,3 %</a:t>
            </a:r>
            <a:endParaRPr lang="en-US" sz="2600" dirty="0"/>
          </a:p>
        </p:txBody>
      </p:sp>
      <p:sp>
        <p:nvSpPr>
          <p:cNvPr id="12" name="Text 10"/>
          <p:cNvSpPr/>
          <p:nvPr/>
        </p:nvSpPr>
        <p:spPr>
          <a:xfrm>
            <a:off x="2377440" y="4434840"/>
            <a:ext cx="9174175" cy="822960"/>
          </a:xfrm>
          <a:prstGeom prst="rect">
            <a:avLst/>
          </a:prstGeom>
          <a:noFill/>
          <a:ln/>
        </p:spPr>
        <p:txBody>
          <a:bodyPr wrap="square" rtlCol="0" anchor="ctr"/>
          <a:lstStyle/>
          <a:p>
            <a:pPr indent="0" marL="0">
              <a:buNone/>
            </a:pPr>
            <a:r>
              <a:rPr lang="en-US" sz="1450" dirty="0">
                <a:solidFill>
                  <a:srgbClr val="D3E4FB"/>
                </a:solidFill>
                <a:latin typeface="Calibri" pitchFamily="34" charset="0"/>
                <a:ea typeface="Calibri" pitchFamily="34" charset="-122"/>
                <a:cs typeface="Calibri" pitchFamily="34" charset="-120"/>
              </a:rPr>
              <a:t>de universitarios apostó en el último año; 1 de cada 5 preocupado por su forma de apostar (SEDRONAR 2023).</a:t>
            </a:r>
            <a:endParaRPr lang="en-US" sz="1450" dirty="0"/>
          </a:p>
        </p:txBody>
      </p:sp>
      <p:sp>
        <p:nvSpPr>
          <p:cNvPr id="13" name="Shape 11"/>
          <p:cNvSpPr/>
          <p:nvPr/>
        </p:nvSpPr>
        <p:spPr>
          <a:xfrm>
            <a:off x="640080" y="5989320"/>
            <a:ext cx="10911535" cy="20117"/>
          </a:xfrm>
          <a:prstGeom prst="rect">
            <a:avLst/>
          </a:prstGeom>
          <a:solidFill>
            <a:srgbClr val="C5A059"/>
          </a:solidFill>
          <a:ln w="12700">
            <a:solidFill>
              <a:srgbClr val="C5A059"/>
            </a:solidFill>
            <a:prstDash val="solid"/>
          </a:ln>
        </p:spPr>
      </p:sp>
      <p:sp>
        <p:nvSpPr>
          <p:cNvPr id="14" name="Text 12"/>
          <p:cNvSpPr/>
          <p:nvPr/>
        </p:nvSpPr>
        <p:spPr>
          <a:xfrm>
            <a:off x="640080" y="6053328"/>
            <a:ext cx="10911535" cy="640080"/>
          </a:xfrm>
          <a:prstGeom prst="rect">
            <a:avLst/>
          </a:prstGeom>
          <a:noFill/>
          <a:ln/>
        </p:spPr>
        <p:txBody>
          <a:bodyPr wrap="square" rtlCol="0" anchor="ctr"/>
          <a:lstStyle/>
          <a:p>
            <a:pPr indent="0" marL="0">
              <a:buNone/>
            </a:pPr>
            <a:r>
              <a:rPr lang="en-US" sz="900" i="1" dirty="0">
                <a:solidFill>
                  <a:srgbClr val="7C90AC"/>
                </a:solidFill>
                <a:latin typeface="Calibri" pitchFamily="34" charset="0"/>
                <a:ea typeface="Calibri" pitchFamily="34" charset="-122"/>
                <a:cs typeface="Calibri" pitchFamily="34" charset="-120"/>
              </a:rPr>
              <a:t>Cruz Roja Argentina (2025). Encuesta nacional sobre apuestas online en adolescentes.  ·  Observatorio de Adicciones y Consumos Problemáticos — Defensoría del Pueblo PBA (2024).  ·  SEDRONAR — Línea 141 y encuesta universitarios 2023.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BLOQUE 4 — LATINOAMÉRICA</a:t>
            </a:r>
            <a:endParaRPr lang="en-US" sz="1100" dirty="0"/>
          </a:p>
        </p:txBody>
      </p:sp>
      <p:sp>
        <p:nvSpPr>
          <p:cNvPr id="3" name="Text 1"/>
          <p:cNvSpPr/>
          <p:nvPr/>
        </p:nvSpPr>
        <p:spPr>
          <a:xfrm>
            <a:off x="640080" y="621792"/>
            <a:ext cx="10911535" cy="658368"/>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Brasil como espejo regional</a:t>
            </a:r>
            <a:endParaRPr lang="en-US" sz="2800" dirty="0"/>
          </a:p>
        </p:txBody>
      </p:sp>
      <p:sp>
        <p:nvSpPr>
          <p:cNvPr id="4" name="Shape 2"/>
          <p:cNvSpPr/>
          <p:nvPr/>
        </p:nvSpPr>
        <p:spPr>
          <a:xfrm>
            <a:off x="640080" y="1298448"/>
            <a:ext cx="1645920" cy="20117"/>
          </a:xfrm>
          <a:prstGeom prst="rect">
            <a:avLst/>
          </a:prstGeom>
          <a:solidFill>
            <a:srgbClr val="C5A059"/>
          </a:solidFill>
          <a:ln w="12700">
            <a:solidFill>
              <a:srgbClr val="C5A059"/>
            </a:solidFill>
            <a:prstDash val="solid"/>
          </a:ln>
        </p:spPr>
      </p:sp>
      <p:sp>
        <p:nvSpPr>
          <p:cNvPr id="5" name="Shape 3"/>
          <p:cNvSpPr/>
          <p:nvPr/>
        </p:nvSpPr>
        <p:spPr>
          <a:xfrm>
            <a:off x="640080" y="1600200"/>
            <a:ext cx="5272888" cy="3474720"/>
          </a:xfrm>
          <a:prstGeom prst="rect">
            <a:avLst/>
          </a:prstGeom>
          <a:solidFill>
            <a:srgbClr val="16304C"/>
          </a:solidFill>
          <a:ln w="12700">
            <a:solidFill>
              <a:srgbClr val="16304C"/>
            </a:solidFill>
            <a:prstDash val="solid"/>
          </a:ln>
        </p:spPr>
      </p:sp>
      <p:sp>
        <p:nvSpPr>
          <p:cNvPr id="6" name="Shape 4"/>
          <p:cNvSpPr/>
          <p:nvPr/>
        </p:nvSpPr>
        <p:spPr>
          <a:xfrm>
            <a:off x="640080" y="1600200"/>
            <a:ext cx="64008" cy="3474720"/>
          </a:xfrm>
          <a:prstGeom prst="rect">
            <a:avLst/>
          </a:prstGeom>
          <a:solidFill>
            <a:srgbClr val="C5A059"/>
          </a:solidFill>
          <a:ln w="12700">
            <a:solidFill>
              <a:srgbClr val="C5A059"/>
            </a:solidFill>
            <a:prstDash val="solid"/>
          </a:ln>
        </p:spPr>
      </p:sp>
      <p:sp>
        <p:nvSpPr>
          <p:cNvPr id="7" name="Text 5"/>
          <p:cNvSpPr/>
          <p:nvPr/>
        </p:nvSpPr>
        <p:spPr>
          <a:xfrm>
            <a:off x="896112" y="1764792"/>
            <a:ext cx="486140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EL SALTO DOCUMENTADO</a:t>
            </a:r>
            <a:endParaRPr lang="en-US" sz="1100" dirty="0"/>
          </a:p>
        </p:txBody>
      </p:sp>
      <p:sp>
        <p:nvSpPr>
          <p:cNvPr id="8" name="Text 6"/>
          <p:cNvSpPr/>
          <p:nvPr/>
        </p:nvSpPr>
        <p:spPr>
          <a:xfrm>
            <a:off x="896112" y="2103120"/>
            <a:ext cx="4861408" cy="2788920"/>
          </a:xfrm>
          <a:prstGeom prst="rect">
            <a:avLst/>
          </a:prstGeom>
          <a:noFill/>
          <a:ln/>
        </p:spPr>
        <p:txBody>
          <a:bodyPr wrap="square" rtlCol="0" anchor="ctr"/>
          <a:lstStyle/>
          <a:p>
            <a:pPr marL="127000" indent="-127000">
              <a:buSzPct val="100000"/>
              <a:buChar char="•"/>
            </a:pPr>
            <a:r>
              <a:rPr lang="en-US" sz="1400" dirty="0">
                <a:solidFill>
                  <a:srgbClr val="D3E4FB"/>
                </a:solidFill>
                <a:latin typeface="Calibri" pitchFamily="34" charset="0"/>
                <a:ea typeface="Calibri" pitchFamily="34" charset="-122"/>
                <a:cs typeface="Calibri" pitchFamily="34" charset="-120"/>
              </a:rPr>
              <a:t>Casos en el SUS: de 108 a 1.200 entre 2018 y 2023 (+1.011 %).</a:t>
            </a:r>
            <a:endParaRPr lang="en-US" sz="1400" dirty="0"/>
          </a:p>
          <a:p>
            <a:pPr marL="127000" indent="-127000">
              <a:buSzPct val="100000"/>
              <a:buChar char="•"/>
            </a:pPr>
            <a:r>
              <a:rPr lang="en-US" sz="1400" dirty="0">
                <a:solidFill>
                  <a:srgbClr val="D3E4FB"/>
                </a:solidFill>
                <a:latin typeface="Calibri" pitchFamily="34" charset="0"/>
                <a:ea typeface="Calibri" pitchFamily="34" charset="-122"/>
                <a:cs typeface="Calibri" pitchFamily="34" charset="-120"/>
              </a:rPr>
              <a:t>Agosto 2024: beneficiarios de Bolsa Família destinaron 3.000 millones de reales a apuestas vía PIX.</a:t>
            </a:r>
            <a:endParaRPr lang="en-US" sz="1400" dirty="0"/>
          </a:p>
          <a:p>
            <a:pPr marL="127000" indent="-127000">
              <a:buSzPct val="100000"/>
              <a:buChar char="•"/>
            </a:pPr>
            <a:r>
              <a:rPr lang="en-US" sz="1400" dirty="0">
                <a:solidFill>
                  <a:srgbClr val="D3E4FB"/>
                </a:solidFill>
                <a:latin typeface="Calibri" pitchFamily="34" charset="0"/>
                <a:ea typeface="Calibri" pitchFamily="34" charset="-122"/>
                <a:cs typeface="Calibri" pitchFamily="34" charset="-120"/>
              </a:rPr>
              <a:t>Ley 14.790/2023: primer marco regulatorio integral de la región.</a:t>
            </a:r>
            <a:endParaRPr lang="en-US" sz="1400" dirty="0"/>
          </a:p>
        </p:txBody>
      </p:sp>
      <p:sp>
        <p:nvSpPr>
          <p:cNvPr id="9" name="Shape 7"/>
          <p:cNvSpPr/>
          <p:nvPr/>
        </p:nvSpPr>
        <p:spPr>
          <a:xfrm>
            <a:off x="6278728" y="1600200"/>
            <a:ext cx="5272888" cy="3474720"/>
          </a:xfrm>
          <a:prstGeom prst="rect">
            <a:avLst/>
          </a:prstGeom>
          <a:solidFill>
            <a:srgbClr val="1B3855"/>
          </a:solidFill>
          <a:ln w="12700">
            <a:solidFill>
              <a:srgbClr val="1B3855"/>
            </a:solidFill>
            <a:prstDash val="solid"/>
          </a:ln>
        </p:spPr>
      </p:sp>
      <p:sp>
        <p:nvSpPr>
          <p:cNvPr id="10" name="Shape 8"/>
          <p:cNvSpPr/>
          <p:nvPr/>
        </p:nvSpPr>
        <p:spPr>
          <a:xfrm>
            <a:off x="6278728" y="1600200"/>
            <a:ext cx="64008" cy="3474720"/>
          </a:xfrm>
          <a:prstGeom prst="rect">
            <a:avLst/>
          </a:prstGeom>
          <a:solidFill>
            <a:srgbClr val="C5A059"/>
          </a:solidFill>
          <a:ln w="12700">
            <a:solidFill>
              <a:srgbClr val="C5A059"/>
            </a:solidFill>
            <a:prstDash val="solid"/>
          </a:ln>
        </p:spPr>
      </p:sp>
      <p:sp>
        <p:nvSpPr>
          <p:cNvPr id="11" name="Text 9"/>
          <p:cNvSpPr/>
          <p:nvPr/>
        </p:nvSpPr>
        <p:spPr>
          <a:xfrm>
            <a:off x="6534760" y="1764792"/>
            <a:ext cx="486140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QUÉ IMPLICA PARA NOSOTROS</a:t>
            </a:r>
            <a:endParaRPr lang="en-US" sz="1100" dirty="0"/>
          </a:p>
        </p:txBody>
      </p:sp>
      <p:sp>
        <p:nvSpPr>
          <p:cNvPr id="12" name="Text 10"/>
          <p:cNvSpPr/>
          <p:nvPr/>
        </p:nvSpPr>
        <p:spPr>
          <a:xfrm>
            <a:off x="6534760" y="2103120"/>
            <a:ext cx="4861408" cy="2788920"/>
          </a:xfrm>
          <a:prstGeom prst="rect">
            <a:avLst/>
          </a:prstGeom>
          <a:noFill/>
          <a:ln/>
        </p:spPr>
        <p:txBody>
          <a:bodyPr wrap="square" rtlCol="0" anchor="ctr"/>
          <a:lstStyle/>
          <a:p>
            <a:pPr marL="127000" indent="-127000">
              <a:buSzPct val="100000"/>
              <a:buChar char="•"/>
            </a:pPr>
            <a:r>
              <a:rPr lang="en-US" sz="1400" dirty="0">
                <a:solidFill>
                  <a:srgbClr val="D3E4FB"/>
                </a:solidFill>
                <a:latin typeface="Calibri" pitchFamily="34" charset="0"/>
                <a:ea typeface="Calibri" pitchFamily="34" charset="-122"/>
                <a:cs typeface="Calibri" pitchFamily="34" charset="-120"/>
              </a:rPr>
              <a:t>La literatura latinoamericana es escasa y heterogénea.</a:t>
            </a:r>
            <a:endParaRPr lang="en-US" sz="1400" dirty="0"/>
          </a:p>
          <a:p>
            <a:pPr marL="127000" indent="-127000">
              <a:buSzPct val="100000"/>
              <a:buChar char="•"/>
            </a:pPr>
            <a:r>
              <a:rPr lang="en-US" sz="1400" dirty="0">
                <a:solidFill>
                  <a:srgbClr val="D3E4FB"/>
                </a:solidFill>
                <a:latin typeface="Calibri" pitchFamily="34" charset="0"/>
                <a:ea typeface="Calibri" pitchFamily="34" charset="-122"/>
                <a:cs typeface="Calibri" pitchFamily="34" charset="-120"/>
              </a:rPr>
              <a:t>OEDA 2024 es la referencia más sólida en español para extrapolar tendencias.</a:t>
            </a:r>
            <a:endParaRPr lang="en-US" sz="1400" dirty="0"/>
          </a:p>
          <a:p>
            <a:pPr marL="127000" indent="-127000">
              <a:buSzPct val="100000"/>
              <a:buChar char="•"/>
            </a:pPr>
            <a:r>
              <a:rPr lang="en-US" sz="1400" dirty="0">
                <a:solidFill>
                  <a:srgbClr val="D3E4FB"/>
                </a:solidFill>
                <a:latin typeface="Calibri" pitchFamily="34" charset="0"/>
                <a:ea typeface="Calibri" pitchFamily="34" charset="-122"/>
                <a:cs typeface="Calibri" pitchFamily="34" charset="-120"/>
              </a:rPr>
              <a:t>Patrones consistentes: vulnerabilidad masculina, inicio adolescente, comorbilidad.</a:t>
            </a:r>
            <a:endParaRPr lang="en-US" sz="1400" dirty="0"/>
          </a:p>
        </p:txBody>
      </p:sp>
      <p:sp>
        <p:nvSpPr>
          <p:cNvPr id="13" name="Shape 11"/>
          <p:cNvSpPr/>
          <p:nvPr/>
        </p:nvSpPr>
        <p:spPr>
          <a:xfrm>
            <a:off x="640080" y="5989320"/>
            <a:ext cx="10911535" cy="20117"/>
          </a:xfrm>
          <a:prstGeom prst="rect">
            <a:avLst/>
          </a:prstGeom>
          <a:solidFill>
            <a:srgbClr val="C5A059"/>
          </a:solidFill>
          <a:ln w="12700">
            <a:solidFill>
              <a:srgbClr val="C5A059"/>
            </a:solidFill>
            <a:prstDash val="solid"/>
          </a:ln>
        </p:spPr>
      </p:sp>
      <p:sp>
        <p:nvSpPr>
          <p:cNvPr id="14" name="Text 12"/>
          <p:cNvSpPr/>
          <p:nvPr/>
        </p:nvSpPr>
        <p:spPr>
          <a:xfrm>
            <a:off x="640080" y="6053328"/>
            <a:ext cx="10911535" cy="640080"/>
          </a:xfrm>
          <a:prstGeom prst="rect">
            <a:avLst/>
          </a:prstGeom>
          <a:noFill/>
          <a:ln/>
        </p:spPr>
        <p:txBody>
          <a:bodyPr wrap="square" rtlCol="0" anchor="ctr"/>
          <a:lstStyle/>
          <a:p>
            <a:pPr indent="0" marL="0">
              <a:buNone/>
            </a:pPr>
            <a:r>
              <a:rPr lang="en-US" sz="900" i="1" dirty="0">
                <a:solidFill>
                  <a:srgbClr val="7C90AC"/>
                </a:solidFill>
                <a:latin typeface="Calibri" pitchFamily="34" charset="0"/>
                <a:ea typeface="Calibri" pitchFamily="34" charset="-122"/>
                <a:cs typeface="Calibri" pitchFamily="34" charset="-120"/>
              </a:rPr>
              <a:t>Datos Brasil: sistema público de salud (SUS) 2018–2023; Ley 14.790/2023.  ·  OEDA (2024) como referencia metodológica para habla hispana.</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BLOQUE 5 — DETECCIÓN</a:t>
            </a:r>
            <a:endParaRPr lang="en-US" sz="1100" dirty="0"/>
          </a:p>
        </p:txBody>
      </p:sp>
      <p:sp>
        <p:nvSpPr>
          <p:cNvPr id="3" name="Text 1"/>
          <p:cNvSpPr/>
          <p:nvPr/>
        </p:nvSpPr>
        <p:spPr>
          <a:xfrm>
            <a:off x="640080" y="621792"/>
            <a:ext cx="10911535" cy="658368"/>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Señales según el ámbito</a:t>
            </a:r>
            <a:endParaRPr lang="en-US" sz="2800" dirty="0"/>
          </a:p>
        </p:txBody>
      </p:sp>
      <p:sp>
        <p:nvSpPr>
          <p:cNvPr id="4" name="Shape 2"/>
          <p:cNvSpPr/>
          <p:nvPr/>
        </p:nvSpPr>
        <p:spPr>
          <a:xfrm>
            <a:off x="640080" y="1298448"/>
            <a:ext cx="1645920" cy="20117"/>
          </a:xfrm>
          <a:prstGeom prst="rect">
            <a:avLst/>
          </a:prstGeom>
          <a:solidFill>
            <a:srgbClr val="C5A059"/>
          </a:solidFill>
          <a:ln w="12700">
            <a:solidFill>
              <a:srgbClr val="C5A059"/>
            </a:solidFill>
            <a:prstDash val="solid"/>
          </a:ln>
        </p:spPr>
      </p:sp>
      <p:sp>
        <p:nvSpPr>
          <p:cNvPr id="5" name="Shape 3"/>
          <p:cNvSpPr/>
          <p:nvPr/>
        </p:nvSpPr>
        <p:spPr>
          <a:xfrm>
            <a:off x="640080" y="1554480"/>
            <a:ext cx="5272888" cy="3840480"/>
          </a:xfrm>
          <a:prstGeom prst="rect">
            <a:avLst/>
          </a:prstGeom>
          <a:solidFill>
            <a:srgbClr val="16304C"/>
          </a:solidFill>
          <a:ln w="12700">
            <a:solidFill>
              <a:srgbClr val="16304C"/>
            </a:solidFill>
            <a:prstDash val="solid"/>
          </a:ln>
        </p:spPr>
      </p:sp>
      <p:sp>
        <p:nvSpPr>
          <p:cNvPr id="6" name="Shape 4"/>
          <p:cNvSpPr/>
          <p:nvPr/>
        </p:nvSpPr>
        <p:spPr>
          <a:xfrm>
            <a:off x="640080" y="1554480"/>
            <a:ext cx="64008" cy="3840480"/>
          </a:xfrm>
          <a:prstGeom prst="rect">
            <a:avLst/>
          </a:prstGeom>
          <a:solidFill>
            <a:srgbClr val="C5A059"/>
          </a:solidFill>
          <a:ln w="12700">
            <a:solidFill>
              <a:srgbClr val="C5A059"/>
            </a:solidFill>
            <a:prstDash val="solid"/>
          </a:ln>
        </p:spPr>
      </p:sp>
      <p:sp>
        <p:nvSpPr>
          <p:cNvPr id="7" name="Text 5"/>
          <p:cNvSpPr/>
          <p:nvPr/>
        </p:nvSpPr>
        <p:spPr>
          <a:xfrm>
            <a:off x="896112" y="1719072"/>
            <a:ext cx="486140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LO QUE VE EL DOCENTE</a:t>
            </a:r>
            <a:endParaRPr lang="en-US" sz="1100" dirty="0"/>
          </a:p>
        </p:txBody>
      </p:sp>
      <p:sp>
        <p:nvSpPr>
          <p:cNvPr id="8" name="Text 6"/>
          <p:cNvSpPr/>
          <p:nvPr/>
        </p:nvSpPr>
        <p:spPr>
          <a:xfrm>
            <a:off x="896112" y="2057400"/>
            <a:ext cx="4861408" cy="3154680"/>
          </a:xfrm>
          <a:prstGeom prst="rect">
            <a:avLst/>
          </a:prstGeom>
          <a:noFill/>
          <a:ln/>
        </p:spPr>
        <p:txBody>
          <a:bodyPr wrap="square" rtlCol="0" anchor="ctr"/>
          <a:lstStyle/>
          <a:p>
            <a:pPr marL="127000" indent="-127000">
              <a:buSzPct val="100000"/>
              <a:buChar char="•"/>
            </a:pPr>
            <a:r>
              <a:rPr lang="en-US" sz="1300" dirty="0">
                <a:solidFill>
                  <a:srgbClr val="D3E4FB"/>
                </a:solidFill>
                <a:latin typeface="Calibri" pitchFamily="34" charset="0"/>
                <a:ea typeface="Calibri" pitchFamily="34" charset="-122"/>
                <a:cs typeface="Calibri" pitchFamily="34" charset="-120"/>
              </a:rPr>
              <a:t>Caída del rendimiento sin causa aparente</a:t>
            </a:r>
            <a:endParaRPr lang="en-US" sz="1300" dirty="0"/>
          </a:p>
          <a:p>
            <a:pPr marL="127000" indent="-127000">
              <a:buSzPct val="100000"/>
              <a:buChar char="•"/>
            </a:pPr>
            <a:r>
              <a:rPr lang="en-US" sz="1300" dirty="0">
                <a:solidFill>
                  <a:srgbClr val="D3E4FB"/>
                </a:solidFill>
                <a:latin typeface="Calibri" pitchFamily="34" charset="0"/>
                <a:ea typeface="Calibri" pitchFamily="34" charset="-122"/>
                <a:cs typeface="Calibri" pitchFamily="34" charset="-120"/>
              </a:rPr>
              <a:t>Ausentismo o llegadas tarde recurrentes</a:t>
            </a:r>
            <a:endParaRPr lang="en-US" sz="1300" dirty="0"/>
          </a:p>
          <a:p>
            <a:pPr marL="127000" indent="-127000">
              <a:buSzPct val="100000"/>
              <a:buChar char="•"/>
            </a:pPr>
            <a:r>
              <a:rPr lang="en-US" sz="1300" dirty="0">
                <a:solidFill>
                  <a:srgbClr val="D3E4FB"/>
                </a:solidFill>
                <a:latin typeface="Calibri" pitchFamily="34" charset="0"/>
                <a:ea typeface="Calibri" pitchFamily="34" charset="-122"/>
                <a:cs typeface="Calibri" pitchFamily="34" charset="-120"/>
              </a:rPr>
              <a:t>Distracción persistente con el celular</a:t>
            </a:r>
            <a:endParaRPr lang="en-US" sz="1300" dirty="0"/>
          </a:p>
          <a:p>
            <a:pPr marL="127000" indent="-127000">
              <a:buSzPct val="100000"/>
              <a:buChar char="•"/>
            </a:pPr>
            <a:r>
              <a:rPr lang="en-US" sz="1300" dirty="0">
                <a:solidFill>
                  <a:srgbClr val="D3E4FB"/>
                </a:solidFill>
                <a:latin typeface="Calibri" pitchFamily="34" charset="0"/>
                <a:ea typeface="Calibri" pitchFamily="34" charset="-122"/>
                <a:cs typeface="Calibri" pitchFamily="34" charset="-120"/>
              </a:rPr>
              <a:t>Cambios de humor inexplicables</a:t>
            </a:r>
            <a:endParaRPr lang="en-US" sz="1300" dirty="0"/>
          </a:p>
          <a:p>
            <a:pPr marL="127000" indent="-127000">
              <a:buSzPct val="100000"/>
              <a:buChar char="•"/>
            </a:pPr>
            <a:r>
              <a:rPr lang="en-US" sz="1300" dirty="0">
                <a:solidFill>
                  <a:srgbClr val="D3E4FB"/>
                </a:solidFill>
                <a:latin typeface="Calibri" pitchFamily="34" charset="0"/>
                <a:ea typeface="Calibri" pitchFamily="34" charset="-122"/>
                <a:cs typeface="Calibri" pitchFamily="34" charset="-120"/>
              </a:rPr>
              <a:t>Grupos que comparten resultados o códigos</a:t>
            </a:r>
            <a:endParaRPr lang="en-US" sz="1300" dirty="0"/>
          </a:p>
          <a:p>
            <a:pPr marL="127000" indent="-127000">
              <a:buSzPct val="100000"/>
              <a:buChar char="•"/>
            </a:pPr>
            <a:r>
              <a:rPr lang="en-US" sz="1300" dirty="0">
                <a:solidFill>
                  <a:srgbClr val="D3E4FB"/>
                </a:solidFill>
                <a:latin typeface="Calibri" pitchFamily="34" charset="0"/>
                <a:ea typeface="Calibri" pitchFamily="34" charset="-122"/>
                <a:cs typeface="Calibri" pitchFamily="34" charset="-120"/>
              </a:rPr>
              <a:t>Pedidos de dinero a compañeros</a:t>
            </a:r>
            <a:endParaRPr lang="en-US" sz="1300" dirty="0"/>
          </a:p>
          <a:p>
            <a:pPr marL="127000" indent="-127000">
              <a:buSzPct val="100000"/>
              <a:buChar char="•"/>
            </a:pPr>
            <a:r>
              <a:rPr lang="en-US" sz="1300" dirty="0">
                <a:solidFill>
                  <a:srgbClr val="D3E4FB"/>
                </a:solidFill>
                <a:latin typeface="Calibri" pitchFamily="34" charset="0"/>
                <a:ea typeface="Calibri" pitchFamily="34" charset="-122"/>
                <a:cs typeface="Calibri" pitchFamily="34" charset="-120"/>
              </a:rPr>
              <a:t>Desinterés por actividades anteriores</a:t>
            </a:r>
            <a:endParaRPr lang="en-US" sz="1300" dirty="0"/>
          </a:p>
        </p:txBody>
      </p:sp>
      <p:sp>
        <p:nvSpPr>
          <p:cNvPr id="9" name="Shape 7"/>
          <p:cNvSpPr/>
          <p:nvPr/>
        </p:nvSpPr>
        <p:spPr>
          <a:xfrm>
            <a:off x="6278728" y="1554480"/>
            <a:ext cx="5272888" cy="3840480"/>
          </a:xfrm>
          <a:prstGeom prst="rect">
            <a:avLst/>
          </a:prstGeom>
          <a:solidFill>
            <a:srgbClr val="1B3855"/>
          </a:solidFill>
          <a:ln w="12700">
            <a:solidFill>
              <a:srgbClr val="1B3855"/>
            </a:solidFill>
            <a:prstDash val="solid"/>
          </a:ln>
        </p:spPr>
      </p:sp>
      <p:sp>
        <p:nvSpPr>
          <p:cNvPr id="10" name="Shape 8"/>
          <p:cNvSpPr/>
          <p:nvPr/>
        </p:nvSpPr>
        <p:spPr>
          <a:xfrm>
            <a:off x="6278728" y="1554480"/>
            <a:ext cx="64008" cy="3840480"/>
          </a:xfrm>
          <a:prstGeom prst="rect">
            <a:avLst/>
          </a:prstGeom>
          <a:solidFill>
            <a:srgbClr val="C5A059"/>
          </a:solidFill>
          <a:ln w="12700">
            <a:solidFill>
              <a:srgbClr val="C5A059"/>
            </a:solidFill>
            <a:prstDash val="solid"/>
          </a:ln>
        </p:spPr>
      </p:sp>
      <p:sp>
        <p:nvSpPr>
          <p:cNvPr id="11" name="Text 9"/>
          <p:cNvSpPr/>
          <p:nvPr/>
        </p:nvSpPr>
        <p:spPr>
          <a:xfrm>
            <a:off x="6534760" y="1719072"/>
            <a:ext cx="486140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LO QUE VE EL PROFESIONAL DE SALUD</a:t>
            </a:r>
            <a:endParaRPr lang="en-US" sz="1100" dirty="0"/>
          </a:p>
        </p:txBody>
      </p:sp>
      <p:sp>
        <p:nvSpPr>
          <p:cNvPr id="12" name="Text 10"/>
          <p:cNvSpPr/>
          <p:nvPr/>
        </p:nvSpPr>
        <p:spPr>
          <a:xfrm>
            <a:off x="6534760" y="2057400"/>
            <a:ext cx="4861408" cy="3154680"/>
          </a:xfrm>
          <a:prstGeom prst="rect">
            <a:avLst/>
          </a:prstGeom>
          <a:noFill/>
          <a:ln/>
        </p:spPr>
        <p:txBody>
          <a:bodyPr wrap="square" rtlCol="0" anchor="ctr"/>
          <a:lstStyle/>
          <a:p>
            <a:pPr marL="127000" indent="-127000">
              <a:buSzPct val="100000"/>
              <a:buChar char="•"/>
            </a:pPr>
            <a:r>
              <a:rPr lang="en-US" sz="1300" dirty="0">
                <a:solidFill>
                  <a:srgbClr val="D3E4FB"/>
                </a:solidFill>
                <a:latin typeface="Calibri" pitchFamily="34" charset="0"/>
                <a:ea typeface="Calibri" pitchFamily="34" charset="-122"/>
                <a:cs typeface="Calibri" pitchFamily="34" charset="-120"/>
              </a:rPr>
              <a:t>Alteraciones del sueño sin causa orgánica</a:t>
            </a:r>
            <a:endParaRPr lang="en-US" sz="1300" dirty="0"/>
          </a:p>
          <a:p>
            <a:pPr marL="127000" indent="-127000">
              <a:buSzPct val="100000"/>
              <a:buChar char="•"/>
            </a:pPr>
            <a:r>
              <a:rPr lang="en-US" sz="1300" dirty="0">
                <a:solidFill>
                  <a:srgbClr val="D3E4FB"/>
                </a:solidFill>
                <a:latin typeface="Calibri" pitchFamily="34" charset="0"/>
                <a:ea typeface="Calibri" pitchFamily="34" charset="-122"/>
                <a:cs typeface="Calibri" pitchFamily="34" charset="-120"/>
              </a:rPr>
              <a:t>Ansiedad o irritabilidad sin causa aparente</a:t>
            </a:r>
            <a:endParaRPr lang="en-US" sz="1300" dirty="0"/>
          </a:p>
          <a:p>
            <a:pPr marL="127000" indent="-127000">
              <a:buSzPct val="100000"/>
              <a:buChar char="•"/>
            </a:pPr>
            <a:r>
              <a:rPr lang="en-US" sz="1300" dirty="0">
                <a:solidFill>
                  <a:srgbClr val="D3E4FB"/>
                </a:solidFill>
                <a:latin typeface="Calibri" pitchFamily="34" charset="0"/>
                <a:ea typeface="Calibri" pitchFamily="34" charset="-122"/>
                <a:cs typeface="Calibri" pitchFamily="34" charset="-120"/>
              </a:rPr>
              <a:t>Consultas por deudas o conflictos por dinero</a:t>
            </a:r>
            <a:endParaRPr lang="en-US" sz="1300" dirty="0"/>
          </a:p>
          <a:p>
            <a:pPr marL="127000" indent="-127000">
              <a:buSzPct val="100000"/>
              <a:buChar char="•"/>
            </a:pPr>
            <a:r>
              <a:rPr lang="en-US" sz="1300" dirty="0">
                <a:solidFill>
                  <a:srgbClr val="D3E4FB"/>
                </a:solidFill>
                <a:latin typeface="Calibri" pitchFamily="34" charset="0"/>
                <a:ea typeface="Calibri" pitchFamily="34" charset="-122"/>
                <a:cs typeface="Calibri" pitchFamily="34" charset="-120"/>
              </a:rPr>
              <a:t>Movimientos inusuales en cuentas (familia)</a:t>
            </a:r>
            <a:endParaRPr lang="en-US" sz="1300" dirty="0"/>
          </a:p>
          <a:p>
            <a:pPr marL="127000" indent="-127000">
              <a:buSzPct val="100000"/>
              <a:buChar char="•"/>
            </a:pPr>
            <a:r>
              <a:rPr lang="en-US" sz="1300" dirty="0">
                <a:solidFill>
                  <a:srgbClr val="D3E4FB"/>
                </a:solidFill>
                <a:latin typeface="Calibri" pitchFamily="34" charset="0"/>
                <a:ea typeface="Calibri" pitchFamily="34" charset="-122"/>
                <a:cs typeface="Calibri" pitchFamily="34" charset="-120"/>
              </a:rPr>
              <a:t>Minimización o negación al preguntar</a:t>
            </a:r>
            <a:endParaRPr lang="en-US" sz="1300" dirty="0"/>
          </a:p>
          <a:p>
            <a:pPr marL="127000" indent="-127000">
              <a:buSzPct val="100000"/>
              <a:buChar char="•"/>
            </a:pPr>
            <a:r>
              <a:rPr lang="en-US" sz="1300" dirty="0">
                <a:solidFill>
                  <a:srgbClr val="D3E4FB"/>
                </a:solidFill>
                <a:latin typeface="Calibri" pitchFamily="34" charset="0"/>
                <a:ea typeface="Calibri" pitchFamily="34" charset="-122"/>
                <a:cs typeface="Calibri" pitchFamily="34" charset="-120"/>
              </a:rPr>
              <a:t>La frase: “estoy por recuperar lo que perdí”</a:t>
            </a:r>
            <a:endParaRPr lang="en-US" sz="1300" dirty="0"/>
          </a:p>
          <a:p>
            <a:pPr marL="127000" indent="-127000">
              <a:buSzPct val="100000"/>
              <a:buChar char="•"/>
            </a:pPr>
            <a:r>
              <a:rPr lang="en-US" sz="1300" dirty="0">
                <a:solidFill>
                  <a:srgbClr val="D3E4FB"/>
                </a:solidFill>
                <a:latin typeface="Calibri" pitchFamily="34" charset="0"/>
                <a:ea typeface="Calibri" pitchFamily="34" charset="-122"/>
                <a:cs typeface="Calibri" pitchFamily="34" charset="-120"/>
              </a:rPr>
              <a:t>Patología dual: el juego como síntoma de fondo</a:t>
            </a:r>
            <a:endParaRPr lang="en-US" sz="1300" dirty="0"/>
          </a:p>
        </p:txBody>
      </p:sp>
      <p:sp>
        <p:nvSpPr>
          <p:cNvPr id="13" name="Shape 11"/>
          <p:cNvSpPr/>
          <p:nvPr/>
        </p:nvSpPr>
        <p:spPr>
          <a:xfrm>
            <a:off x="640080" y="5989320"/>
            <a:ext cx="10911535" cy="20117"/>
          </a:xfrm>
          <a:prstGeom prst="rect">
            <a:avLst/>
          </a:prstGeom>
          <a:solidFill>
            <a:srgbClr val="C5A059"/>
          </a:solidFill>
          <a:ln w="12700">
            <a:solidFill>
              <a:srgbClr val="C5A059"/>
            </a:solidFill>
            <a:prstDash val="solid"/>
          </a:ln>
        </p:spPr>
      </p:sp>
      <p:sp>
        <p:nvSpPr>
          <p:cNvPr id="14" name="Text 12"/>
          <p:cNvSpPr/>
          <p:nvPr/>
        </p:nvSpPr>
        <p:spPr>
          <a:xfrm>
            <a:off x="640080" y="6053328"/>
            <a:ext cx="10911535" cy="640080"/>
          </a:xfrm>
          <a:prstGeom prst="rect">
            <a:avLst/>
          </a:prstGeom>
          <a:noFill/>
          <a:ln/>
        </p:spPr>
        <p:txBody>
          <a:bodyPr wrap="square" rtlCol="0" anchor="ctr"/>
          <a:lstStyle/>
          <a:p>
            <a:pPr indent="0" marL="0">
              <a:buNone/>
            </a:pPr>
            <a:r>
              <a:rPr lang="en-US" sz="900" i="1" dirty="0">
                <a:solidFill>
                  <a:srgbClr val="7C90AC"/>
                </a:solidFill>
                <a:latin typeface="Calibri" pitchFamily="34" charset="0"/>
                <a:ea typeface="Calibri" pitchFamily="34" charset="-122"/>
                <a:cs typeface="Calibri" pitchFamily="34" charset="-120"/>
              </a:rPr>
              <a:t>Derevensky, J. L., &amp; Gilbeau, L. (2019). Canadian Journal of Addiction, 10(1), 10-20.  ·  Echeburúa, E., &amp; Corral, P. (2010). Adicciones, 22(2), 91-96.  ·  APA (2013). DSM-5, criterios de Trastorno por Juego.</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BLOQUE 5 — SEÑAL VERBAL ESPECÍFICA</a:t>
            </a:r>
            <a:endParaRPr lang="en-US" sz="1100" dirty="0"/>
          </a:p>
        </p:txBody>
      </p:sp>
      <p:sp>
        <p:nvSpPr>
          <p:cNvPr id="3" name="Text 1"/>
          <p:cNvSpPr/>
          <p:nvPr/>
        </p:nvSpPr>
        <p:spPr>
          <a:xfrm>
            <a:off x="640080" y="1645920"/>
            <a:ext cx="10911535" cy="1645920"/>
          </a:xfrm>
          <a:prstGeom prst="rect">
            <a:avLst/>
          </a:prstGeom>
          <a:noFill/>
          <a:ln/>
        </p:spPr>
        <p:txBody>
          <a:bodyPr wrap="square"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“Estoy por recuperar</a:t>
            </a:r>
            <a:endParaRPr lang="en-US" sz="4000" dirty="0"/>
          </a:p>
          <a:p>
            <a:pPr algn="ctr" indent="0" marL="0">
              <a:buNone/>
            </a:pPr>
            <a:r>
              <a:rPr lang="en-US" sz="4000" b="1" dirty="0">
                <a:solidFill>
                  <a:srgbClr val="FFFFFF"/>
                </a:solidFill>
                <a:latin typeface="Georgia" pitchFamily="34" charset="0"/>
                <a:ea typeface="Georgia" pitchFamily="34" charset="-122"/>
                <a:cs typeface="Georgia" pitchFamily="34" charset="-120"/>
              </a:rPr>
              <a:t>lo que perdí”</a:t>
            </a:r>
            <a:endParaRPr lang="en-US" sz="4000" dirty="0"/>
          </a:p>
        </p:txBody>
      </p:sp>
      <p:sp>
        <p:nvSpPr>
          <p:cNvPr id="4" name="Shape 2"/>
          <p:cNvSpPr/>
          <p:nvPr/>
        </p:nvSpPr>
        <p:spPr>
          <a:xfrm>
            <a:off x="5090008" y="3520440"/>
            <a:ext cx="2011680" cy="20117"/>
          </a:xfrm>
          <a:prstGeom prst="rect">
            <a:avLst/>
          </a:prstGeom>
          <a:solidFill>
            <a:srgbClr val="C5A059"/>
          </a:solidFill>
          <a:ln w="12700">
            <a:solidFill>
              <a:srgbClr val="C5A059"/>
            </a:solidFill>
            <a:prstDash val="solid"/>
          </a:ln>
        </p:spPr>
      </p:sp>
      <p:sp>
        <p:nvSpPr>
          <p:cNvPr id="5" name="Text 3"/>
          <p:cNvSpPr/>
          <p:nvPr/>
        </p:nvSpPr>
        <p:spPr>
          <a:xfrm>
            <a:off x="1371600" y="3840480"/>
            <a:ext cx="9448495" cy="1280160"/>
          </a:xfrm>
          <a:prstGeom prst="rect">
            <a:avLst/>
          </a:prstGeom>
          <a:noFill/>
          <a:ln/>
        </p:spPr>
        <p:txBody>
          <a:bodyPr wrap="square" rtlCol="0" anchor="ctr"/>
          <a:lstStyle/>
          <a:p>
            <a:pPr algn="ctr" indent="0" marL="0">
              <a:buNone/>
            </a:pPr>
            <a:r>
              <a:rPr lang="en-US" sz="1600" dirty="0">
                <a:solidFill>
                  <a:srgbClr val="D3E4FB"/>
                </a:solidFill>
                <a:latin typeface="Calibri" pitchFamily="34" charset="0"/>
                <a:ea typeface="Calibri" pitchFamily="34" charset="-122"/>
                <a:cs typeface="Calibri" pitchFamily="34" charset="-120"/>
              </a:rPr>
              <a:t>Es la persecución de la pérdida: criterio del DSM-5. Convierte cada pérdida en una razón para seguir apostando. Un adulto sin formación clínica especializada puede reconocerla.</a:t>
            </a:r>
            <a:endParaRPr lang="en-US" sz="1600" dirty="0"/>
          </a:p>
        </p:txBody>
      </p:sp>
      <p:sp>
        <p:nvSpPr>
          <p:cNvPr id="6" name="Shape 4"/>
          <p:cNvSpPr/>
          <p:nvPr/>
        </p:nvSpPr>
        <p:spPr>
          <a:xfrm>
            <a:off x="640080" y="5989320"/>
            <a:ext cx="10911535" cy="20117"/>
          </a:xfrm>
          <a:prstGeom prst="rect">
            <a:avLst/>
          </a:prstGeom>
          <a:solidFill>
            <a:srgbClr val="C5A059"/>
          </a:solidFill>
          <a:ln w="12700">
            <a:solidFill>
              <a:srgbClr val="C5A059"/>
            </a:solidFill>
            <a:prstDash val="solid"/>
          </a:ln>
        </p:spPr>
      </p:sp>
      <p:sp>
        <p:nvSpPr>
          <p:cNvPr id="7" name="Text 5"/>
          <p:cNvSpPr/>
          <p:nvPr/>
        </p:nvSpPr>
        <p:spPr>
          <a:xfrm>
            <a:off x="640080" y="6053328"/>
            <a:ext cx="10911535" cy="640080"/>
          </a:xfrm>
          <a:prstGeom prst="rect">
            <a:avLst/>
          </a:prstGeom>
          <a:noFill/>
          <a:ln/>
        </p:spPr>
        <p:txBody>
          <a:bodyPr wrap="square" rtlCol="0" anchor="ctr"/>
          <a:lstStyle/>
          <a:p>
            <a:pPr indent="0" marL="0">
              <a:buNone/>
            </a:pPr>
            <a:r>
              <a:rPr lang="en-US" sz="900" i="1" dirty="0">
                <a:solidFill>
                  <a:srgbClr val="7C90AC"/>
                </a:solidFill>
                <a:latin typeface="Calibri" pitchFamily="34" charset="0"/>
                <a:ea typeface="Calibri" pitchFamily="34" charset="-122"/>
                <a:cs typeface="Calibri" pitchFamily="34" charset="-120"/>
              </a:rPr>
              <a:t>American Psychiatric Association (2013). DSM-5.  ·  Ladouceur, R., &amp; Walker, M. (1996). En Trends in Cognitive and Behavioural Therapies. Wiley.</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BLOQUE 5 — INSTRUMENTOS</a:t>
            </a:r>
            <a:endParaRPr lang="en-US" sz="1100" dirty="0"/>
          </a:p>
        </p:txBody>
      </p:sp>
      <p:sp>
        <p:nvSpPr>
          <p:cNvPr id="3" name="Text 1"/>
          <p:cNvSpPr/>
          <p:nvPr/>
        </p:nvSpPr>
        <p:spPr>
          <a:xfrm>
            <a:off x="640080" y="621792"/>
            <a:ext cx="10911535" cy="658368"/>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Lie/Bet: dos preguntas que cualquiera puede hacer</a:t>
            </a:r>
            <a:endParaRPr lang="en-US" sz="2800" dirty="0"/>
          </a:p>
        </p:txBody>
      </p:sp>
      <p:sp>
        <p:nvSpPr>
          <p:cNvPr id="4" name="Shape 2"/>
          <p:cNvSpPr/>
          <p:nvPr/>
        </p:nvSpPr>
        <p:spPr>
          <a:xfrm>
            <a:off x="640080" y="1298448"/>
            <a:ext cx="1645920" cy="20117"/>
          </a:xfrm>
          <a:prstGeom prst="rect">
            <a:avLst/>
          </a:prstGeom>
          <a:solidFill>
            <a:srgbClr val="C5A059"/>
          </a:solidFill>
          <a:ln w="12700">
            <a:solidFill>
              <a:srgbClr val="C5A059"/>
            </a:solidFill>
            <a:prstDash val="solid"/>
          </a:ln>
        </p:spPr>
      </p:sp>
      <p:sp>
        <p:nvSpPr>
          <p:cNvPr id="5" name="Text 3"/>
          <p:cNvSpPr/>
          <p:nvPr/>
        </p:nvSpPr>
        <p:spPr>
          <a:xfrm>
            <a:off x="640080" y="1508760"/>
            <a:ext cx="10911535" cy="457200"/>
          </a:xfrm>
          <a:prstGeom prst="rect">
            <a:avLst/>
          </a:prstGeom>
          <a:noFill/>
          <a:ln/>
        </p:spPr>
        <p:txBody>
          <a:bodyPr wrap="square" rtlCol="0" anchor="ctr"/>
          <a:lstStyle/>
          <a:p>
            <a:pPr indent="0" marL="0">
              <a:buNone/>
            </a:pPr>
            <a:r>
              <a:rPr lang="en-US" sz="1400" dirty="0">
                <a:solidFill>
                  <a:srgbClr val="9FB4D4"/>
                </a:solidFill>
                <a:latin typeface="Calibri" pitchFamily="34" charset="0"/>
                <a:ea typeface="Calibri" pitchFamily="34" charset="-122"/>
                <a:cs typeface="Calibri" pitchFamily="34" charset="-120"/>
              </a:rPr>
              <a:t>Cribado ultracorto (Johnson et al., 1997). Lo usan ESTUDES en España y ESPAD en Europa. Ideal para docentes y médicos de cabecera.</a:t>
            </a:r>
            <a:endParaRPr lang="en-US" sz="1400" dirty="0"/>
          </a:p>
        </p:txBody>
      </p:sp>
      <p:sp>
        <p:nvSpPr>
          <p:cNvPr id="6" name="Shape 4"/>
          <p:cNvSpPr/>
          <p:nvPr/>
        </p:nvSpPr>
        <p:spPr>
          <a:xfrm>
            <a:off x="640080" y="2148840"/>
            <a:ext cx="5272888" cy="2011680"/>
          </a:xfrm>
          <a:prstGeom prst="roundRect">
            <a:avLst>
              <a:gd name="adj" fmla="val 2727"/>
            </a:avLst>
          </a:prstGeom>
          <a:solidFill>
            <a:srgbClr val="16304C"/>
          </a:solidFill>
          <a:ln w="15875">
            <a:solidFill>
              <a:srgbClr val="C5A059"/>
            </a:solidFill>
            <a:prstDash val="solid"/>
          </a:ln>
        </p:spPr>
      </p:sp>
      <p:sp>
        <p:nvSpPr>
          <p:cNvPr id="7" name="Text 5"/>
          <p:cNvSpPr/>
          <p:nvPr/>
        </p:nvSpPr>
        <p:spPr>
          <a:xfrm>
            <a:off x="914400" y="2331720"/>
            <a:ext cx="4724248" cy="365760"/>
          </a:xfrm>
          <a:prstGeom prst="rect">
            <a:avLst/>
          </a:prstGeom>
          <a:noFill/>
          <a:ln/>
        </p:spPr>
        <p:txBody>
          <a:bodyPr wrap="square" rtlCol="0" anchor="ctr"/>
          <a:lstStyle/>
          <a:p>
            <a:pPr indent="0" marL="0">
              <a:buNone/>
            </a:pPr>
            <a:r>
              <a:rPr lang="en-US" sz="2200" b="1" dirty="0">
                <a:solidFill>
                  <a:srgbClr val="C5A059"/>
                </a:solidFill>
                <a:latin typeface="Georgia" pitchFamily="34" charset="0"/>
                <a:ea typeface="Georgia" pitchFamily="34" charset="-122"/>
                <a:cs typeface="Georgia" pitchFamily="34" charset="-120"/>
              </a:rPr>
              <a:t>01</a:t>
            </a:r>
            <a:endParaRPr lang="en-US" sz="2200" dirty="0"/>
          </a:p>
        </p:txBody>
      </p:sp>
      <p:sp>
        <p:nvSpPr>
          <p:cNvPr id="8" name="Text 6"/>
          <p:cNvSpPr/>
          <p:nvPr/>
        </p:nvSpPr>
        <p:spPr>
          <a:xfrm>
            <a:off x="914400" y="2880360"/>
            <a:ext cx="4724248" cy="1051560"/>
          </a:xfrm>
          <a:prstGeom prst="rect">
            <a:avLst/>
          </a:prstGeom>
          <a:noFill/>
          <a:ln/>
        </p:spPr>
        <p:txBody>
          <a:bodyPr wrap="square" rtlCol="0" anchor="ctr"/>
          <a:lstStyle/>
          <a:p>
            <a:pPr indent="0" marL="0">
              <a:buNone/>
            </a:pPr>
            <a:r>
              <a:rPr lang="en-US" sz="1600" dirty="0">
                <a:solidFill>
                  <a:srgbClr val="FFFFFF"/>
                </a:solidFill>
                <a:latin typeface="Georgia" pitchFamily="34" charset="0"/>
                <a:ea typeface="Georgia" pitchFamily="34" charset="-122"/>
                <a:cs typeface="Georgia" pitchFamily="34" charset="-120"/>
              </a:rPr>
              <a:t>¿Alguna vez ha sentido la necesidad de apostar cantidades de dinero cada vez mayores?</a:t>
            </a:r>
            <a:endParaRPr lang="en-US" sz="1600" dirty="0"/>
          </a:p>
        </p:txBody>
      </p:sp>
      <p:sp>
        <p:nvSpPr>
          <p:cNvPr id="9" name="Shape 7"/>
          <p:cNvSpPr/>
          <p:nvPr/>
        </p:nvSpPr>
        <p:spPr>
          <a:xfrm>
            <a:off x="6278728" y="2148840"/>
            <a:ext cx="5272888" cy="2011680"/>
          </a:xfrm>
          <a:prstGeom prst="roundRect">
            <a:avLst>
              <a:gd name="adj" fmla="val 2727"/>
            </a:avLst>
          </a:prstGeom>
          <a:solidFill>
            <a:srgbClr val="16304C"/>
          </a:solidFill>
          <a:ln w="15875">
            <a:solidFill>
              <a:srgbClr val="C5A059"/>
            </a:solidFill>
            <a:prstDash val="solid"/>
          </a:ln>
        </p:spPr>
      </p:sp>
      <p:sp>
        <p:nvSpPr>
          <p:cNvPr id="10" name="Text 8"/>
          <p:cNvSpPr/>
          <p:nvPr/>
        </p:nvSpPr>
        <p:spPr>
          <a:xfrm>
            <a:off x="6553048" y="2331720"/>
            <a:ext cx="4724248" cy="365760"/>
          </a:xfrm>
          <a:prstGeom prst="rect">
            <a:avLst/>
          </a:prstGeom>
          <a:noFill/>
          <a:ln/>
        </p:spPr>
        <p:txBody>
          <a:bodyPr wrap="square" rtlCol="0" anchor="ctr"/>
          <a:lstStyle/>
          <a:p>
            <a:pPr indent="0" marL="0">
              <a:buNone/>
            </a:pPr>
            <a:r>
              <a:rPr lang="en-US" sz="2200" b="1" dirty="0">
                <a:solidFill>
                  <a:srgbClr val="C5A059"/>
                </a:solidFill>
                <a:latin typeface="Georgia" pitchFamily="34" charset="0"/>
                <a:ea typeface="Georgia" pitchFamily="34" charset="-122"/>
                <a:cs typeface="Georgia" pitchFamily="34" charset="-120"/>
              </a:rPr>
              <a:t>02</a:t>
            </a:r>
            <a:endParaRPr lang="en-US" sz="2200" dirty="0"/>
          </a:p>
        </p:txBody>
      </p:sp>
      <p:sp>
        <p:nvSpPr>
          <p:cNvPr id="11" name="Text 9"/>
          <p:cNvSpPr/>
          <p:nvPr/>
        </p:nvSpPr>
        <p:spPr>
          <a:xfrm>
            <a:off x="6553048" y="2880360"/>
            <a:ext cx="4724248" cy="1051560"/>
          </a:xfrm>
          <a:prstGeom prst="rect">
            <a:avLst/>
          </a:prstGeom>
          <a:noFill/>
          <a:ln/>
        </p:spPr>
        <p:txBody>
          <a:bodyPr wrap="square" rtlCol="0" anchor="ctr"/>
          <a:lstStyle/>
          <a:p>
            <a:pPr indent="0" marL="0">
              <a:buNone/>
            </a:pPr>
            <a:r>
              <a:rPr lang="en-US" sz="1600" dirty="0">
                <a:solidFill>
                  <a:srgbClr val="FFFFFF"/>
                </a:solidFill>
                <a:latin typeface="Georgia" pitchFamily="34" charset="0"/>
                <a:ea typeface="Georgia" pitchFamily="34" charset="-122"/>
                <a:cs typeface="Georgia" pitchFamily="34" charset="-120"/>
              </a:rPr>
              <a:t>¿Ha mentido alguna vez a personas importantes en su vida sobre cuánto juega?</a:t>
            </a:r>
            <a:endParaRPr lang="en-US" sz="1600" dirty="0"/>
          </a:p>
        </p:txBody>
      </p:sp>
      <p:sp>
        <p:nvSpPr>
          <p:cNvPr id="12" name="Text 10"/>
          <p:cNvSpPr/>
          <p:nvPr/>
        </p:nvSpPr>
        <p:spPr>
          <a:xfrm>
            <a:off x="640080" y="4389120"/>
            <a:ext cx="10911535" cy="365760"/>
          </a:xfrm>
          <a:prstGeom prst="rect">
            <a:avLst/>
          </a:prstGeom>
          <a:noFill/>
          <a:ln/>
        </p:spPr>
        <p:txBody>
          <a:bodyPr wrap="square" rtlCol="0" anchor="ctr"/>
          <a:lstStyle/>
          <a:p>
            <a:pPr algn="ctr" indent="0" marL="0">
              <a:buNone/>
            </a:pPr>
            <a:r>
              <a:rPr lang="en-US" sz="1500" i="1" dirty="0">
                <a:solidFill>
                  <a:srgbClr val="E0C68A"/>
                </a:solidFill>
                <a:latin typeface="Calibri" pitchFamily="34" charset="0"/>
                <a:ea typeface="Calibri" pitchFamily="34" charset="-122"/>
                <a:cs typeface="Calibri" pitchFamily="34" charset="-120"/>
              </a:rPr>
              <a:t>Una respuesta afirmativa = cribado positivo. No diagnostica: abre una conversación.</a:t>
            </a:r>
            <a:endParaRPr lang="en-US" sz="1500" dirty="0"/>
          </a:p>
        </p:txBody>
      </p:sp>
      <p:sp>
        <p:nvSpPr>
          <p:cNvPr id="13" name="Text 11"/>
          <p:cNvSpPr/>
          <p:nvPr/>
        </p:nvSpPr>
        <p:spPr>
          <a:xfrm>
            <a:off x="640080" y="4892040"/>
            <a:ext cx="10911535" cy="502920"/>
          </a:xfrm>
          <a:prstGeom prst="rect">
            <a:avLst/>
          </a:prstGeom>
          <a:noFill/>
          <a:ln/>
        </p:spPr>
        <p:txBody>
          <a:bodyPr wrap="square" rtlCol="0" anchor="ctr"/>
          <a:lstStyle/>
          <a:p>
            <a:pPr algn="ctr" indent="0" marL="0">
              <a:buNone/>
            </a:pPr>
            <a:r>
              <a:rPr lang="en-US" sz="1400" dirty="0">
                <a:solidFill>
                  <a:srgbClr val="D3E4FB"/>
                </a:solidFill>
                <a:latin typeface="Calibri" pitchFamily="34" charset="0"/>
                <a:ea typeface="Calibri" pitchFamily="34" charset="-122"/>
                <a:cs typeface="Calibri" pitchFamily="34" charset="-120"/>
              </a:rPr>
              <a:t>Si se abre: ¿Jugás a las apuestas online? · ¿Con qué frecuencia? · ¿Alguna vez sentiste que gastaste más de lo que querías?</a:t>
            </a:r>
            <a:endParaRPr lang="en-US" sz="1400" dirty="0"/>
          </a:p>
        </p:txBody>
      </p:sp>
      <p:sp>
        <p:nvSpPr>
          <p:cNvPr id="14" name="Shape 12"/>
          <p:cNvSpPr/>
          <p:nvPr/>
        </p:nvSpPr>
        <p:spPr>
          <a:xfrm>
            <a:off x="640080" y="5989320"/>
            <a:ext cx="10911535" cy="20117"/>
          </a:xfrm>
          <a:prstGeom prst="rect">
            <a:avLst/>
          </a:prstGeom>
          <a:solidFill>
            <a:srgbClr val="C5A059"/>
          </a:solidFill>
          <a:ln w="12700">
            <a:solidFill>
              <a:srgbClr val="C5A059"/>
            </a:solidFill>
            <a:prstDash val="solid"/>
          </a:ln>
        </p:spPr>
      </p:sp>
      <p:sp>
        <p:nvSpPr>
          <p:cNvPr id="15" name="Text 13"/>
          <p:cNvSpPr/>
          <p:nvPr/>
        </p:nvSpPr>
        <p:spPr>
          <a:xfrm>
            <a:off x="640080" y="6053328"/>
            <a:ext cx="10911535" cy="640080"/>
          </a:xfrm>
          <a:prstGeom prst="rect">
            <a:avLst/>
          </a:prstGeom>
          <a:noFill/>
          <a:ln/>
        </p:spPr>
        <p:txBody>
          <a:bodyPr wrap="square" rtlCol="0" anchor="ctr"/>
          <a:lstStyle/>
          <a:p>
            <a:pPr indent="0" marL="0">
              <a:buNone/>
            </a:pPr>
            <a:r>
              <a:rPr lang="en-US" sz="900" i="1" dirty="0">
                <a:solidFill>
                  <a:srgbClr val="7C90AC"/>
                </a:solidFill>
                <a:latin typeface="Calibri" pitchFamily="34" charset="0"/>
                <a:ea typeface="Calibri" pitchFamily="34" charset="-122"/>
                <a:cs typeface="Calibri" pitchFamily="34" charset="-120"/>
              </a:rPr>
              <a:t>Johnson, E. E. et al. (1997). “The Lie/Bet Questionnaire…”. Psychological Reports, 80(1), 83-88.  ·  OEDA (2024), encuesta ESTUDES 2023.</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BLOQUE 5 — INSTRUMENTOS</a:t>
            </a:r>
            <a:endParaRPr lang="en-US" sz="1100" dirty="0"/>
          </a:p>
        </p:txBody>
      </p:sp>
      <p:sp>
        <p:nvSpPr>
          <p:cNvPr id="3" name="Text 1"/>
          <p:cNvSpPr/>
          <p:nvPr/>
        </p:nvSpPr>
        <p:spPr>
          <a:xfrm>
            <a:off x="640080" y="621792"/>
            <a:ext cx="10911535" cy="658368"/>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Qué instrumento según el rol</a:t>
            </a:r>
            <a:endParaRPr lang="en-US" sz="2800" dirty="0"/>
          </a:p>
        </p:txBody>
      </p:sp>
      <p:sp>
        <p:nvSpPr>
          <p:cNvPr id="4" name="Shape 2"/>
          <p:cNvSpPr/>
          <p:nvPr/>
        </p:nvSpPr>
        <p:spPr>
          <a:xfrm>
            <a:off x="640080" y="1298448"/>
            <a:ext cx="1645920" cy="20117"/>
          </a:xfrm>
          <a:prstGeom prst="rect">
            <a:avLst/>
          </a:prstGeom>
          <a:solidFill>
            <a:srgbClr val="C5A059"/>
          </a:solidFill>
          <a:ln w="12700">
            <a:solidFill>
              <a:srgbClr val="C5A059"/>
            </a:solidFill>
            <a:prstDash val="solid"/>
          </a:ln>
        </p:spPr>
      </p:sp>
      <p:sp>
        <p:nvSpPr>
          <p:cNvPr id="5" name="Text 3"/>
          <p:cNvSpPr/>
          <p:nvPr/>
        </p:nvSpPr>
        <p:spPr>
          <a:xfrm>
            <a:off x="640080" y="1691640"/>
            <a:ext cx="2560320" cy="365760"/>
          </a:xfrm>
          <a:prstGeom prst="rect">
            <a:avLst/>
          </a:prstGeom>
          <a:noFill/>
          <a:ln/>
        </p:spPr>
        <p:txBody>
          <a:bodyPr wrap="square" rtlCol="0" anchor="ctr"/>
          <a:lstStyle/>
          <a:p>
            <a:pPr indent="0" marL="0">
              <a:buNone/>
            </a:pPr>
            <a:r>
              <a:rPr lang="en-US" sz="1200" b="1" dirty="0">
                <a:solidFill>
                  <a:srgbClr val="C5A059"/>
                </a:solidFill>
                <a:latin typeface="Calibri" pitchFamily="34" charset="0"/>
                <a:ea typeface="Calibri" pitchFamily="34" charset="-122"/>
                <a:cs typeface="Calibri" pitchFamily="34" charset="-120"/>
              </a:rPr>
              <a:t>INSTRUMENTO</a:t>
            </a:r>
            <a:endParaRPr lang="en-US" sz="1200" dirty="0"/>
          </a:p>
        </p:txBody>
      </p:sp>
      <p:sp>
        <p:nvSpPr>
          <p:cNvPr id="6" name="Text 4"/>
          <p:cNvSpPr/>
          <p:nvPr/>
        </p:nvSpPr>
        <p:spPr>
          <a:xfrm>
            <a:off x="3200400" y="1691640"/>
            <a:ext cx="1097280" cy="365760"/>
          </a:xfrm>
          <a:prstGeom prst="rect">
            <a:avLst/>
          </a:prstGeom>
          <a:noFill/>
          <a:ln/>
        </p:spPr>
        <p:txBody>
          <a:bodyPr wrap="square" rtlCol="0" anchor="ctr"/>
          <a:lstStyle/>
          <a:p>
            <a:pPr indent="0" marL="0">
              <a:buNone/>
            </a:pPr>
            <a:r>
              <a:rPr lang="en-US" sz="1200" b="1" dirty="0">
                <a:solidFill>
                  <a:srgbClr val="C5A059"/>
                </a:solidFill>
                <a:latin typeface="Calibri" pitchFamily="34" charset="0"/>
                <a:ea typeface="Calibri" pitchFamily="34" charset="-122"/>
                <a:cs typeface="Calibri" pitchFamily="34" charset="-120"/>
              </a:rPr>
              <a:t>ÍTEMS</a:t>
            </a:r>
            <a:endParaRPr lang="en-US" sz="1200" dirty="0"/>
          </a:p>
        </p:txBody>
      </p:sp>
      <p:sp>
        <p:nvSpPr>
          <p:cNvPr id="7" name="Text 5"/>
          <p:cNvSpPr/>
          <p:nvPr/>
        </p:nvSpPr>
        <p:spPr>
          <a:xfrm>
            <a:off x="4297680" y="1691640"/>
            <a:ext cx="3291840" cy="365760"/>
          </a:xfrm>
          <a:prstGeom prst="rect">
            <a:avLst/>
          </a:prstGeom>
          <a:noFill/>
          <a:ln/>
        </p:spPr>
        <p:txBody>
          <a:bodyPr wrap="square" rtlCol="0" anchor="ctr"/>
          <a:lstStyle/>
          <a:p>
            <a:pPr indent="0" marL="0">
              <a:buNone/>
            </a:pPr>
            <a:r>
              <a:rPr lang="en-US" sz="1200" b="1" dirty="0">
                <a:solidFill>
                  <a:srgbClr val="C5A059"/>
                </a:solidFill>
                <a:latin typeface="Calibri" pitchFamily="34" charset="0"/>
                <a:ea typeface="Calibri" pitchFamily="34" charset="-122"/>
                <a:cs typeface="Calibri" pitchFamily="34" charset="-120"/>
              </a:rPr>
              <a:t>QUIÉN LO USA</a:t>
            </a:r>
            <a:endParaRPr lang="en-US" sz="1200" dirty="0"/>
          </a:p>
        </p:txBody>
      </p:sp>
      <p:sp>
        <p:nvSpPr>
          <p:cNvPr id="8" name="Text 6"/>
          <p:cNvSpPr/>
          <p:nvPr/>
        </p:nvSpPr>
        <p:spPr>
          <a:xfrm>
            <a:off x="7589520" y="1691640"/>
            <a:ext cx="3962095" cy="365760"/>
          </a:xfrm>
          <a:prstGeom prst="rect">
            <a:avLst/>
          </a:prstGeom>
          <a:noFill/>
          <a:ln/>
        </p:spPr>
        <p:txBody>
          <a:bodyPr wrap="square" rtlCol="0" anchor="ctr"/>
          <a:lstStyle/>
          <a:p>
            <a:pPr indent="0" marL="0">
              <a:buNone/>
            </a:pPr>
            <a:r>
              <a:rPr lang="en-US" sz="1200" b="1" dirty="0">
                <a:solidFill>
                  <a:srgbClr val="C5A059"/>
                </a:solidFill>
                <a:latin typeface="Calibri" pitchFamily="34" charset="0"/>
                <a:ea typeface="Calibri" pitchFamily="34" charset="-122"/>
                <a:cs typeface="Calibri" pitchFamily="34" charset="-120"/>
              </a:rPr>
              <a:t>PARA QUÉ</a:t>
            </a:r>
            <a:endParaRPr lang="en-US" sz="1200" dirty="0"/>
          </a:p>
        </p:txBody>
      </p:sp>
      <p:sp>
        <p:nvSpPr>
          <p:cNvPr id="9" name="Shape 7"/>
          <p:cNvSpPr/>
          <p:nvPr/>
        </p:nvSpPr>
        <p:spPr>
          <a:xfrm>
            <a:off x="640080" y="2103120"/>
            <a:ext cx="10911535" cy="20117"/>
          </a:xfrm>
          <a:prstGeom prst="rect">
            <a:avLst/>
          </a:prstGeom>
          <a:solidFill>
            <a:srgbClr val="C5A059"/>
          </a:solidFill>
          <a:ln w="12700">
            <a:solidFill>
              <a:srgbClr val="C5A059"/>
            </a:solidFill>
            <a:prstDash val="solid"/>
          </a:ln>
        </p:spPr>
      </p:sp>
      <p:sp>
        <p:nvSpPr>
          <p:cNvPr id="10" name="Text 8"/>
          <p:cNvSpPr/>
          <p:nvPr/>
        </p:nvSpPr>
        <p:spPr>
          <a:xfrm>
            <a:off x="640080" y="2286000"/>
            <a:ext cx="2560320" cy="777240"/>
          </a:xfrm>
          <a:prstGeom prst="rect">
            <a:avLst/>
          </a:prstGeom>
          <a:noFill/>
          <a:ln/>
        </p:spPr>
        <p:txBody>
          <a:bodyPr wrap="square" rtlCol="0" anchor="ctr"/>
          <a:lstStyle/>
          <a:p>
            <a:pPr indent="0" marL="0">
              <a:buNone/>
            </a:pPr>
            <a:r>
              <a:rPr lang="en-US" sz="1600" b="1" dirty="0">
                <a:solidFill>
                  <a:srgbClr val="D3E4FB"/>
                </a:solidFill>
                <a:latin typeface="Georgia" pitchFamily="34" charset="0"/>
                <a:ea typeface="Georgia" pitchFamily="34" charset="-122"/>
                <a:cs typeface="Georgia" pitchFamily="34" charset="-120"/>
              </a:rPr>
              <a:t>Lie/Bet</a:t>
            </a:r>
            <a:endParaRPr lang="en-US" sz="1600" dirty="0"/>
          </a:p>
        </p:txBody>
      </p:sp>
      <p:sp>
        <p:nvSpPr>
          <p:cNvPr id="11" name="Text 9"/>
          <p:cNvSpPr/>
          <p:nvPr/>
        </p:nvSpPr>
        <p:spPr>
          <a:xfrm>
            <a:off x="3200400" y="2286000"/>
            <a:ext cx="1097280" cy="777240"/>
          </a:xfrm>
          <a:prstGeom prst="rect">
            <a:avLst/>
          </a:prstGeom>
          <a:noFill/>
          <a:ln/>
        </p:spPr>
        <p:txBody>
          <a:bodyPr wrap="square" rtlCol="0" anchor="ctr"/>
          <a:lstStyle/>
          <a:p>
            <a:pPr indent="0" marL="0">
              <a:buNone/>
            </a:pPr>
            <a:r>
              <a:rPr lang="en-US" sz="1400" dirty="0">
                <a:solidFill>
                  <a:srgbClr val="D3E4FB"/>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4297680" y="2286000"/>
            <a:ext cx="3291840" cy="777240"/>
          </a:xfrm>
          <a:prstGeom prst="rect">
            <a:avLst/>
          </a:prstGeom>
          <a:noFill/>
          <a:ln/>
        </p:spPr>
        <p:txBody>
          <a:bodyPr wrap="square" rtlCol="0" anchor="ctr"/>
          <a:lstStyle/>
          <a:p>
            <a:pPr indent="0" marL="0">
              <a:buNone/>
            </a:pPr>
            <a:r>
              <a:rPr lang="en-US" sz="1400" dirty="0">
                <a:solidFill>
                  <a:srgbClr val="D3E4FB"/>
                </a:solidFill>
                <a:latin typeface="Calibri" pitchFamily="34" charset="0"/>
                <a:ea typeface="Calibri" pitchFamily="34" charset="-122"/>
                <a:cs typeface="Calibri" pitchFamily="34" charset="-120"/>
              </a:rPr>
              <a:t>Docente, club, médico de cabecera</a:t>
            </a:r>
            <a:endParaRPr lang="en-US" sz="1400" dirty="0"/>
          </a:p>
        </p:txBody>
      </p:sp>
      <p:sp>
        <p:nvSpPr>
          <p:cNvPr id="13" name="Text 11"/>
          <p:cNvSpPr/>
          <p:nvPr/>
        </p:nvSpPr>
        <p:spPr>
          <a:xfrm>
            <a:off x="7589520" y="2286000"/>
            <a:ext cx="3962095" cy="777240"/>
          </a:xfrm>
          <a:prstGeom prst="rect">
            <a:avLst/>
          </a:prstGeom>
          <a:noFill/>
          <a:ln/>
        </p:spPr>
        <p:txBody>
          <a:bodyPr wrap="square" rtlCol="0" anchor="ctr"/>
          <a:lstStyle/>
          <a:p>
            <a:pPr indent="0" marL="0">
              <a:buNone/>
            </a:pPr>
            <a:r>
              <a:rPr lang="en-US" sz="1400" dirty="0">
                <a:solidFill>
                  <a:srgbClr val="D3E4FB"/>
                </a:solidFill>
                <a:latin typeface="Calibri" pitchFamily="34" charset="0"/>
                <a:ea typeface="Calibri" pitchFamily="34" charset="-122"/>
                <a:cs typeface="Calibri" pitchFamily="34" charset="-120"/>
              </a:rPr>
              <a:t>Cribado. Una positiva → explorar.</a:t>
            </a:r>
            <a:endParaRPr lang="en-US" sz="1400" dirty="0"/>
          </a:p>
        </p:txBody>
      </p:sp>
      <p:sp>
        <p:nvSpPr>
          <p:cNvPr id="14" name="Text 12"/>
          <p:cNvSpPr/>
          <p:nvPr/>
        </p:nvSpPr>
        <p:spPr>
          <a:xfrm>
            <a:off x="640080" y="3200400"/>
            <a:ext cx="2560320" cy="777240"/>
          </a:xfrm>
          <a:prstGeom prst="rect">
            <a:avLst/>
          </a:prstGeom>
          <a:noFill/>
          <a:ln/>
        </p:spPr>
        <p:txBody>
          <a:bodyPr wrap="square" rtlCol="0" anchor="ctr"/>
          <a:lstStyle/>
          <a:p>
            <a:pPr indent="0" marL="0">
              <a:buNone/>
            </a:pPr>
            <a:r>
              <a:rPr lang="en-US" sz="1600" b="1" dirty="0">
                <a:solidFill>
                  <a:srgbClr val="D3E4FB"/>
                </a:solidFill>
                <a:latin typeface="Georgia" pitchFamily="34" charset="0"/>
                <a:ea typeface="Georgia" pitchFamily="34" charset="-122"/>
                <a:cs typeface="Georgia" pitchFamily="34" charset="-120"/>
              </a:rPr>
              <a:t>SOGS</a:t>
            </a:r>
            <a:endParaRPr lang="en-US" sz="1600" dirty="0"/>
          </a:p>
        </p:txBody>
      </p:sp>
      <p:sp>
        <p:nvSpPr>
          <p:cNvPr id="15" name="Text 13"/>
          <p:cNvSpPr/>
          <p:nvPr/>
        </p:nvSpPr>
        <p:spPr>
          <a:xfrm>
            <a:off x="3200400" y="3200400"/>
            <a:ext cx="1097280" cy="777240"/>
          </a:xfrm>
          <a:prstGeom prst="rect">
            <a:avLst/>
          </a:prstGeom>
          <a:noFill/>
          <a:ln/>
        </p:spPr>
        <p:txBody>
          <a:bodyPr wrap="square" rtlCol="0" anchor="ctr"/>
          <a:lstStyle/>
          <a:p>
            <a:pPr indent="0" marL="0">
              <a:buNone/>
            </a:pPr>
            <a:r>
              <a:rPr lang="en-US" sz="1400" dirty="0">
                <a:solidFill>
                  <a:srgbClr val="D3E4FB"/>
                </a:solidFill>
                <a:latin typeface="Calibri" pitchFamily="34" charset="0"/>
                <a:ea typeface="Calibri" pitchFamily="34" charset="-122"/>
                <a:cs typeface="Calibri" pitchFamily="34" charset="-120"/>
              </a:rPr>
              <a:t>20</a:t>
            </a:r>
            <a:endParaRPr lang="en-US" sz="1400" dirty="0"/>
          </a:p>
        </p:txBody>
      </p:sp>
      <p:sp>
        <p:nvSpPr>
          <p:cNvPr id="16" name="Text 14"/>
          <p:cNvSpPr/>
          <p:nvPr/>
        </p:nvSpPr>
        <p:spPr>
          <a:xfrm>
            <a:off x="4297680" y="3200400"/>
            <a:ext cx="3291840" cy="777240"/>
          </a:xfrm>
          <a:prstGeom prst="rect">
            <a:avLst/>
          </a:prstGeom>
          <a:noFill/>
          <a:ln/>
        </p:spPr>
        <p:txBody>
          <a:bodyPr wrap="square" rtlCol="0" anchor="ctr"/>
          <a:lstStyle/>
          <a:p>
            <a:pPr indent="0" marL="0">
              <a:buNone/>
            </a:pPr>
            <a:r>
              <a:rPr lang="en-US" sz="1400" dirty="0">
                <a:solidFill>
                  <a:srgbClr val="D3E4FB"/>
                </a:solidFill>
                <a:latin typeface="Calibri" pitchFamily="34" charset="0"/>
                <a:ea typeface="Calibri" pitchFamily="34" charset="-122"/>
                <a:cs typeface="Calibri" pitchFamily="34" charset="-120"/>
              </a:rPr>
              <a:t>Profesional de salud</a:t>
            </a:r>
            <a:endParaRPr lang="en-US" sz="1400" dirty="0"/>
          </a:p>
        </p:txBody>
      </p:sp>
      <p:sp>
        <p:nvSpPr>
          <p:cNvPr id="17" name="Text 15"/>
          <p:cNvSpPr/>
          <p:nvPr/>
        </p:nvSpPr>
        <p:spPr>
          <a:xfrm>
            <a:off x="7589520" y="3200400"/>
            <a:ext cx="3962095" cy="777240"/>
          </a:xfrm>
          <a:prstGeom prst="rect">
            <a:avLst/>
          </a:prstGeom>
          <a:noFill/>
          <a:ln/>
        </p:spPr>
        <p:txBody>
          <a:bodyPr wrap="square" rtlCol="0" anchor="ctr"/>
          <a:lstStyle/>
          <a:p>
            <a:pPr indent="0" marL="0">
              <a:buNone/>
            </a:pPr>
            <a:r>
              <a:rPr lang="en-US" sz="1400" dirty="0">
                <a:solidFill>
                  <a:srgbClr val="D3E4FB"/>
                </a:solidFill>
                <a:latin typeface="Calibri" pitchFamily="34" charset="0"/>
                <a:ea typeface="Calibri" pitchFamily="34" charset="-122"/>
                <a:cs typeface="Calibri" pitchFamily="34" charset="-120"/>
              </a:rPr>
              <a:t>Punto de corte ≥5 = probable problema.</a:t>
            </a:r>
            <a:endParaRPr lang="en-US" sz="1400" dirty="0"/>
          </a:p>
        </p:txBody>
      </p:sp>
      <p:sp>
        <p:nvSpPr>
          <p:cNvPr id="18" name="Text 16"/>
          <p:cNvSpPr/>
          <p:nvPr/>
        </p:nvSpPr>
        <p:spPr>
          <a:xfrm>
            <a:off x="640080" y="4114800"/>
            <a:ext cx="2560320" cy="777240"/>
          </a:xfrm>
          <a:prstGeom prst="rect">
            <a:avLst/>
          </a:prstGeom>
          <a:noFill/>
          <a:ln/>
        </p:spPr>
        <p:txBody>
          <a:bodyPr wrap="square" rtlCol="0" anchor="ctr"/>
          <a:lstStyle/>
          <a:p>
            <a:pPr indent="0" marL="0">
              <a:buNone/>
            </a:pPr>
            <a:r>
              <a:rPr lang="en-US" sz="1600" b="1" dirty="0">
                <a:solidFill>
                  <a:srgbClr val="D3E4FB"/>
                </a:solidFill>
                <a:latin typeface="Georgia" pitchFamily="34" charset="0"/>
                <a:ea typeface="Georgia" pitchFamily="34" charset="-122"/>
                <a:cs typeface="Georgia" pitchFamily="34" charset="-120"/>
              </a:rPr>
              <a:t>DSM-5 (9 criterios)</a:t>
            </a:r>
            <a:endParaRPr lang="en-US" sz="1600" dirty="0"/>
          </a:p>
        </p:txBody>
      </p:sp>
      <p:sp>
        <p:nvSpPr>
          <p:cNvPr id="19" name="Text 17"/>
          <p:cNvSpPr/>
          <p:nvPr/>
        </p:nvSpPr>
        <p:spPr>
          <a:xfrm>
            <a:off x="3200400" y="4114800"/>
            <a:ext cx="1097280" cy="777240"/>
          </a:xfrm>
          <a:prstGeom prst="rect">
            <a:avLst/>
          </a:prstGeom>
          <a:noFill/>
          <a:ln/>
        </p:spPr>
        <p:txBody>
          <a:bodyPr wrap="square" rtlCol="0" anchor="ctr"/>
          <a:lstStyle/>
          <a:p>
            <a:pPr indent="0" marL="0">
              <a:buNone/>
            </a:pPr>
            <a:r>
              <a:rPr lang="en-US" sz="1400" dirty="0">
                <a:solidFill>
                  <a:srgbClr val="D3E4FB"/>
                </a:solidFill>
                <a:latin typeface="Calibri" pitchFamily="34" charset="0"/>
                <a:ea typeface="Calibri" pitchFamily="34" charset="-122"/>
                <a:cs typeface="Calibri" pitchFamily="34" charset="-120"/>
              </a:rPr>
              <a:t>9</a:t>
            </a:r>
            <a:endParaRPr lang="en-US" sz="1400" dirty="0"/>
          </a:p>
        </p:txBody>
      </p:sp>
      <p:sp>
        <p:nvSpPr>
          <p:cNvPr id="20" name="Text 18"/>
          <p:cNvSpPr/>
          <p:nvPr/>
        </p:nvSpPr>
        <p:spPr>
          <a:xfrm>
            <a:off x="4297680" y="4114800"/>
            <a:ext cx="3291840" cy="777240"/>
          </a:xfrm>
          <a:prstGeom prst="rect">
            <a:avLst/>
          </a:prstGeom>
          <a:noFill/>
          <a:ln/>
        </p:spPr>
        <p:txBody>
          <a:bodyPr wrap="square" rtlCol="0" anchor="ctr"/>
          <a:lstStyle/>
          <a:p>
            <a:pPr indent="0" marL="0">
              <a:buNone/>
            </a:pPr>
            <a:r>
              <a:rPr lang="en-US" sz="1400" dirty="0">
                <a:solidFill>
                  <a:srgbClr val="D3E4FB"/>
                </a:solidFill>
                <a:latin typeface="Calibri" pitchFamily="34" charset="0"/>
                <a:ea typeface="Calibri" pitchFamily="34" charset="-122"/>
                <a:cs typeface="Calibri" pitchFamily="34" charset="-120"/>
              </a:rPr>
              <a:t>Clínico</a:t>
            </a:r>
            <a:endParaRPr lang="en-US" sz="1400" dirty="0"/>
          </a:p>
        </p:txBody>
      </p:sp>
      <p:sp>
        <p:nvSpPr>
          <p:cNvPr id="21" name="Text 19"/>
          <p:cNvSpPr/>
          <p:nvPr/>
        </p:nvSpPr>
        <p:spPr>
          <a:xfrm>
            <a:off x="7589520" y="4114800"/>
            <a:ext cx="3962095" cy="777240"/>
          </a:xfrm>
          <a:prstGeom prst="rect">
            <a:avLst/>
          </a:prstGeom>
          <a:noFill/>
          <a:ln/>
        </p:spPr>
        <p:txBody>
          <a:bodyPr wrap="square" rtlCol="0" anchor="ctr"/>
          <a:lstStyle/>
          <a:p>
            <a:pPr indent="0" marL="0">
              <a:buNone/>
            </a:pPr>
            <a:r>
              <a:rPr lang="en-US" sz="1400" dirty="0">
                <a:solidFill>
                  <a:srgbClr val="D3E4FB"/>
                </a:solidFill>
                <a:latin typeface="Calibri" pitchFamily="34" charset="0"/>
                <a:ea typeface="Calibri" pitchFamily="34" charset="-122"/>
                <a:cs typeface="Calibri" pitchFamily="34" charset="-120"/>
              </a:rPr>
              <a:t>Guía de entrevista. ≥4 en 12 meses.</a:t>
            </a:r>
            <a:endParaRPr lang="en-US" sz="1400" dirty="0"/>
          </a:p>
        </p:txBody>
      </p:sp>
      <p:sp>
        <p:nvSpPr>
          <p:cNvPr id="22" name="Text 20"/>
          <p:cNvSpPr/>
          <p:nvPr/>
        </p:nvSpPr>
        <p:spPr>
          <a:xfrm>
            <a:off x="640080" y="5212080"/>
            <a:ext cx="10911535" cy="365760"/>
          </a:xfrm>
          <a:prstGeom prst="rect">
            <a:avLst/>
          </a:prstGeom>
          <a:noFill/>
          <a:ln/>
        </p:spPr>
        <p:txBody>
          <a:bodyPr wrap="square" rtlCol="0" anchor="ctr"/>
          <a:lstStyle/>
          <a:p>
            <a:pPr indent="0" marL="0">
              <a:buNone/>
            </a:pPr>
            <a:r>
              <a:rPr lang="en-US" sz="1500" i="1" dirty="0">
                <a:solidFill>
                  <a:srgbClr val="E0C68A"/>
                </a:solidFill>
                <a:latin typeface="Georgia" pitchFamily="34" charset="0"/>
                <a:ea typeface="Georgia" pitchFamily="34" charset="-122"/>
                <a:cs typeface="Georgia" pitchFamily="34" charset="-120"/>
              </a:rPr>
              <a:t>La regla: usen el instrumento de su rol. Nadie espera que un docente administre el SOGS.</a:t>
            </a:r>
            <a:endParaRPr lang="en-US" sz="1500" dirty="0"/>
          </a:p>
        </p:txBody>
      </p:sp>
      <p:sp>
        <p:nvSpPr>
          <p:cNvPr id="23" name="Shape 21"/>
          <p:cNvSpPr/>
          <p:nvPr/>
        </p:nvSpPr>
        <p:spPr>
          <a:xfrm>
            <a:off x="640080" y="5989320"/>
            <a:ext cx="10911535" cy="20117"/>
          </a:xfrm>
          <a:prstGeom prst="rect">
            <a:avLst/>
          </a:prstGeom>
          <a:solidFill>
            <a:srgbClr val="C5A059"/>
          </a:solidFill>
          <a:ln w="12700">
            <a:solidFill>
              <a:srgbClr val="C5A059"/>
            </a:solidFill>
            <a:prstDash val="solid"/>
          </a:ln>
        </p:spPr>
      </p:sp>
      <p:sp>
        <p:nvSpPr>
          <p:cNvPr id="24" name="Text 22"/>
          <p:cNvSpPr/>
          <p:nvPr/>
        </p:nvSpPr>
        <p:spPr>
          <a:xfrm>
            <a:off x="640080" y="6053328"/>
            <a:ext cx="10911535" cy="640080"/>
          </a:xfrm>
          <a:prstGeom prst="rect">
            <a:avLst/>
          </a:prstGeom>
          <a:noFill/>
          <a:ln/>
        </p:spPr>
        <p:txBody>
          <a:bodyPr wrap="square" rtlCol="0" anchor="ctr"/>
          <a:lstStyle/>
          <a:p>
            <a:pPr indent="0" marL="0">
              <a:buNone/>
            </a:pPr>
            <a:r>
              <a:rPr lang="en-US" sz="900" i="1" dirty="0">
                <a:solidFill>
                  <a:srgbClr val="7C90AC"/>
                </a:solidFill>
                <a:latin typeface="Calibri" pitchFamily="34" charset="0"/>
                <a:ea typeface="Calibri" pitchFamily="34" charset="-122"/>
                <a:cs typeface="Calibri" pitchFamily="34" charset="-120"/>
              </a:rPr>
              <a:t>Lesieur, H. R., &amp; Blume, S. B. (1987). SOGS. American Journal of Psychiatry, 144(9), 1184-1188.  ·  Johnson et al. (1997). Psychol Rep.  ·  APA (2013). DSM-5.</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CASO CLÍNICO COMPUESTO</a:t>
            </a:r>
            <a:endParaRPr lang="en-US" sz="1100" dirty="0"/>
          </a:p>
        </p:txBody>
      </p:sp>
      <p:sp>
        <p:nvSpPr>
          <p:cNvPr id="3" name="Text 1"/>
          <p:cNvSpPr/>
          <p:nvPr/>
        </p:nvSpPr>
        <p:spPr>
          <a:xfrm>
            <a:off x="640080" y="621792"/>
            <a:ext cx="10911535" cy="658368"/>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Diego, 21 años — el juego no era el motivo de consulta</a:t>
            </a:r>
            <a:endParaRPr lang="en-US" sz="2800" dirty="0"/>
          </a:p>
        </p:txBody>
      </p:sp>
      <p:sp>
        <p:nvSpPr>
          <p:cNvPr id="4" name="Shape 2"/>
          <p:cNvSpPr/>
          <p:nvPr/>
        </p:nvSpPr>
        <p:spPr>
          <a:xfrm>
            <a:off x="640080" y="1298448"/>
            <a:ext cx="1645920" cy="20117"/>
          </a:xfrm>
          <a:prstGeom prst="rect">
            <a:avLst/>
          </a:prstGeom>
          <a:solidFill>
            <a:srgbClr val="C5A059"/>
          </a:solidFill>
          <a:ln w="12700">
            <a:solidFill>
              <a:srgbClr val="C5A059"/>
            </a:solidFill>
            <a:prstDash val="solid"/>
          </a:ln>
        </p:spPr>
      </p:sp>
      <p:sp>
        <p:nvSpPr>
          <p:cNvPr id="5" name="Text 3"/>
          <p:cNvSpPr/>
          <p:nvPr/>
        </p:nvSpPr>
        <p:spPr>
          <a:xfrm>
            <a:off x="640080" y="1463040"/>
            <a:ext cx="10911535" cy="274320"/>
          </a:xfrm>
          <a:prstGeom prst="rect">
            <a:avLst/>
          </a:prstGeom>
          <a:noFill/>
          <a:ln/>
        </p:spPr>
        <p:txBody>
          <a:bodyPr wrap="square" rtlCol="0" anchor="ctr"/>
          <a:lstStyle/>
          <a:p>
            <a:pPr indent="0" marL="0">
              <a:buNone/>
            </a:pPr>
            <a:r>
              <a:rPr lang="en-US" sz="1200" i="1" dirty="0">
                <a:solidFill>
                  <a:srgbClr val="9FB4D4"/>
                </a:solidFill>
                <a:latin typeface="Calibri" pitchFamily="34" charset="0"/>
                <a:ea typeface="Calibri" pitchFamily="34" charset="-122"/>
                <a:cs typeface="Calibri" pitchFamily="34" charset="-120"/>
              </a:rPr>
              <a:t>Datos identificatorios modificados. Fragmentos de más de un paciente.</a:t>
            </a:r>
            <a:endParaRPr lang="en-US" sz="1200" dirty="0"/>
          </a:p>
        </p:txBody>
      </p:sp>
      <p:sp>
        <p:nvSpPr>
          <p:cNvPr id="6" name="Shape 4"/>
          <p:cNvSpPr/>
          <p:nvPr/>
        </p:nvSpPr>
        <p:spPr>
          <a:xfrm>
            <a:off x="640080" y="1874520"/>
            <a:ext cx="10911535" cy="3520440"/>
          </a:xfrm>
          <a:prstGeom prst="rect">
            <a:avLst/>
          </a:prstGeom>
          <a:solidFill>
            <a:srgbClr val="16304C"/>
          </a:solidFill>
          <a:ln w="12700">
            <a:solidFill>
              <a:srgbClr val="16304C"/>
            </a:solidFill>
            <a:prstDash val="solid"/>
          </a:ln>
        </p:spPr>
      </p:sp>
      <p:sp>
        <p:nvSpPr>
          <p:cNvPr id="7" name="Shape 5"/>
          <p:cNvSpPr/>
          <p:nvPr/>
        </p:nvSpPr>
        <p:spPr>
          <a:xfrm>
            <a:off x="640080" y="1874520"/>
            <a:ext cx="64008" cy="3520440"/>
          </a:xfrm>
          <a:prstGeom prst="rect">
            <a:avLst/>
          </a:prstGeom>
          <a:solidFill>
            <a:srgbClr val="C5A059"/>
          </a:solidFill>
          <a:ln w="12700">
            <a:solidFill>
              <a:srgbClr val="C5A059"/>
            </a:solidFill>
            <a:prstDash val="solid"/>
          </a:ln>
        </p:spPr>
      </p:sp>
      <p:sp>
        <p:nvSpPr>
          <p:cNvPr id="8" name="Text 6"/>
          <p:cNvSpPr/>
          <p:nvPr/>
        </p:nvSpPr>
        <p:spPr>
          <a:xfrm>
            <a:off x="896112" y="2039112"/>
            <a:ext cx="10500055"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LO QUE IMPORTA RECORDAR</a:t>
            </a:r>
            <a:endParaRPr lang="en-US" sz="1100" dirty="0"/>
          </a:p>
        </p:txBody>
      </p:sp>
      <p:sp>
        <p:nvSpPr>
          <p:cNvPr id="9" name="Text 7"/>
          <p:cNvSpPr/>
          <p:nvPr/>
        </p:nvSpPr>
        <p:spPr>
          <a:xfrm>
            <a:off x="896112" y="2377440"/>
            <a:ext cx="10500055" cy="2834640"/>
          </a:xfrm>
          <a:prstGeom prst="rect">
            <a:avLst/>
          </a:prstGeom>
          <a:noFill/>
          <a:ln/>
        </p:spPr>
        <p:txBody>
          <a:bodyPr wrap="square" rtlCol="0" anchor="ctr"/>
          <a:lstStyle/>
          <a:p>
            <a:pPr marL="127000" indent="-127000">
              <a:buSzPct val="100000"/>
              <a:buChar char="•"/>
            </a:pPr>
            <a:r>
              <a:rPr lang="en-US" sz="1500" dirty="0">
                <a:solidFill>
                  <a:srgbClr val="D3E4FB"/>
                </a:solidFill>
                <a:latin typeface="Calibri" pitchFamily="34" charset="0"/>
                <a:ea typeface="Calibri" pitchFamily="34" charset="-122"/>
                <a:cs typeface="Calibri" pitchFamily="34" charset="-120"/>
              </a:rPr>
              <a:t>Consulta por ansiedad / bajo rendimiento; el juego aparece “al pasar”.</a:t>
            </a:r>
            <a:endParaRPr lang="en-US" sz="1500" dirty="0"/>
          </a:p>
          <a:p>
            <a:pPr marL="127000" indent="-127000">
              <a:buSzPct val="100000"/>
              <a:buChar char="•"/>
            </a:pPr>
            <a:r>
              <a:rPr lang="en-US" sz="1500" dirty="0">
                <a:solidFill>
                  <a:srgbClr val="D3E4FB"/>
                </a:solidFill>
                <a:latin typeface="Calibri" pitchFamily="34" charset="0"/>
                <a:ea typeface="Calibri" pitchFamily="34" charset="-122"/>
                <a:cs typeface="Calibri" pitchFamily="34" charset="-120"/>
              </a:rPr>
              <a:t>Entorno cercano que también apuesta (normalización).</a:t>
            </a:r>
            <a:endParaRPr lang="en-US" sz="1500" dirty="0"/>
          </a:p>
          <a:p>
            <a:pPr marL="127000" indent="-127000">
              <a:buSzPct val="100000"/>
              <a:buChar char="•"/>
            </a:pPr>
            <a:r>
              <a:rPr lang="en-US" sz="1500" dirty="0">
                <a:solidFill>
                  <a:srgbClr val="D3E4FB"/>
                </a:solidFill>
                <a:latin typeface="Calibri" pitchFamily="34" charset="0"/>
                <a:ea typeface="Calibri" pitchFamily="34" charset="-122"/>
                <a:cs typeface="Calibri" pitchFamily="34" charset="-120"/>
              </a:rPr>
              <a:t>Promesa de parar que funciona… hasta que cambia el contexto (Mundial).</a:t>
            </a:r>
            <a:endParaRPr lang="en-US" sz="1500" dirty="0"/>
          </a:p>
          <a:p>
            <a:pPr marL="127000" indent="-127000">
              <a:buSzPct val="100000"/>
              <a:buChar char="•"/>
            </a:pPr>
            <a:r>
              <a:rPr lang="en-US" sz="1500" dirty="0">
                <a:solidFill>
                  <a:srgbClr val="D3E4FB"/>
                </a:solidFill>
                <a:latin typeface="Calibri" pitchFamily="34" charset="0"/>
                <a:ea typeface="Calibri" pitchFamily="34" charset="-122"/>
                <a:cs typeface="Calibri" pitchFamily="34" charset="-120"/>
              </a:rPr>
              <a:t>Patología dual: el juego como síntoma de fondo, no siempre como queja principal.</a:t>
            </a:r>
            <a:endParaRPr lang="en-US" sz="1500" dirty="0"/>
          </a:p>
          <a:p>
            <a:pPr marL="127000" indent="-127000">
              <a:buSzPct val="100000"/>
              <a:buChar char="•"/>
            </a:pPr>
            <a:r>
              <a:rPr lang="en-US" sz="1500" dirty="0">
                <a:solidFill>
                  <a:srgbClr val="D3E4FB"/>
                </a:solidFill>
                <a:latin typeface="Calibri" pitchFamily="34" charset="0"/>
                <a:ea typeface="Calibri" pitchFamily="34" charset="-122"/>
                <a:cs typeface="Calibri" pitchFamily="34" charset="-120"/>
              </a:rPr>
              <a:t>Volvemos a Diego al cerrar el bloque de intervención.</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BLOQUE 6 — INTERVENCIÓN</a:t>
            </a:r>
            <a:endParaRPr lang="en-US" sz="1100" dirty="0"/>
          </a:p>
        </p:txBody>
      </p:sp>
      <p:sp>
        <p:nvSpPr>
          <p:cNvPr id="3" name="Text 1"/>
          <p:cNvSpPr/>
          <p:nvPr/>
        </p:nvSpPr>
        <p:spPr>
          <a:xfrm>
            <a:off x="640080" y="621792"/>
            <a:ext cx="10911535" cy="658368"/>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La trampa de la confrontación</a:t>
            </a:r>
            <a:endParaRPr lang="en-US" sz="2800" dirty="0"/>
          </a:p>
        </p:txBody>
      </p:sp>
      <p:sp>
        <p:nvSpPr>
          <p:cNvPr id="4" name="Shape 2"/>
          <p:cNvSpPr/>
          <p:nvPr/>
        </p:nvSpPr>
        <p:spPr>
          <a:xfrm>
            <a:off x="640080" y="1298448"/>
            <a:ext cx="1645920" cy="20117"/>
          </a:xfrm>
          <a:prstGeom prst="rect">
            <a:avLst/>
          </a:prstGeom>
          <a:solidFill>
            <a:srgbClr val="C5A059"/>
          </a:solidFill>
          <a:ln w="12700">
            <a:solidFill>
              <a:srgbClr val="C5A059"/>
            </a:solidFill>
            <a:prstDash val="solid"/>
          </a:ln>
        </p:spPr>
      </p:sp>
      <p:sp>
        <p:nvSpPr>
          <p:cNvPr id="5" name="Shape 3"/>
          <p:cNvSpPr/>
          <p:nvPr/>
        </p:nvSpPr>
        <p:spPr>
          <a:xfrm>
            <a:off x="640080" y="1554480"/>
            <a:ext cx="10911535" cy="1417320"/>
          </a:xfrm>
          <a:prstGeom prst="rect">
            <a:avLst/>
          </a:prstGeom>
          <a:solidFill>
            <a:srgbClr val="16304C"/>
          </a:solidFill>
          <a:ln w="12700">
            <a:solidFill>
              <a:srgbClr val="16304C"/>
            </a:solidFill>
            <a:prstDash val="solid"/>
          </a:ln>
        </p:spPr>
      </p:sp>
      <p:sp>
        <p:nvSpPr>
          <p:cNvPr id="6" name="Shape 4"/>
          <p:cNvSpPr/>
          <p:nvPr/>
        </p:nvSpPr>
        <p:spPr>
          <a:xfrm>
            <a:off x="640080" y="1554480"/>
            <a:ext cx="73152" cy="1417320"/>
          </a:xfrm>
          <a:prstGeom prst="rect">
            <a:avLst/>
          </a:prstGeom>
          <a:solidFill>
            <a:srgbClr val="C5A059"/>
          </a:solidFill>
          <a:ln w="12700">
            <a:solidFill>
              <a:srgbClr val="C5A059"/>
            </a:solidFill>
            <a:prstDash val="solid"/>
          </a:ln>
        </p:spPr>
      </p:sp>
      <p:sp>
        <p:nvSpPr>
          <p:cNvPr id="7" name="Text 5"/>
          <p:cNvSpPr/>
          <p:nvPr/>
        </p:nvSpPr>
        <p:spPr>
          <a:xfrm>
            <a:off x="960120" y="1737360"/>
            <a:ext cx="10408615" cy="914400"/>
          </a:xfrm>
          <a:prstGeom prst="rect">
            <a:avLst/>
          </a:prstGeom>
          <a:noFill/>
          <a:ln/>
        </p:spPr>
        <p:txBody>
          <a:bodyPr wrap="square" rtlCol="0" anchor="ctr"/>
          <a:lstStyle/>
          <a:p>
            <a:pPr indent="0" marL="0">
              <a:lnSpc>
                <a:spcPct val="115000"/>
              </a:lnSpc>
              <a:buNone/>
            </a:pPr>
            <a:r>
              <a:rPr lang="en-US" sz="1600" i="1" dirty="0">
                <a:solidFill>
                  <a:srgbClr val="FFFFFF"/>
                </a:solidFill>
                <a:latin typeface="Georgia" pitchFamily="34" charset="0"/>
                <a:ea typeface="Georgia" pitchFamily="34" charset="-122"/>
                <a:cs typeface="Georgia" pitchFamily="34" charset="-120"/>
              </a:rPr>
              <a:t>“La diferencia entre obligar y manipular es que cuando te obligan te das cuenta. Cuando te manipulan sentís que sos el que toma las decisiones.”</a:t>
            </a:r>
            <a:endParaRPr lang="en-US" sz="1600" dirty="0"/>
          </a:p>
        </p:txBody>
      </p:sp>
      <p:sp>
        <p:nvSpPr>
          <p:cNvPr id="8" name="Text 6"/>
          <p:cNvSpPr/>
          <p:nvPr/>
        </p:nvSpPr>
        <p:spPr>
          <a:xfrm>
            <a:off x="960120" y="2624328"/>
            <a:ext cx="10408615" cy="256032"/>
          </a:xfrm>
          <a:prstGeom prst="rect">
            <a:avLst/>
          </a:prstGeom>
          <a:noFill/>
          <a:ln/>
        </p:spPr>
        <p:txBody>
          <a:bodyPr wrap="square" rtlCol="0" anchor="ctr"/>
          <a:lstStyle/>
          <a:p>
            <a:pPr indent="0" marL="0">
              <a:buNone/>
            </a:pPr>
            <a:r>
              <a:rPr lang="en-US" sz="1100" dirty="0">
                <a:solidFill>
                  <a:srgbClr val="C5A059"/>
                </a:solidFill>
                <a:latin typeface="Calibri" pitchFamily="34" charset="0"/>
                <a:ea typeface="Calibri" pitchFamily="34" charset="-122"/>
                <a:cs typeface="Calibri" pitchFamily="34" charset="-120"/>
              </a:rPr>
              <a:t>Miller y Rollnick, La entrevista motivacional (1999)</a:t>
            </a:r>
            <a:endParaRPr lang="en-US" sz="1100" dirty="0"/>
          </a:p>
        </p:txBody>
      </p:sp>
      <p:sp>
        <p:nvSpPr>
          <p:cNvPr id="9" name="Shape 7"/>
          <p:cNvSpPr/>
          <p:nvPr/>
        </p:nvSpPr>
        <p:spPr>
          <a:xfrm>
            <a:off x="640080" y="3200400"/>
            <a:ext cx="5272888" cy="2148840"/>
          </a:xfrm>
          <a:prstGeom prst="rect">
            <a:avLst/>
          </a:prstGeom>
          <a:solidFill>
            <a:srgbClr val="16304C"/>
          </a:solidFill>
          <a:ln w="12700">
            <a:solidFill>
              <a:srgbClr val="16304C"/>
            </a:solidFill>
            <a:prstDash val="solid"/>
          </a:ln>
        </p:spPr>
      </p:sp>
      <p:sp>
        <p:nvSpPr>
          <p:cNvPr id="10" name="Shape 8"/>
          <p:cNvSpPr/>
          <p:nvPr/>
        </p:nvSpPr>
        <p:spPr>
          <a:xfrm>
            <a:off x="640080" y="3200400"/>
            <a:ext cx="64008" cy="2148840"/>
          </a:xfrm>
          <a:prstGeom prst="rect">
            <a:avLst/>
          </a:prstGeom>
          <a:solidFill>
            <a:srgbClr val="C5A059"/>
          </a:solidFill>
          <a:ln w="12700">
            <a:solidFill>
              <a:srgbClr val="C5A059"/>
            </a:solidFill>
            <a:prstDash val="solid"/>
          </a:ln>
        </p:spPr>
      </p:sp>
      <p:sp>
        <p:nvSpPr>
          <p:cNvPr id="11" name="Text 9"/>
          <p:cNvSpPr/>
          <p:nvPr/>
        </p:nvSpPr>
        <p:spPr>
          <a:xfrm>
            <a:off x="896112" y="3364992"/>
            <a:ext cx="486140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EL ERROR MÁS FRECUENTE</a:t>
            </a:r>
            <a:endParaRPr lang="en-US" sz="1100" dirty="0"/>
          </a:p>
        </p:txBody>
      </p:sp>
      <p:sp>
        <p:nvSpPr>
          <p:cNvPr id="12" name="Text 10"/>
          <p:cNvSpPr/>
          <p:nvPr/>
        </p:nvSpPr>
        <p:spPr>
          <a:xfrm>
            <a:off x="896112" y="3703320"/>
            <a:ext cx="4861408" cy="1463040"/>
          </a:xfrm>
          <a:prstGeom prst="rect">
            <a:avLst/>
          </a:prstGeom>
          <a:noFill/>
          <a:ln/>
        </p:spPr>
        <p:txBody>
          <a:bodyPr wrap="square" rtlCol="0" anchor="ctr"/>
          <a:lstStyle/>
          <a:p>
            <a:pPr indent="0" marL="0">
              <a:lnSpc>
                <a:spcPct val="115000"/>
              </a:lnSpc>
              <a:buNone/>
            </a:pPr>
            <a:r>
              <a:rPr lang="en-US" sz="1400" dirty="0">
                <a:solidFill>
                  <a:srgbClr val="D3E4FB"/>
                </a:solidFill>
                <a:latin typeface="Calibri" pitchFamily="34" charset="0"/>
                <a:ea typeface="Calibri" pitchFamily="34" charset="-122"/>
                <a:cs typeface="Calibri" pitchFamily="34" charset="-120"/>
              </a:rPr>
              <a:t>Asumir la postura pro-cambio frente a un adolescente ambivalente hace que defienda el statu quo. “No tengo un problema” no es mentira: es el otro plato de la balanza.</a:t>
            </a:r>
            <a:endParaRPr lang="en-US" sz="1400" dirty="0"/>
          </a:p>
        </p:txBody>
      </p:sp>
      <p:sp>
        <p:nvSpPr>
          <p:cNvPr id="13" name="Shape 11"/>
          <p:cNvSpPr/>
          <p:nvPr/>
        </p:nvSpPr>
        <p:spPr>
          <a:xfrm>
            <a:off x="6278728" y="3200400"/>
            <a:ext cx="5272888" cy="2148840"/>
          </a:xfrm>
          <a:prstGeom prst="rect">
            <a:avLst/>
          </a:prstGeom>
          <a:solidFill>
            <a:srgbClr val="1B3855"/>
          </a:solidFill>
          <a:ln w="12700">
            <a:solidFill>
              <a:srgbClr val="1B3855"/>
            </a:solidFill>
            <a:prstDash val="solid"/>
          </a:ln>
        </p:spPr>
      </p:sp>
      <p:sp>
        <p:nvSpPr>
          <p:cNvPr id="14" name="Shape 12"/>
          <p:cNvSpPr/>
          <p:nvPr/>
        </p:nvSpPr>
        <p:spPr>
          <a:xfrm>
            <a:off x="6278728" y="3200400"/>
            <a:ext cx="64008" cy="2148840"/>
          </a:xfrm>
          <a:prstGeom prst="rect">
            <a:avLst/>
          </a:prstGeom>
          <a:solidFill>
            <a:srgbClr val="C5A059"/>
          </a:solidFill>
          <a:ln w="12700">
            <a:solidFill>
              <a:srgbClr val="C5A059"/>
            </a:solidFill>
            <a:prstDash val="solid"/>
          </a:ln>
        </p:spPr>
      </p:sp>
      <p:sp>
        <p:nvSpPr>
          <p:cNvPr id="15" name="Text 13"/>
          <p:cNvSpPr/>
          <p:nvPr/>
        </p:nvSpPr>
        <p:spPr>
          <a:xfrm>
            <a:off x="6534760" y="3364992"/>
            <a:ext cx="486140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LA CLAVE</a:t>
            </a:r>
            <a:endParaRPr lang="en-US" sz="1100" dirty="0"/>
          </a:p>
        </p:txBody>
      </p:sp>
      <p:sp>
        <p:nvSpPr>
          <p:cNvPr id="16" name="Text 14"/>
          <p:cNvSpPr/>
          <p:nvPr/>
        </p:nvSpPr>
        <p:spPr>
          <a:xfrm>
            <a:off x="6534760" y="3703320"/>
            <a:ext cx="4861408" cy="1463040"/>
          </a:xfrm>
          <a:prstGeom prst="rect">
            <a:avLst/>
          </a:prstGeom>
          <a:noFill/>
          <a:ln/>
        </p:spPr>
        <p:txBody>
          <a:bodyPr wrap="square" rtlCol="0" anchor="ctr"/>
          <a:lstStyle/>
          <a:p>
            <a:pPr indent="0" marL="0">
              <a:lnSpc>
                <a:spcPct val="115000"/>
              </a:lnSpc>
              <a:buNone/>
            </a:pPr>
            <a:r>
              <a:rPr lang="en-US" sz="1400" dirty="0">
                <a:solidFill>
                  <a:srgbClr val="D3E4FB"/>
                </a:solidFill>
                <a:latin typeface="Calibri" pitchFamily="34" charset="0"/>
                <a:ea typeface="Calibri" pitchFamily="34" charset="-122"/>
                <a:cs typeface="Calibri" pitchFamily="34" charset="-120"/>
              </a:rPr>
              <a:t>La resistencia no está en el paciente. Está en la estrategia. Si aparece resistencia, hay que cambiar lo que estamos haciendo.</a:t>
            </a:r>
            <a:endParaRPr lang="en-US" sz="1400" dirty="0"/>
          </a:p>
        </p:txBody>
      </p:sp>
      <p:sp>
        <p:nvSpPr>
          <p:cNvPr id="17" name="Shape 15"/>
          <p:cNvSpPr/>
          <p:nvPr/>
        </p:nvSpPr>
        <p:spPr>
          <a:xfrm>
            <a:off x="640080" y="5989320"/>
            <a:ext cx="10911535" cy="20117"/>
          </a:xfrm>
          <a:prstGeom prst="rect">
            <a:avLst/>
          </a:prstGeom>
          <a:solidFill>
            <a:srgbClr val="C5A059"/>
          </a:solidFill>
          <a:ln w="12700">
            <a:solidFill>
              <a:srgbClr val="C5A059"/>
            </a:solidFill>
            <a:prstDash val="solid"/>
          </a:ln>
        </p:spPr>
      </p:sp>
      <p:sp>
        <p:nvSpPr>
          <p:cNvPr id="18" name="Text 16"/>
          <p:cNvSpPr/>
          <p:nvPr/>
        </p:nvSpPr>
        <p:spPr>
          <a:xfrm>
            <a:off x="640080" y="6053328"/>
            <a:ext cx="10911535" cy="640080"/>
          </a:xfrm>
          <a:prstGeom prst="rect">
            <a:avLst/>
          </a:prstGeom>
          <a:noFill/>
          <a:ln/>
        </p:spPr>
        <p:txBody>
          <a:bodyPr wrap="square" rtlCol="0" anchor="ctr"/>
          <a:lstStyle/>
          <a:p>
            <a:pPr indent="0" marL="0">
              <a:buNone/>
            </a:pPr>
            <a:r>
              <a:rPr lang="en-US" sz="900" i="1" dirty="0">
                <a:solidFill>
                  <a:srgbClr val="7C90AC"/>
                </a:solidFill>
                <a:latin typeface="Calibri" pitchFamily="34" charset="0"/>
                <a:ea typeface="Calibri" pitchFamily="34" charset="-122"/>
                <a:cs typeface="Calibri" pitchFamily="34" charset="-120"/>
              </a:rPr>
              <a:t>Miller, W. R., &amp; Rollnick, S. (1999). La entrevista motivacional: preparar para el cambio de conductas adictivas. Barcelona: Paidós, cap. 8.</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BLOQUE 6 — ENTREVISTA MOTIVACIONAL</a:t>
            </a:r>
            <a:endParaRPr lang="en-US" sz="1100" dirty="0"/>
          </a:p>
        </p:txBody>
      </p:sp>
      <p:sp>
        <p:nvSpPr>
          <p:cNvPr id="3" name="Text 1"/>
          <p:cNvSpPr/>
          <p:nvPr/>
        </p:nvSpPr>
        <p:spPr>
          <a:xfrm>
            <a:off x="640080" y="621792"/>
            <a:ext cx="10911535" cy="658368"/>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La motivación no es un rasgo</a:t>
            </a:r>
            <a:endParaRPr lang="en-US" sz="2800" dirty="0"/>
          </a:p>
        </p:txBody>
      </p:sp>
      <p:sp>
        <p:nvSpPr>
          <p:cNvPr id="4" name="Shape 2"/>
          <p:cNvSpPr/>
          <p:nvPr/>
        </p:nvSpPr>
        <p:spPr>
          <a:xfrm>
            <a:off x="640080" y="1298448"/>
            <a:ext cx="1645920" cy="20117"/>
          </a:xfrm>
          <a:prstGeom prst="rect">
            <a:avLst/>
          </a:prstGeom>
          <a:solidFill>
            <a:srgbClr val="C5A059"/>
          </a:solidFill>
          <a:ln w="12700">
            <a:solidFill>
              <a:srgbClr val="C5A059"/>
            </a:solidFill>
            <a:prstDash val="solid"/>
          </a:ln>
        </p:spPr>
      </p:sp>
      <p:sp>
        <p:nvSpPr>
          <p:cNvPr id="5" name="Shape 3"/>
          <p:cNvSpPr/>
          <p:nvPr/>
        </p:nvSpPr>
        <p:spPr>
          <a:xfrm>
            <a:off x="640080" y="1554480"/>
            <a:ext cx="10911535" cy="1554480"/>
          </a:xfrm>
          <a:prstGeom prst="rect">
            <a:avLst/>
          </a:prstGeom>
          <a:solidFill>
            <a:srgbClr val="16304C"/>
          </a:solidFill>
          <a:ln w="12700">
            <a:solidFill>
              <a:srgbClr val="16304C"/>
            </a:solidFill>
            <a:prstDash val="solid"/>
          </a:ln>
        </p:spPr>
      </p:sp>
      <p:sp>
        <p:nvSpPr>
          <p:cNvPr id="6" name="Shape 4"/>
          <p:cNvSpPr/>
          <p:nvPr/>
        </p:nvSpPr>
        <p:spPr>
          <a:xfrm>
            <a:off x="640080" y="1554480"/>
            <a:ext cx="73152" cy="1554480"/>
          </a:xfrm>
          <a:prstGeom prst="rect">
            <a:avLst/>
          </a:prstGeom>
          <a:solidFill>
            <a:srgbClr val="C5A059"/>
          </a:solidFill>
          <a:ln w="12700">
            <a:solidFill>
              <a:srgbClr val="C5A059"/>
            </a:solidFill>
            <a:prstDash val="solid"/>
          </a:ln>
        </p:spPr>
      </p:sp>
      <p:sp>
        <p:nvSpPr>
          <p:cNvPr id="7" name="Text 5"/>
          <p:cNvSpPr/>
          <p:nvPr/>
        </p:nvSpPr>
        <p:spPr>
          <a:xfrm>
            <a:off x="960120" y="1737360"/>
            <a:ext cx="10408615" cy="1051560"/>
          </a:xfrm>
          <a:prstGeom prst="rect">
            <a:avLst/>
          </a:prstGeom>
          <a:noFill/>
          <a:ln/>
        </p:spPr>
        <p:txBody>
          <a:bodyPr wrap="square" rtlCol="0" anchor="ctr"/>
          <a:lstStyle/>
          <a:p>
            <a:pPr indent="0" marL="0">
              <a:lnSpc>
                <a:spcPct val="115000"/>
              </a:lnSpc>
              <a:buNone/>
            </a:pPr>
            <a:r>
              <a:rPr lang="en-US" sz="1500" i="1" dirty="0">
                <a:solidFill>
                  <a:srgbClr val="FFFFFF"/>
                </a:solidFill>
                <a:latin typeface="Georgia" pitchFamily="34" charset="0"/>
                <a:ea typeface="Georgia" pitchFamily="34" charset="-122"/>
                <a:cs typeface="Georgia" pitchFamily="34" charset="-120"/>
              </a:rPr>
              <a:t>“La motivación no se debe entender como un problema de personalidad, o como un rasgo que una persona lleva consigo… Más bien, la motivación es un estado de disponibilidad o deseo de cambiar, el cual puede fluctuar de un momento a otro o de una situación a otra.”</a:t>
            </a:r>
            <a:endParaRPr lang="en-US" sz="1500" dirty="0"/>
          </a:p>
        </p:txBody>
      </p:sp>
      <p:sp>
        <p:nvSpPr>
          <p:cNvPr id="8" name="Text 6"/>
          <p:cNvSpPr/>
          <p:nvPr/>
        </p:nvSpPr>
        <p:spPr>
          <a:xfrm>
            <a:off x="960120" y="2761488"/>
            <a:ext cx="10408615" cy="256032"/>
          </a:xfrm>
          <a:prstGeom prst="rect">
            <a:avLst/>
          </a:prstGeom>
          <a:noFill/>
          <a:ln/>
        </p:spPr>
        <p:txBody>
          <a:bodyPr wrap="square" rtlCol="0" anchor="ctr"/>
          <a:lstStyle/>
          <a:p>
            <a:pPr indent="0" marL="0">
              <a:buNone/>
            </a:pPr>
            <a:r>
              <a:rPr lang="en-US" sz="1100" dirty="0">
                <a:solidFill>
                  <a:srgbClr val="C5A059"/>
                </a:solidFill>
                <a:latin typeface="Calibri" pitchFamily="34" charset="0"/>
                <a:ea typeface="Calibri" pitchFamily="34" charset="-122"/>
                <a:cs typeface="Calibri" pitchFamily="34" charset="-120"/>
              </a:rPr>
              <a:t>Miller y Rollnick, La entrevista motivacional</a:t>
            </a:r>
            <a:endParaRPr lang="en-US" sz="1100" dirty="0"/>
          </a:p>
        </p:txBody>
      </p:sp>
      <p:sp>
        <p:nvSpPr>
          <p:cNvPr id="9" name="Shape 7"/>
          <p:cNvSpPr/>
          <p:nvPr/>
        </p:nvSpPr>
        <p:spPr>
          <a:xfrm>
            <a:off x="640080" y="3337560"/>
            <a:ext cx="5272888" cy="2011680"/>
          </a:xfrm>
          <a:prstGeom prst="rect">
            <a:avLst/>
          </a:prstGeom>
          <a:solidFill>
            <a:srgbClr val="16304C"/>
          </a:solidFill>
          <a:ln w="12700">
            <a:solidFill>
              <a:srgbClr val="16304C"/>
            </a:solidFill>
            <a:prstDash val="solid"/>
          </a:ln>
        </p:spPr>
      </p:sp>
      <p:sp>
        <p:nvSpPr>
          <p:cNvPr id="10" name="Shape 8"/>
          <p:cNvSpPr/>
          <p:nvPr/>
        </p:nvSpPr>
        <p:spPr>
          <a:xfrm>
            <a:off x="640080" y="3337560"/>
            <a:ext cx="64008" cy="2011680"/>
          </a:xfrm>
          <a:prstGeom prst="rect">
            <a:avLst/>
          </a:prstGeom>
          <a:solidFill>
            <a:srgbClr val="C5A059"/>
          </a:solidFill>
          <a:ln w="12700">
            <a:solidFill>
              <a:srgbClr val="C5A059"/>
            </a:solidFill>
            <a:prstDash val="solid"/>
          </a:ln>
        </p:spPr>
      </p:sp>
      <p:sp>
        <p:nvSpPr>
          <p:cNvPr id="11" name="Text 9"/>
          <p:cNvSpPr/>
          <p:nvPr/>
        </p:nvSpPr>
        <p:spPr>
          <a:xfrm>
            <a:off x="896112" y="3502152"/>
            <a:ext cx="486140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LO QUE SOLEMOS PENSAR</a:t>
            </a:r>
            <a:endParaRPr lang="en-US" sz="1100" dirty="0"/>
          </a:p>
        </p:txBody>
      </p:sp>
      <p:sp>
        <p:nvSpPr>
          <p:cNvPr id="12" name="Text 10"/>
          <p:cNvSpPr/>
          <p:nvPr/>
        </p:nvSpPr>
        <p:spPr>
          <a:xfrm>
            <a:off x="896112" y="3840480"/>
            <a:ext cx="4861408" cy="1325880"/>
          </a:xfrm>
          <a:prstGeom prst="rect">
            <a:avLst/>
          </a:prstGeom>
          <a:noFill/>
          <a:ln/>
        </p:spPr>
        <p:txBody>
          <a:bodyPr wrap="square" rtlCol="0" anchor="ctr"/>
          <a:lstStyle/>
          <a:p>
            <a:pPr indent="0" marL="0">
              <a:lnSpc>
                <a:spcPct val="115000"/>
              </a:lnSpc>
              <a:buNone/>
            </a:pPr>
            <a:r>
              <a:rPr lang="en-US" sz="1450" dirty="0">
                <a:solidFill>
                  <a:srgbClr val="D3E4FB"/>
                </a:solidFill>
                <a:latin typeface="Calibri" pitchFamily="34" charset="0"/>
                <a:ea typeface="Calibri" pitchFamily="34" charset="-122"/>
                <a:cs typeface="Calibri" pitchFamily="34" charset="-120"/>
              </a:rPr>
              <a:t>“Este chico no quiere cambiar.” La motivación se lee como característica fija: la tiene o no la tiene.</a:t>
            </a:r>
            <a:endParaRPr lang="en-US" sz="1450" dirty="0"/>
          </a:p>
        </p:txBody>
      </p:sp>
      <p:sp>
        <p:nvSpPr>
          <p:cNvPr id="13" name="Shape 11"/>
          <p:cNvSpPr/>
          <p:nvPr/>
        </p:nvSpPr>
        <p:spPr>
          <a:xfrm>
            <a:off x="6278728" y="3337560"/>
            <a:ext cx="5272888" cy="2011680"/>
          </a:xfrm>
          <a:prstGeom prst="rect">
            <a:avLst/>
          </a:prstGeom>
          <a:solidFill>
            <a:srgbClr val="1B3855"/>
          </a:solidFill>
          <a:ln w="12700">
            <a:solidFill>
              <a:srgbClr val="1B3855"/>
            </a:solidFill>
            <a:prstDash val="solid"/>
          </a:ln>
        </p:spPr>
      </p:sp>
      <p:sp>
        <p:nvSpPr>
          <p:cNvPr id="14" name="Shape 12"/>
          <p:cNvSpPr/>
          <p:nvPr/>
        </p:nvSpPr>
        <p:spPr>
          <a:xfrm>
            <a:off x="6278728" y="3337560"/>
            <a:ext cx="64008" cy="2011680"/>
          </a:xfrm>
          <a:prstGeom prst="rect">
            <a:avLst/>
          </a:prstGeom>
          <a:solidFill>
            <a:srgbClr val="C5A059"/>
          </a:solidFill>
          <a:ln w="12700">
            <a:solidFill>
              <a:srgbClr val="C5A059"/>
            </a:solidFill>
            <a:prstDash val="solid"/>
          </a:ln>
        </p:spPr>
      </p:sp>
      <p:sp>
        <p:nvSpPr>
          <p:cNvPr id="15" name="Text 13"/>
          <p:cNvSpPr/>
          <p:nvPr/>
        </p:nvSpPr>
        <p:spPr>
          <a:xfrm>
            <a:off x="6534760" y="3502152"/>
            <a:ext cx="486140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LO QUE MUESTRA LA EVIDENCIA</a:t>
            </a:r>
            <a:endParaRPr lang="en-US" sz="1100" dirty="0"/>
          </a:p>
        </p:txBody>
      </p:sp>
      <p:sp>
        <p:nvSpPr>
          <p:cNvPr id="16" name="Text 14"/>
          <p:cNvSpPr/>
          <p:nvPr/>
        </p:nvSpPr>
        <p:spPr>
          <a:xfrm>
            <a:off x="6534760" y="3840480"/>
            <a:ext cx="4861408" cy="1325880"/>
          </a:xfrm>
          <a:prstGeom prst="rect">
            <a:avLst/>
          </a:prstGeom>
          <a:noFill/>
          <a:ln/>
        </p:spPr>
        <p:txBody>
          <a:bodyPr wrap="square" rtlCol="0" anchor="ctr"/>
          <a:lstStyle/>
          <a:p>
            <a:pPr indent="0" marL="0">
              <a:lnSpc>
                <a:spcPct val="115000"/>
              </a:lnSpc>
              <a:buNone/>
            </a:pPr>
            <a:r>
              <a:rPr lang="en-US" sz="1450" dirty="0">
                <a:solidFill>
                  <a:srgbClr val="D3E4FB"/>
                </a:solidFill>
                <a:latin typeface="Calibri" pitchFamily="34" charset="0"/>
                <a:ea typeface="Calibri" pitchFamily="34" charset="-122"/>
                <a:cs typeface="Calibri" pitchFamily="34" charset="-120"/>
              </a:rPr>
              <a:t>La motivación es un estado influido por cómo lo tratamos. El “no quiere” no es un caso perdido: es alguien cuya disposición podemos mover.</a:t>
            </a:r>
            <a:endParaRPr lang="en-US" sz="1450" dirty="0"/>
          </a:p>
        </p:txBody>
      </p:sp>
      <p:sp>
        <p:nvSpPr>
          <p:cNvPr id="17" name="Shape 15"/>
          <p:cNvSpPr/>
          <p:nvPr/>
        </p:nvSpPr>
        <p:spPr>
          <a:xfrm>
            <a:off x="640080" y="5989320"/>
            <a:ext cx="10911535" cy="20117"/>
          </a:xfrm>
          <a:prstGeom prst="rect">
            <a:avLst/>
          </a:prstGeom>
          <a:solidFill>
            <a:srgbClr val="C5A059"/>
          </a:solidFill>
          <a:ln w="12700">
            <a:solidFill>
              <a:srgbClr val="C5A059"/>
            </a:solidFill>
            <a:prstDash val="solid"/>
          </a:ln>
        </p:spPr>
      </p:sp>
      <p:sp>
        <p:nvSpPr>
          <p:cNvPr id="18" name="Text 16"/>
          <p:cNvSpPr/>
          <p:nvPr/>
        </p:nvSpPr>
        <p:spPr>
          <a:xfrm>
            <a:off x="640080" y="6053328"/>
            <a:ext cx="10911535" cy="640080"/>
          </a:xfrm>
          <a:prstGeom prst="rect">
            <a:avLst/>
          </a:prstGeom>
          <a:noFill/>
          <a:ln/>
        </p:spPr>
        <p:txBody>
          <a:bodyPr wrap="square" rtlCol="0" anchor="ctr"/>
          <a:lstStyle/>
          <a:p>
            <a:pPr indent="0" marL="0">
              <a:buNone/>
            </a:pPr>
            <a:r>
              <a:rPr lang="en-US" sz="900" i="1" dirty="0">
                <a:solidFill>
                  <a:srgbClr val="7C90AC"/>
                </a:solidFill>
                <a:latin typeface="Calibri" pitchFamily="34" charset="0"/>
                <a:ea typeface="Calibri" pitchFamily="34" charset="-122"/>
                <a:cs typeface="Calibri" pitchFamily="34" charset="-120"/>
              </a:rPr>
              <a:t>Miller, W. R., &amp; Rollnick, S. (1999). La entrevista motivacional. Barcelona: Paidós, cap. 1 y 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BLOQUE 6 — ETAPAS DEL CAMBIO</a:t>
            </a:r>
            <a:endParaRPr lang="en-US" sz="1100" dirty="0"/>
          </a:p>
        </p:txBody>
      </p:sp>
      <p:sp>
        <p:nvSpPr>
          <p:cNvPr id="3" name="Text 1"/>
          <p:cNvSpPr/>
          <p:nvPr/>
        </p:nvSpPr>
        <p:spPr>
          <a:xfrm>
            <a:off x="640080" y="621792"/>
            <a:ext cx="10911535" cy="658368"/>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Prochaska y DiClemente — tarea del profesional</a:t>
            </a:r>
            <a:endParaRPr lang="en-US" sz="2800" dirty="0"/>
          </a:p>
        </p:txBody>
      </p:sp>
      <p:sp>
        <p:nvSpPr>
          <p:cNvPr id="4" name="Shape 2"/>
          <p:cNvSpPr/>
          <p:nvPr/>
        </p:nvSpPr>
        <p:spPr>
          <a:xfrm>
            <a:off x="640080" y="1298448"/>
            <a:ext cx="1645920" cy="20117"/>
          </a:xfrm>
          <a:prstGeom prst="rect">
            <a:avLst/>
          </a:prstGeom>
          <a:solidFill>
            <a:srgbClr val="C5A059"/>
          </a:solidFill>
          <a:ln w="12700">
            <a:solidFill>
              <a:srgbClr val="C5A059"/>
            </a:solidFill>
            <a:prstDash val="solid"/>
          </a:ln>
        </p:spPr>
      </p:sp>
      <p:sp>
        <p:nvSpPr>
          <p:cNvPr id="5" name="Text 3"/>
          <p:cNvSpPr/>
          <p:nvPr/>
        </p:nvSpPr>
        <p:spPr>
          <a:xfrm>
            <a:off x="640080" y="1554480"/>
            <a:ext cx="2926080" cy="548640"/>
          </a:xfrm>
          <a:prstGeom prst="rect">
            <a:avLst/>
          </a:prstGeom>
          <a:noFill/>
          <a:ln/>
        </p:spPr>
        <p:txBody>
          <a:bodyPr wrap="square" rtlCol="0" anchor="ctr"/>
          <a:lstStyle/>
          <a:p>
            <a:pPr indent="0" marL="0">
              <a:buNone/>
            </a:pPr>
            <a:r>
              <a:rPr lang="en-US" sz="1500" b="1" dirty="0">
                <a:solidFill>
                  <a:srgbClr val="C5A059"/>
                </a:solidFill>
                <a:latin typeface="Georgia" pitchFamily="34" charset="0"/>
                <a:ea typeface="Georgia" pitchFamily="34" charset="-122"/>
                <a:cs typeface="Georgia" pitchFamily="34" charset="-120"/>
              </a:rPr>
              <a:t>Precontemplación</a:t>
            </a:r>
            <a:endParaRPr lang="en-US" sz="1500" dirty="0"/>
          </a:p>
        </p:txBody>
      </p:sp>
      <p:sp>
        <p:nvSpPr>
          <p:cNvPr id="6" name="Text 4"/>
          <p:cNvSpPr/>
          <p:nvPr/>
        </p:nvSpPr>
        <p:spPr>
          <a:xfrm>
            <a:off x="3657600" y="1554480"/>
            <a:ext cx="7894015" cy="548640"/>
          </a:xfrm>
          <a:prstGeom prst="rect">
            <a:avLst/>
          </a:prstGeom>
          <a:noFill/>
          <a:ln/>
        </p:spPr>
        <p:txBody>
          <a:bodyPr wrap="square" rtlCol="0" anchor="ctr"/>
          <a:lstStyle/>
          <a:p>
            <a:pPr indent="0" marL="0">
              <a:buNone/>
            </a:pPr>
            <a:r>
              <a:rPr lang="en-US" sz="1500" dirty="0">
                <a:solidFill>
                  <a:srgbClr val="D3E4FB"/>
                </a:solidFill>
                <a:latin typeface="Calibri" pitchFamily="34" charset="0"/>
                <a:ea typeface="Calibri" pitchFamily="34" charset="-122"/>
                <a:cs typeface="Calibri" pitchFamily="34" charset="-120"/>
              </a:rPr>
              <a:t>Aumentar la duda. Que perciba riesgos sin confrontar.</a:t>
            </a:r>
            <a:endParaRPr lang="en-US" sz="1500" dirty="0"/>
          </a:p>
        </p:txBody>
      </p:sp>
      <p:sp>
        <p:nvSpPr>
          <p:cNvPr id="7" name="Text 5"/>
          <p:cNvSpPr/>
          <p:nvPr/>
        </p:nvSpPr>
        <p:spPr>
          <a:xfrm>
            <a:off x="640080" y="2194560"/>
            <a:ext cx="2926080" cy="548640"/>
          </a:xfrm>
          <a:prstGeom prst="rect">
            <a:avLst/>
          </a:prstGeom>
          <a:noFill/>
          <a:ln/>
        </p:spPr>
        <p:txBody>
          <a:bodyPr wrap="square" rtlCol="0" anchor="ctr"/>
          <a:lstStyle/>
          <a:p>
            <a:pPr indent="0" marL="0">
              <a:buNone/>
            </a:pPr>
            <a:r>
              <a:rPr lang="en-US" sz="1500" b="1" dirty="0">
                <a:solidFill>
                  <a:srgbClr val="C5A059"/>
                </a:solidFill>
                <a:latin typeface="Georgia" pitchFamily="34" charset="0"/>
                <a:ea typeface="Georgia" pitchFamily="34" charset="-122"/>
                <a:cs typeface="Georgia" pitchFamily="34" charset="-120"/>
              </a:rPr>
              <a:t>Contemplación</a:t>
            </a:r>
            <a:endParaRPr lang="en-US" sz="1500" dirty="0"/>
          </a:p>
        </p:txBody>
      </p:sp>
      <p:sp>
        <p:nvSpPr>
          <p:cNvPr id="8" name="Text 6"/>
          <p:cNvSpPr/>
          <p:nvPr/>
        </p:nvSpPr>
        <p:spPr>
          <a:xfrm>
            <a:off x="3657600" y="2194560"/>
            <a:ext cx="7894015" cy="548640"/>
          </a:xfrm>
          <a:prstGeom prst="rect">
            <a:avLst/>
          </a:prstGeom>
          <a:noFill/>
          <a:ln/>
        </p:spPr>
        <p:txBody>
          <a:bodyPr wrap="square" rtlCol="0" anchor="ctr"/>
          <a:lstStyle/>
          <a:p>
            <a:pPr indent="0" marL="0">
              <a:buNone/>
            </a:pPr>
            <a:r>
              <a:rPr lang="en-US" sz="1500" dirty="0">
                <a:solidFill>
                  <a:srgbClr val="D3E4FB"/>
                </a:solidFill>
                <a:latin typeface="Calibri" pitchFamily="34" charset="0"/>
                <a:ea typeface="Calibri" pitchFamily="34" charset="-122"/>
                <a:cs typeface="Calibri" pitchFamily="34" charset="-120"/>
              </a:rPr>
              <a:t>Inclinar la balanza. Explorar ambivalencia.</a:t>
            </a:r>
            <a:endParaRPr lang="en-US" sz="1500" dirty="0"/>
          </a:p>
        </p:txBody>
      </p:sp>
      <p:sp>
        <p:nvSpPr>
          <p:cNvPr id="9" name="Text 7"/>
          <p:cNvSpPr/>
          <p:nvPr/>
        </p:nvSpPr>
        <p:spPr>
          <a:xfrm>
            <a:off x="640080" y="2834640"/>
            <a:ext cx="2926080" cy="548640"/>
          </a:xfrm>
          <a:prstGeom prst="rect">
            <a:avLst/>
          </a:prstGeom>
          <a:noFill/>
          <a:ln/>
        </p:spPr>
        <p:txBody>
          <a:bodyPr wrap="square" rtlCol="0" anchor="ctr"/>
          <a:lstStyle/>
          <a:p>
            <a:pPr indent="0" marL="0">
              <a:buNone/>
            </a:pPr>
            <a:r>
              <a:rPr lang="en-US" sz="1500" b="1" dirty="0">
                <a:solidFill>
                  <a:srgbClr val="C5A059"/>
                </a:solidFill>
                <a:latin typeface="Georgia" pitchFamily="34" charset="0"/>
                <a:ea typeface="Georgia" pitchFamily="34" charset="-122"/>
                <a:cs typeface="Georgia" pitchFamily="34" charset="-120"/>
              </a:rPr>
              <a:t>Determinación</a:t>
            </a:r>
            <a:endParaRPr lang="en-US" sz="1500" dirty="0"/>
          </a:p>
        </p:txBody>
      </p:sp>
      <p:sp>
        <p:nvSpPr>
          <p:cNvPr id="10" name="Text 8"/>
          <p:cNvSpPr/>
          <p:nvPr/>
        </p:nvSpPr>
        <p:spPr>
          <a:xfrm>
            <a:off x="3657600" y="2834640"/>
            <a:ext cx="7894015" cy="548640"/>
          </a:xfrm>
          <a:prstGeom prst="rect">
            <a:avLst/>
          </a:prstGeom>
          <a:noFill/>
          <a:ln/>
        </p:spPr>
        <p:txBody>
          <a:bodyPr wrap="square" rtlCol="0" anchor="ctr"/>
          <a:lstStyle/>
          <a:p>
            <a:pPr indent="0" marL="0">
              <a:buNone/>
            </a:pPr>
            <a:r>
              <a:rPr lang="en-US" sz="1500" dirty="0">
                <a:solidFill>
                  <a:srgbClr val="D3E4FB"/>
                </a:solidFill>
                <a:latin typeface="Calibri" pitchFamily="34" charset="0"/>
                <a:ea typeface="Calibri" pitchFamily="34" charset="-122"/>
                <a:cs typeface="Calibri" pitchFamily="34" charset="-120"/>
              </a:rPr>
              <a:t>Ayudar a encontrar el mejor curso de acción.</a:t>
            </a:r>
            <a:endParaRPr lang="en-US" sz="1500" dirty="0"/>
          </a:p>
        </p:txBody>
      </p:sp>
      <p:sp>
        <p:nvSpPr>
          <p:cNvPr id="11" name="Text 9"/>
          <p:cNvSpPr/>
          <p:nvPr/>
        </p:nvSpPr>
        <p:spPr>
          <a:xfrm>
            <a:off x="640080" y="3474720"/>
            <a:ext cx="2926080" cy="548640"/>
          </a:xfrm>
          <a:prstGeom prst="rect">
            <a:avLst/>
          </a:prstGeom>
          <a:noFill/>
          <a:ln/>
        </p:spPr>
        <p:txBody>
          <a:bodyPr wrap="square" rtlCol="0" anchor="ctr"/>
          <a:lstStyle/>
          <a:p>
            <a:pPr indent="0" marL="0">
              <a:buNone/>
            </a:pPr>
            <a:r>
              <a:rPr lang="en-US" sz="1500" b="1" dirty="0">
                <a:solidFill>
                  <a:srgbClr val="C5A059"/>
                </a:solidFill>
                <a:latin typeface="Georgia" pitchFamily="34" charset="0"/>
                <a:ea typeface="Georgia" pitchFamily="34" charset="-122"/>
                <a:cs typeface="Georgia" pitchFamily="34" charset="-120"/>
              </a:rPr>
              <a:t>Acción</a:t>
            </a:r>
            <a:endParaRPr lang="en-US" sz="1500" dirty="0"/>
          </a:p>
        </p:txBody>
      </p:sp>
      <p:sp>
        <p:nvSpPr>
          <p:cNvPr id="12" name="Text 10"/>
          <p:cNvSpPr/>
          <p:nvPr/>
        </p:nvSpPr>
        <p:spPr>
          <a:xfrm>
            <a:off x="3657600" y="3474720"/>
            <a:ext cx="7894015" cy="548640"/>
          </a:xfrm>
          <a:prstGeom prst="rect">
            <a:avLst/>
          </a:prstGeom>
          <a:noFill/>
          <a:ln/>
        </p:spPr>
        <p:txBody>
          <a:bodyPr wrap="square" rtlCol="0" anchor="ctr"/>
          <a:lstStyle/>
          <a:p>
            <a:pPr indent="0" marL="0">
              <a:buNone/>
            </a:pPr>
            <a:r>
              <a:rPr lang="en-US" sz="1500" dirty="0">
                <a:solidFill>
                  <a:srgbClr val="D3E4FB"/>
                </a:solidFill>
                <a:latin typeface="Calibri" pitchFamily="34" charset="0"/>
                <a:ea typeface="Calibri" pitchFamily="34" charset="-122"/>
                <a:cs typeface="Calibri" pitchFamily="34" charset="-120"/>
              </a:rPr>
              <a:t>Acompañar los pasos concretos.</a:t>
            </a:r>
            <a:endParaRPr lang="en-US" sz="1500" dirty="0"/>
          </a:p>
        </p:txBody>
      </p:sp>
      <p:sp>
        <p:nvSpPr>
          <p:cNvPr id="13" name="Text 11"/>
          <p:cNvSpPr/>
          <p:nvPr/>
        </p:nvSpPr>
        <p:spPr>
          <a:xfrm>
            <a:off x="640080" y="4114800"/>
            <a:ext cx="2926080" cy="548640"/>
          </a:xfrm>
          <a:prstGeom prst="rect">
            <a:avLst/>
          </a:prstGeom>
          <a:noFill/>
          <a:ln/>
        </p:spPr>
        <p:txBody>
          <a:bodyPr wrap="square" rtlCol="0" anchor="ctr"/>
          <a:lstStyle/>
          <a:p>
            <a:pPr indent="0" marL="0">
              <a:buNone/>
            </a:pPr>
            <a:r>
              <a:rPr lang="en-US" sz="1500" b="1" dirty="0">
                <a:solidFill>
                  <a:srgbClr val="C5A059"/>
                </a:solidFill>
                <a:latin typeface="Georgia" pitchFamily="34" charset="0"/>
                <a:ea typeface="Georgia" pitchFamily="34" charset="-122"/>
                <a:cs typeface="Georgia" pitchFamily="34" charset="-120"/>
              </a:rPr>
              <a:t>Mantenimiento</a:t>
            </a:r>
            <a:endParaRPr lang="en-US" sz="1500" dirty="0"/>
          </a:p>
        </p:txBody>
      </p:sp>
      <p:sp>
        <p:nvSpPr>
          <p:cNvPr id="14" name="Text 12"/>
          <p:cNvSpPr/>
          <p:nvPr/>
        </p:nvSpPr>
        <p:spPr>
          <a:xfrm>
            <a:off x="3657600" y="4114800"/>
            <a:ext cx="7894015" cy="548640"/>
          </a:xfrm>
          <a:prstGeom prst="rect">
            <a:avLst/>
          </a:prstGeom>
          <a:noFill/>
          <a:ln/>
        </p:spPr>
        <p:txBody>
          <a:bodyPr wrap="square" rtlCol="0" anchor="ctr"/>
          <a:lstStyle/>
          <a:p>
            <a:pPr indent="0" marL="0">
              <a:buNone/>
            </a:pPr>
            <a:r>
              <a:rPr lang="en-US" sz="1500" dirty="0">
                <a:solidFill>
                  <a:srgbClr val="D3E4FB"/>
                </a:solidFill>
                <a:latin typeface="Calibri" pitchFamily="34" charset="0"/>
                <a:ea typeface="Calibri" pitchFamily="34" charset="-122"/>
                <a:cs typeface="Calibri" pitchFamily="34" charset="-120"/>
              </a:rPr>
              <a:t>Prevención de recaídas.</a:t>
            </a:r>
            <a:endParaRPr lang="en-US" sz="1500" dirty="0"/>
          </a:p>
        </p:txBody>
      </p:sp>
      <p:sp>
        <p:nvSpPr>
          <p:cNvPr id="15" name="Text 13"/>
          <p:cNvSpPr/>
          <p:nvPr/>
        </p:nvSpPr>
        <p:spPr>
          <a:xfrm>
            <a:off x="640080" y="4754880"/>
            <a:ext cx="2926080" cy="548640"/>
          </a:xfrm>
          <a:prstGeom prst="rect">
            <a:avLst/>
          </a:prstGeom>
          <a:noFill/>
          <a:ln/>
        </p:spPr>
        <p:txBody>
          <a:bodyPr wrap="square" rtlCol="0" anchor="ctr"/>
          <a:lstStyle/>
          <a:p>
            <a:pPr indent="0" marL="0">
              <a:buNone/>
            </a:pPr>
            <a:r>
              <a:rPr lang="en-US" sz="1500" b="1" dirty="0">
                <a:solidFill>
                  <a:srgbClr val="C5A059"/>
                </a:solidFill>
                <a:latin typeface="Georgia" pitchFamily="34" charset="0"/>
                <a:ea typeface="Georgia" pitchFamily="34" charset="-122"/>
                <a:cs typeface="Georgia" pitchFamily="34" charset="-120"/>
              </a:rPr>
              <a:t>Recaída</a:t>
            </a:r>
            <a:endParaRPr lang="en-US" sz="1500" dirty="0"/>
          </a:p>
        </p:txBody>
      </p:sp>
      <p:sp>
        <p:nvSpPr>
          <p:cNvPr id="16" name="Text 14"/>
          <p:cNvSpPr/>
          <p:nvPr/>
        </p:nvSpPr>
        <p:spPr>
          <a:xfrm>
            <a:off x="3657600" y="4754880"/>
            <a:ext cx="7894015" cy="548640"/>
          </a:xfrm>
          <a:prstGeom prst="rect">
            <a:avLst/>
          </a:prstGeom>
          <a:noFill/>
          <a:ln/>
        </p:spPr>
        <p:txBody>
          <a:bodyPr wrap="square" rtlCol="0" anchor="ctr"/>
          <a:lstStyle/>
          <a:p>
            <a:pPr indent="0" marL="0">
              <a:buNone/>
            </a:pPr>
            <a:r>
              <a:rPr lang="en-US" sz="1500" dirty="0">
                <a:solidFill>
                  <a:srgbClr val="D3E4FB"/>
                </a:solidFill>
                <a:latin typeface="Calibri" pitchFamily="34" charset="0"/>
                <a:ea typeface="Calibri" pitchFamily="34" charset="-122"/>
                <a:cs typeface="Calibri" pitchFamily="34" charset="-120"/>
              </a:rPr>
              <a:t>Renovar el proceso sin desmoralización.</a:t>
            </a:r>
            <a:endParaRPr lang="en-US" sz="1500" dirty="0"/>
          </a:p>
        </p:txBody>
      </p:sp>
      <p:sp>
        <p:nvSpPr>
          <p:cNvPr id="17" name="Shape 15"/>
          <p:cNvSpPr/>
          <p:nvPr/>
        </p:nvSpPr>
        <p:spPr>
          <a:xfrm>
            <a:off x="640080" y="5989320"/>
            <a:ext cx="10911535" cy="20117"/>
          </a:xfrm>
          <a:prstGeom prst="rect">
            <a:avLst/>
          </a:prstGeom>
          <a:solidFill>
            <a:srgbClr val="C5A059"/>
          </a:solidFill>
          <a:ln w="12700">
            <a:solidFill>
              <a:srgbClr val="C5A059"/>
            </a:solidFill>
            <a:prstDash val="solid"/>
          </a:ln>
        </p:spPr>
      </p:sp>
      <p:sp>
        <p:nvSpPr>
          <p:cNvPr id="18" name="Text 16"/>
          <p:cNvSpPr/>
          <p:nvPr/>
        </p:nvSpPr>
        <p:spPr>
          <a:xfrm>
            <a:off x="640080" y="6053328"/>
            <a:ext cx="10911535" cy="640080"/>
          </a:xfrm>
          <a:prstGeom prst="rect">
            <a:avLst/>
          </a:prstGeom>
          <a:noFill/>
          <a:ln/>
        </p:spPr>
        <p:txBody>
          <a:bodyPr wrap="square" rtlCol="0" anchor="ctr"/>
          <a:lstStyle/>
          <a:p>
            <a:pPr indent="0" marL="0">
              <a:buNone/>
            </a:pPr>
            <a:r>
              <a:rPr lang="en-US" sz="900" i="1" dirty="0">
                <a:solidFill>
                  <a:srgbClr val="7C90AC"/>
                </a:solidFill>
                <a:latin typeface="Calibri" pitchFamily="34" charset="0"/>
                <a:ea typeface="Calibri" pitchFamily="34" charset="-122"/>
                <a:cs typeface="Calibri" pitchFamily="34" charset="-120"/>
              </a:rPr>
              <a:t>Prochaska, J. O., &amp; DiClemente, C. C. (1983). Journal of Consulting and Clinical Psychology, 51(3), 390-395.  ·  Miller &amp; Rollnick (1999), cap. 2. La recaída es etapa normal del proceso (3–7 ciclos en fumadores; análogo en juego).</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BLOQUE 6 — INTERVENCIÓN BREVE</a:t>
            </a:r>
            <a:endParaRPr lang="en-US" sz="1100" dirty="0"/>
          </a:p>
        </p:txBody>
      </p:sp>
      <p:sp>
        <p:nvSpPr>
          <p:cNvPr id="3" name="Text 1"/>
          <p:cNvSpPr/>
          <p:nvPr/>
        </p:nvSpPr>
        <p:spPr>
          <a:xfrm>
            <a:off x="640080" y="621792"/>
            <a:ext cx="10911535" cy="658368"/>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FRAMES — 15 a 20 minutos para no especializados</a:t>
            </a:r>
            <a:endParaRPr lang="en-US" sz="2800" dirty="0"/>
          </a:p>
        </p:txBody>
      </p:sp>
      <p:sp>
        <p:nvSpPr>
          <p:cNvPr id="4" name="Shape 2"/>
          <p:cNvSpPr/>
          <p:nvPr/>
        </p:nvSpPr>
        <p:spPr>
          <a:xfrm>
            <a:off x="640080" y="1298448"/>
            <a:ext cx="1645920" cy="20117"/>
          </a:xfrm>
          <a:prstGeom prst="rect">
            <a:avLst/>
          </a:prstGeom>
          <a:solidFill>
            <a:srgbClr val="C5A059"/>
          </a:solidFill>
          <a:ln w="12700">
            <a:solidFill>
              <a:srgbClr val="C5A059"/>
            </a:solidFill>
            <a:prstDash val="solid"/>
          </a:ln>
        </p:spPr>
      </p:sp>
      <p:sp>
        <p:nvSpPr>
          <p:cNvPr id="5" name="Shape 3"/>
          <p:cNvSpPr/>
          <p:nvPr/>
        </p:nvSpPr>
        <p:spPr>
          <a:xfrm>
            <a:off x="640080" y="1600200"/>
            <a:ext cx="3423818" cy="1737360"/>
          </a:xfrm>
          <a:prstGeom prst="rect">
            <a:avLst/>
          </a:prstGeom>
          <a:solidFill>
            <a:srgbClr val="16304C"/>
          </a:solidFill>
          <a:ln w="12700">
            <a:solidFill>
              <a:srgbClr val="16304C"/>
            </a:solidFill>
            <a:prstDash val="solid"/>
          </a:ln>
        </p:spPr>
      </p:sp>
      <p:sp>
        <p:nvSpPr>
          <p:cNvPr id="6" name="Shape 4"/>
          <p:cNvSpPr/>
          <p:nvPr/>
        </p:nvSpPr>
        <p:spPr>
          <a:xfrm>
            <a:off x="640080" y="1600200"/>
            <a:ext cx="64008" cy="1737360"/>
          </a:xfrm>
          <a:prstGeom prst="rect">
            <a:avLst/>
          </a:prstGeom>
          <a:solidFill>
            <a:srgbClr val="C5A059"/>
          </a:solidFill>
          <a:ln w="12700">
            <a:solidFill>
              <a:srgbClr val="C5A059"/>
            </a:solidFill>
            <a:prstDash val="solid"/>
          </a:ln>
        </p:spPr>
      </p:sp>
      <p:sp>
        <p:nvSpPr>
          <p:cNvPr id="7" name="Text 5"/>
          <p:cNvSpPr/>
          <p:nvPr/>
        </p:nvSpPr>
        <p:spPr>
          <a:xfrm>
            <a:off x="896112" y="1764792"/>
            <a:ext cx="301233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F  —  FEEDBACK</a:t>
            </a:r>
            <a:endParaRPr lang="en-US" sz="1100" dirty="0"/>
          </a:p>
        </p:txBody>
      </p:sp>
      <p:sp>
        <p:nvSpPr>
          <p:cNvPr id="8" name="Text 6"/>
          <p:cNvSpPr/>
          <p:nvPr/>
        </p:nvSpPr>
        <p:spPr>
          <a:xfrm>
            <a:off x="896112" y="2103120"/>
            <a:ext cx="3012338" cy="1051560"/>
          </a:xfrm>
          <a:prstGeom prst="rect">
            <a:avLst/>
          </a:prstGeom>
          <a:noFill/>
          <a:ln/>
        </p:spPr>
        <p:txBody>
          <a:bodyPr wrap="square" rtlCol="0" anchor="ctr"/>
          <a:lstStyle/>
          <a:p>
            <a:pPr indent="0" marL="0">
              <a:lnSpc>
                <a:spcPct val="115000"/>
              </a:lnSpc>
              <a:buNone/>
            </a:pPr>
            <a:r>
              <a:rPr lang="en-US" sz="1400" dirty="0">
                <a:solidFill>
                  <a:srgbClr val="D3E4FB"/>
                </a:solidFill>
                <a:latin typeface="Calibri" pitchFamily="34" charset="0"/>
                <a:ea typeface="Calibri" pitchFamily="34" charset="-122"/>
                <a:cs typeface="Calibri" pitchFamily="34" charset="-120"/>
              </a:rPr>
              <a:t>Información personalizada sobre la situación</a:t>
            </a:r>
            <a:endParaRPr lang="en-US" sz="1400" dirty="0"/>
          </a:p>
        </p:txBody>
      </p:sp>
      <p:sp>
        <p:nvSpPr>
          <p:cNvPr id="9" name="Shape 7"/>
          <p:cNvSpPr/>
          <p:nvPr/>
        </p:nvSpPr>
        <p:spPr>
          <a:xfrm>
            <a:off x="4383938" y="1600200"/>
            <a:ext cx="3423818" cy="1737360"/>
          </a:xfrm>
          <a:prstGeom prst="rect">
            <a:avLst/>
          </a:prstGeom>
          <a:solidFill>
            <a:srgbClr val="16304C"/>
          </a:solidFill>
          <a:ln w="12700">
            <a:solidFill>
              <a:srgbClr val="16304C"/>
            </a:solidFill>
            <a:prstDash val="solid"/>
          </a:ln>
        </p:spPr>
      </p:sp>
      <p:sp>
        <p:nvSpPr>
          <p:cNvPr id="10" name="Shape 8"/>
          <p:cNvSpPr/>
          <p:nvPr/>
        </p:nvSpPr>
        <p:spPr>
          <a:xfrm>
            <a:off x="4383938" y="1600200"/>
            <a:ext cx="64008" cy="1737360"/>
          </a:xfrm>
          <a:prstGeom prst="rect">
            <a:avLst/>
          </a:prstGeom>
          <a:solidFill>
            <a:srgbClr val="C5A059"/>
          </a:solidFill>
          <a:ln w="12700">
            <a:solidFill>
              <a:srgbClr val="C5A059"/>
            </a:solidFill>
            <a:prstDash val="solid"/>
          </a:ln>
        </p:spPr>
      </p:sp>
      <p:sp>
        <p:nvSpPr>
          <p:cNvPr id="11" name="Text 9"/>
          <p:cNvSpPr/>
          <p:nvPr/>
        </p:nvSpPr>
        <p:spPr>
          <a:xfrm>
            <a:off x="4639970" y="1764792"/>
            <a:ext cx="301233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R  —  RESPONSIBILITY</a:t>
            </a:r>
            <a:endParaRPr lang="en-US" sz="1100" dirty="0"/>
          </a:p>
        </p:txBody>
      </p:sp>
      <p:sp>
        <p:nvSpPr>
          <p:cNvPr id="12" name="Text 10"/>
          <p:cNvSpPr/>
          <p:nvPr/>
        </p:nvSpPr>
        <p:spPr>
          <a:xfrm>
            <a:off x="4639970" y="2103120"/>
            <a:ext cx="3012338" cy="1051560"/>
          </a:xfrm>
          <a:prstGeom prst="rect">
            <a:avLst/>
          </a:prstGeom>
          <a:noFill/>
          <a:ln/>
        </p:spPr>
        <p:txBody>
          <a:bodyPr wrap="square" rtlCol="0" anchor="ctr"/>
          <a:lstStyle/>
          <a:p>
            <a:pPr indent="0" marL="0">
              <a:lnSpc>
                <a:spcPct val="115000"/>
              </a:lnSpc>
              <a:buNone/>
            </a:pPr>
            <a:r>
              <a:rPr lang="en-US" sz="1400" dirty="0">
                <a:solidFill>
                  <a:srgbClr val="D3E4FB"/>
                </a:solidFill>
                <a:latin typeface="Calibri" pitchFamily="34" charset="0"/>
                <a:ea typeface="Calibri" pitchFamily="34" charset="-122"/>
                <a:cs typeface="Calibri" pitchFamily="34" charset="-120"/>
              </a:rPr>
              <a:t>Énfasis en la responsabilidad personal del cambio</a:t>
            </a:r>
            <a:endParaRPr lang="en-US" sz="1400" dirty="0"/>
          </a:p>
        </p:txBody>
      </p:sp>
      <p:sp>
        <p:nvSpPr>
          <p:cNvPr id="13" name="Shape 11"/>
          <p:cNvSpPr/>
          <p:nvPr/>
        </p:nvSpPr>
        <p:spPr>
          <a:xfrm>
            <a:off x="8127797" y="1600200"/>
            <a:ext cx="3423818" cy="1737360"/>
          </a:xfrm>
          <a:prstGeom prst="rect">
            <a:avLst/>
          </a:prstGeom>
          <a:solidFill>
            <a:srgbClr val="16304C"/>
          </a:solidFill>
          <a:ln w="12700">
            <a:solidFill>
              <a:srgbClr val="16304C"/>
            </a:solidFill>
            <a:prstDash val="solid"/>
          </a:ln>
        </p:spPr>
      </p:sp>
      <p:sp>
        <p:nvSpPr>
          <p:cNvPr id="14" name="Shape 12"/>
          <p:cNvSpPr/>
          <p:nvPr/>
        </p:nvSpPr>
        <p:spPr>
          <a:xfrm>
            <a:off x="8127797" y="1600200"/>
            <a:ext cx="64008" cy="1737360"/>
          </a:xfrm>
          <a:prstGeom prst="rect">
            <a:avLst/>
          </a:prstGeom>
          <a:solidFill>
            <a:srgbClr val="C5A059"/>
          </a:solidFill>
          <a:ln w="12700">
            <a:solidFill>
              <a:srgbClr val="C5A059"/>
            </a:solidFill>
            <a:prstDash val="solid"/>
          </a:ln>
        </p:spPr>
      </p:sp>
      <p:sp>
        <p:nvSpPr>
          <p:cNvPr id="15" name="Text 13"/>
          <p:cNvSpPr/>
          <p:nvPr/>
        </p:nvSpPr>
        <p:spPr>
          <a:xfrm>
            <a:off x="8383829" y="1764792"/>
            <a:ext cx="301233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A  —  ADVICE</a:t>
            </a:r>
            <a:endParaRPr lang="en-US" sz="1100" dirty="0"/>
          </a:p>
        </p:txBody>
      </p:sp>
      <p:sp>
        <p:nvSpPr>
          <p:cNvPr id="16" name="Text 14"/>
          <p:cNvSpPr/>
          <p:nvPr/>
        </p:nvSpPr>
        <p:spPr>
          <a:xfrm>
            <a:off x="8383829" y="2103120"/>
            <a:ext cx="3012338" cy="1051560"/>
          </a:xfrm>
          <a:prstGeom prst="rect">
            <a:avLst/>
          </a:prstGeom>
          <a:noFill/>
          <a:ln/>
        </p:spPr>
        <p:txBody>
          <a:bodyPr wrap="square" rtlCol="0" anchor="ctr"/>
          <a:lstStyle/>
          <a:p>
            <a:pPr indent="0" marL="0">
              <a:lnSpc>
                <a:spcPct val="115000"/>
              </a:lnSpc>
              <a:buNone/>
            </a:pPr>
            <a:r>
              <a:rPr lang="en-US" sz="1400" dirty="0">
                <a:solidFill>
                  <a:srgbClr val="D3E4FB"/>
                </a:solidFill>
                <a:latin typeface="Calibri" pitchFamily="34" charset="0"/>
                <a:ea typeface="Calibri" pitchFamily="34" charset="-122"/>
                <a:cs typeface="Calibri" pitchFamily="34" charset="-120"/>
              </a:rPr>
              <a:t>Consejo claro, una sola vez, sin sermón</a:t>
            </a:r>
            <a:endParaRPr lang="en-US" sz="1400" dirty="0"/>
          </a:p>
        </p:txBody>
      </p:sp>
      <p:sp>
        <p:nvSpPr>
          <p:cNvPr id="17" name="Shape 15"/>
          <p:cNvSpPr/>
          <p:nvPr/>
        </p:nvSpPr>
        <p:spPr>
          <a:xfrm>
            <a:off x="640080" y="3520440"/>
            <a:ext cx="3423818" cy="1737360"/>
          </a:xfrm>
          <a:prstGeom prst="rect">
            <a:avLst/>
          </a:prstGeom>
          <a:solidFill>
            <a:srgbClr val="16304C"/>
          </a:solidFill>
          <a:ln w="12700">
            <a:solidFill>
              <a:srgbClr val="16304C"/>
            </a:solidFill>
            <a:prstDash val="solid"/>
          </a:ln>
        </p:spPr>
      </p:sp>
      <p:sp>
        <p:nvSpPr>
          <p:cNvPr id="18" name="Shape 16"/>
          <p:cNvSpPr/>
          <p:nvPr/>
        </p:nvSpPr>
        <p:spPr>
          <a:xfrm>
            <a:off x="640080" y="3520440"/>
            <a:ext cx="64008" cy="1737360"/>
          </a:xfrm>
          <a:prstGeom prst="rect">
            <a:avLst/>
          </a:prstGeom>
          <a:solidFill>
            <a:srgbClr val="C5A059"/>
          </a:solidFill>
          <a:ln w="12700">
            <a:solidFill>
              <a:srgbClr val="C5A059"/>
            </a:solidFill>
            <a:prstDash val="solid"/>
          </a:ln>
        </p:spPr>
      </p:sp>
      <p:sp>
        <p:nvSpPr>
          <p:cNvPr id="19" name="Text 17"/>
          <p:cNvSpPr/>
          <p:nvPr/>
        </p:nvSpPr>
        <p:spPr>
          <a:xfrm>
            <a:off x="896112" y="3685032"/>
            <a:ext cx="301233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M  —  MENU</a:t>
            </a:r>
            <a:endParaRPr lang="en-US" sz="1100" dirty="0"/>
          </a:p>
        </p:txBody>
      </p:sp>
      <p:sp>
        <p:nvSpPr>
          <p:cNvPr id="20" name="Text 18"/>
          <p:cNvSpPr/>
          <p:nvPr/>
        </p:nvSpPr>
        <p:spPr>
          <a:xfrm>
            <a:off x="896112" y="4023360"/>
            <a:ext cx="3012338" cy="1051560"/>
          </a:xfrm>
          <a:prstGeom prst="rect">
            <a:avLst/>
          </a:prstGeom>
          <a:noFill/>
          <a:ln/>
        </p:spPr>
        <p:txBody>
          <a:bodyPr wrap="square" rtlCol="0" anchor="ctr"/>
          <a:lstStyle/>
          <a:p>
            <a:pPr indent="0" marL="0">
              <a:lnSpc>
                <a:spcPct val="115000"/>
              </a:lnSpc>
              <a:buNone/>
            </a:pPr>
            <a:r>
              <a:rPr lang="en-US" sz="1400" dirty="0">
                <a:solidFill>
                  <a:srgbClr val="D3E4FB"/>
                </a:solidFill>
                <a:latin typeface="Calibri" pitchFamily="34" charset="0"/>
                <a:ea typeface="Calibri" pitchFamily="34" charset="-122"/>
                <a:cs typeface="Calibri" pitchFamily="34" charset="-120"/>
              </a:rPr>
              <a:t>Alternativas disponibles, no una sola opción</a:t>
            </a:r>
            <a:endParaRPr lang="en-US" sz="1400" dirty="0"/>
          </a:p>
        </p:txBody>
      </p:sp>
      <p:sp>
        <p:nvSpPr>
          <p:cNvPr id="21" name="Shape 19"/>
          <p:cNvSpPr/>
          <p:nvPr/>
        </p:nvSpPr>
        <p:spPr>
          <a:xfrm>
            <a:off x="4383938" y="3520440"/>
            <a:ext cx="3423818" cy="1737360"/>
          </a:xfrm>
          <a:prstGeom prst="rect">
            <a:avLst/>
          </a:prstGeom>
          <a:solidFill>
            <a:srgbClr val="16304C"/>
          </a:solidFill>
          <a:ln w="12700">
            <a:solidFill>
              <a:srgbClr val="16304C"/>
            </a:solidFill>
            <a:prstDash val="solid"/>
          </a:ln>
        </p:spPr>
      </p:sp>
      <p:sp>
        <p:nvSpPr>
          <p:cNvPr id="22" name="Shape 20"/>
          <p:cNvSpPr/>
          <p:nvPr/>
        </p:nvSpPr>
        <p:spPr>
          <a:xfrm>
            <a:off x="4383938" y="3520440"/>
            <a:ext cx="64008" cy="1737360"/>
          </a:xfrm>
          <a:prstGeom prst="rect">
            <a:avLst/>
          </a:prstGeom>
          <a:solidFill>
            <a:srgbClr val="C5A059"/>
          </a:solidFill>
          <a:ln w="12700">
            <a:solidFill>
              <a:srgbClr val="C5A059"/>
            </a:solidFill>
            <a:prstDash val="solid"/>
          </a:ln>
        </p:spPr>
      </p:sp>
      <p:sp>
        <p:nvSpPr>
          <p:cNvPr id="23" name="Text 21"/>
          <p:cNvSpPr/>
          <p:nvPr/>
        </p:nvSpPr>
        <p:spPr>
          <a:xfrm>
            <a:off x="4639970" y="3685032"/>
            <a:ext cx="301233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E  —  EMPATHY</a:t>
            </a:r>
            <a:endParaRPr lang="en-US" sz="1100" dirty="0"/>
          </a:p>
        </p:txBody>
      </p:sp>
      <p:sp>
        <p:nvSpPr>
          <p:cNvPr id="24" name="Text 22"/>
          <p:cNvSpPr/>
          <p:nvPr/>
        </p:nvSpPr>
        <p:spPr>
          <a:xfrm>
            <a:off x="4639970" y="4023360"/>
            <a:ext cx="3012338" cy="1051560"/>
          </a:xfrm>
          <a:prstGeom prst="rect">
            <a:avLst/>
          </a:prstGeom>
          <a:noFill/>
          <a:ln/>
        </p:spPr>
        <p:txBody>
          <a:bodyPr wrap="square" rtlCol="0" anchor="ctr"/>
          <a:lstStyle/>
          <a:p>
            <a:pPr indent="0" marL="0">
              <a:lnSpc>
                <a:spcPct val="115000"/>
              </a:lnSpc>
              <a:buNone/>
            </a:pPr>
            <a:r>
              <a:rPr lang="en-US" sz="1400" dirty="0">
                <a:solidFill>
                  <a:srgbClr val="D3E4FB"/>
                </a:solidFill>
                <a:latin typeface="Calibri" pitchFamily="34" charset="0"/>
                <a:ea typeface="Calibri" pitchFamily="34" charset="-122"/>
                <a:cs typeface="Calibri" pitchFamily="34" charset="-120"/>
              </a:rPr>
              <a:t>Estilo empático: el que más predice el resultado</a:t>
            </a:r>
            <a:endParaRPr lang="en-US" sz="1400" dirty="0"/>
          </a:p>
        </p:txBody>
      </p:sp>
      <p:sp>
        <p:nvSpPr>
          <p:cNvPr id="25" name="Shape 23"/>
          <p:cNvSpPr/>
          <p:nvPr/>
        </p:nvSpPr>
        <p:spPr>
          <a:xfrm>
            <a:off x="8127797" y="3520440"/>
            <a:ext cx="3423818" cy="1737360"/>
          </a:xfrm>
          <a:prstGeom prst="rect">
            <a:avLst/>
          </a:prstGeom>
          <a:solidFill>
            <a:srgbClr val="16304C"/>
          </a:solidFill>
          <a:ln w="12700">
            <a:solidFill>
              <a:srgbClr val="16304C"/>
            </a:solidFill>
            <a:prstDash val="solid"/>
          </a:ln>
        </p:spPr>
      </p:sp>
      <p:sp>
        <p:nvSpPr>
          <p:cNvPr id="26" name="Shape 24"/>
          <p:cNvSpPr/>
          <p:nvPr/>
        </p:nvSpPr>
        <p:spPr>
          <a:xfrm>
            <a:off x="8127797" y="3520440"/>
            <a:ext cx="64008" cy="1737360"/>
          </a:xfrm>
          <a:prstGeom prst="rect">
            <a:avLst/>
          </a:prstGeom>
          <a:solidFill>
            <a:srgbClr val="C5A059"/>
          </a:solidFill>
          <a:ln w="12700">
            <a:solidFill>
              <a:srgbClr val="C5A059"/>
            </a:solidFill>
            <a:prstDash val="solid"/>
          </a:ln>
        </p:spPr>
      </p:sp>
      <p:sp>
        <p:nvSpPr>
          <p:cNvPr id="27" name="Text 25"/>
          <p:cNvSpPr/>
          <p:nvPr/>
        </p:nvSpPr>
        <p:spPr>
          <a:xfrm>
            <a:off x="8383829" y="3685032"/>
            <a:ext cx="301233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S  —  SELF-EFFICACY</a:t>
            </a:r>
            <a:endParaRPr lang="en-US" sz="1100" dirty="0"/>
          </a:p>
        </p:txBody>
      </p:sp>
      <p:sp>
        <p:nvSpPr>
          <p:cNvPr id="28" name="Text 26"/>
          <p:cNvSpPr/>
          <p:nvPr/>
        </p:nvSpPr>
        <p:spPr>
          <a:xfrm>
            <a:off x="8383829" y="4023360"/>
            <a:ext cx="3012338" cy="1051560"/>
          </a:xfrm>
          <a:prstGeom prst="rect">
            <a:avLst/>
          </a:prstGeom>
          <a:noFill/>
          <a:ln/>
        </p:spPr>
        <p:txBody>
          <a:bodyPr wrap="square" rtlCol="0" anchor="ctr"/>
          <a:lstStyle/>
          <a:p>
            <a:pPr indent="0" marL="0">
              <a:lnSpc>
                <a:spcPct val="115000"/>
              </a:lnSpc>
              <a:buNone/>
            </a:pPr>
            <a:r>
              <a:rPr lang="en-US" sz="1400" dirty="0">
                <a:solidFill>
                  <a:srgbClr val="D3E4FB"/>
                </a:solidFill>
                <a:latin typeface="Calibri" pitchFamily="34" charset="0"/>
                <a:ea typeface="Calibri" pitchFamily="34" charset="-122"/>
                <a:cs typeface="Calibri" pitchFamily="34" charset="-120"/>
              </a:rPr>
              <a:t>Creencia de que el cambio es posible</a:t>
            </a:r>
            <a:endParaRPr lang="en-US" sz="1400" dirty="0"/>
          </a:p>
        </p:txBody>
      </p:sp>
      <p:sp>
        <p:nvSpPr>
          <p:cNvPr id="29" name="Shape 27"/>
          <p:cNvSpPr/>
          <p:nvPr/>
        </p:nvSpPr>
        <p:spPr>
          <a:xfrm>
            <a:off x="640080" y="5989320"/>
            <a:ext cx="10911535" cy="20117"/>
          </a:xfrm>
          <a:prstGeom prst="rect">
            <a:avLst/>
          </a:prstGeom>
          <a:solidFill>
            <a:srgbClr val="C5A059"/>
          </a:solidFill>
          <a:ln w="12700">
            <a:solidFill>
              <a:srgbClr val="C5A059"/>
            </a:solidFill>
            <a:prstDash val="solid"/>
          </a:ln>
        </p:spPr>
      </p:sp>
      <p:sp>
        <p:nvSpPr>
          <p:cNvPr id="30" name="Text 28"/>
          <p:cNvSpPr/>
          <p:nvPr/>
        </p:nvSpPr>
        <p:spPr>
          <a:xfrm>
            <a:off x="640080" y="6053328"/>
            <a:ext cx="10911535" cy="640080"/>
          </a:xfrm>
          <a:prstGeom prst="rect">
            <a:avLst/>
          </a:prstGeom>
          <a:noFill/>
          <a:ln/>
        </p:spPr>
        <p:txBody>
          <a:bodyPr wrap="square" rtlCol="0" anchor="ctr"/>
          <a:lstStyle/>
          <a:p>
            <a:pPr indent="0" marL="0">
              <a:buNone/>
            </a:pPr>
            <a:r>
              <a:rPr lang="en-US" sz="900" i="1" dirty="0">
                <a:solidFill>
                  <a:srgbClr val="7C90AC"/>
                </a:solidFill>
                <a:latin typeface="Calibri" pitchFamily="34" charset="0"/>
                <a:ea typeface="Calibri" pitchFamily="34" charset="-122"/>
                <a:cs typeface="Calibri" pitchFamily="34" charset="-120"/>
              </a:rPr>
              <a:t>Hodgins, D. C., Currie, S. R., &amp; el-Guebaly, N. (2001). Journal of Consulting and Clinical Psychology, 69(1), 50-57.  ·  Miller &amp; Rollnick (1999), cap. 3 “La intervención breve”.</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BLOQUE 6 — EVIDENCIA</a:t>
            </a:r>
            <a:endParaRPr lang="en-US" sz="1100" dirty="0"/>
          </a:p>
        </p:txBody>
      </p:sp>
      <p:sp>
        <p:nvSpPr>
          <p:cNvPr id="3" name="Text 1"/>
          <p:cNvSpPr/>
          <p:nvPr/>
        </p:nvSpPr>
        <p:spPr>
          <a:xfrm>
            <a:off x="640080" y="621792"/>
            <a:ext cx="10911535" cy="658368"/>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Efectividad de la EM en juego patológico</a:t>
            </a:r>
            <a:endParaRPr lang="en-US" sz="2800" dirty="0"/>
          </a:p>
        </p:txBody>
      </p:sp>
      <p:sp>
        <p:nvSpPr>
          <p:cNvPr id="4" name="Shape 2"/>
          <p:cNvSpPr/>
          <p:nvPr/>
        </p:nvSpPr>
        <p:spPr>
          <a:xfrm>
            <a:off x="640080" y="1298448"/>
            <a:ext cx="1645920" cy="20117"/>
          </a:xfrm>
          <a:prstGeom prst="rect">
            <a:avLst/>
          </a:prstGeom>
          <a:solidFill>
            <a:srgbClr val="C5A059"/>
          </a:solidFill>
          <a:ln w="12700">
            <a:solidFill>
              <a:srgbClr val="C5A059"/>
            </a:solidFill>
            <a:prstDash val="solid"/>
          </a:ln>
        </p:spPr>
      </p:sp>
      <p:sp>
        <p:nvSpPr>
          <p:cNvPr id="5" name="Text 3"/>
          <p:cNvSpPr/>
          <p:nvPr/>
        </p:nvSpPr>
        <p:spPr>
          <a:xfrm>
            <a:off x="640080" y="1554480"/>
            <a:ext cx="3840480" cy="822960"/>
          </a:xfrm>
          <a:prstGeom prst="rect">
            <a:avLst/>
          </a:prstGeom>
          <a:noFill/>
          <a:ln/>
        </p:spPr>
        <p:txBody>
          <a:bodyPr wrap="square" rtlCol="0" anchor="ctr"/>
          <a:lstStyle/>
          <a:p>
            <a:pPr indent="0" marL="0">
              <a:buNone/>
            </a:pPr>
            <a:r>
              <a:rPr lang="en-US" sz="1400" b="1" dirty="0">
                <a:solidFill>
                  <a:srgbClr val="C5A059"/>
                </a:solidFill>
                <a:latin typeface="Georgia" pitchFamily="34" charset="0"/>
                <a:ea typeface="Georgia" pitchFamily="34" charset="-122"/>
                <a:cs typeface="Georgia" pitchFamily="34" charset="-120"/>
              </a:rPr>
              <a:t>Yakovenko et al., 2015</a:t>
            </a:r>
            <a:endParaRPr lang="en-US" sz="1400" dirty="0"/>
          </a:p>
        </p:txBody>
      </p:sp>
      <p:sp>
        <p:nvSpPr>
          <p:cNvPr id="6" name="Text 4"/>
          <p:cNvSpPr/>
          <p:nvPr/>
        </p:nvSpPr>
        <p:spPr>
          <a:xfrm>
            <a:off x="4617720" y="1554480"/>
            <a:ext cx="6933895" cy="822960"/>
          </a:xfrm>
          <a:prstGeom prst="rect">
            <a:avLst/>
          </a:prstGeom>
          <a:noFill/>
          <a:ln/>
        </p:spPr>
        <p:txBody>
          <a:bodyPr wrap="square" rtlCol="0" anchor="ctr"/>
          <a:lstStyle/>
          <a:p>
            <a:pPr indent="0" marL="0">
              <a:buNone/>
            </a:pPr>
            <a:r>
              <a:rPr lang="en-US" sz="1400" dirty="0">
                <a:solidFill>
                  <a:srgbClr val="D3E4FB"/>
                </a:solidFill>
                <a:latin typeface="Calibri" pitchFamily="34" charset="0"/>
                <a:ea typeface="Calibri" pitchFamily="34" charset="-122"/>
                <a:cs typeface="Calibri" pitchFamily="34" charset="-120"/>
              </a:rPr>
              <a:t>Meta-análisis (n=730): reducción significativa de frecuencia de juego hasta 12 meses.</a:t>
            </a:r>
            <a:endParaRPr lang="en-US" sz="1400" dirty="0"/>
          </a:p>
        </p:txBody>
      </p:sp>
      <p:sp>
        <p:nvSpPr>
          <p:cNvPr id="7" name="Text 5"/>
          <p:cNvSpPr/>
          <p:nvPr/>
        </p:nvSpPr>
        <p:spPr>
          <a:xfrm>
            <a:off x="640080" y="2514600"/>
            <a:ext cx="3840480" cy="822960"/>
          </a:xfrm>
          <a:prstGeom prst="rect">
            <a:avLst/>
          </a:prstGeom>
          <a:noFill/>
          <a:ln/>
        </p:spPr>
        <p:txBody>
          <a:bodyPr wrap="square" rtlCol="0" anchor="ctr"/>
          <a:lstStyle/>
          <a:p>
            <a:pPr indent="0" marL="0">
              <a:buNone/>
            </a:pPr>
            <a:r>
              <a:rPr lang="en-US" sz="1400" b="1" dirty="0">
                <a:solidFill>
                  <a:srgbClr val="C5A059"/>
                </a:solidFill>
                <a:latin typeface="Georgia" pitchFamily="34" charset="0"/>
                <a:ea typeface="Georgia" pitchFamily="34" charset="-122"/>
                <a:cs typeface="Georgia" pitchFamily="34" charset="-120"/>
              </a:rPr>
              <a:t>García-Caballero et al., 2018</a:t>
            </a:r>
            <a:endParaRPr lang="en-US" sz="1400" dirty="0"/>
          </a:p>
        </p:txBody>
      </p:sp>
      <p:sp>
        <p:nvSpPr>
          <p:cNvPr id="8" name="Text 6"/>
          <p:cNvSpPr/>
          <p:nvPr/>
        </p:nvSpPr>
        <p:spPr>
          <a:xfrm>
            <a:off x="4617720" y="2514600"/>
            <a:ext cx="6933895" cy="822960"/>
          </a:xfrm>
          <a:prstGeom prst="rect">
            <a:avLst/>
          </a:prstGeom>
          <a:noFill/>
          <a:ln/>
        </p:spPr>
        <p:txBody>
          <a:bodyPr wrap="square" rtlCol="0" anchor="ctr"/>
          <a:lstStyle/>
          <a:p>
            <a:pPr indent="0" marL="0">
              <a:buNone/>
            </a:pPr>
            <a:r>
              <a:rPr lang="en-US" sz="1400" dirty="0">
                <a:solidFill>
                  <a:srgbClr val="D3E4FB"/>
                </a:solidFill>
                <a:latin typeface="Calibri" pitchFamily="34" charset="0"/>
                <a:ea typeface="Calibri" pitchFamily="34" charset="-122"/>
                <a:cs typeface="Calibri" pitchFamily="34" charset="-120"/>
              </a:rPr>
              <a:t>EM+TCC: reducción significativa (p&lt;.000) en problemas de juego, impulsividad y calidad de vida.</a:t>
            </a:r>
            <a:endParaRPr lang="en-US" sz="1400" dirty="0"/>
          </a:p>
        </p:txBody>
      </p:sp>
      <p:sp>
        <p:nvSpPr>
          <p:cNvPr id="9" name="Text 7"/>
          <p:cNvSpPr/>
          <p:nvPr/>
        </p:nvSpPr>
        <p:spPr>
          <a:xfrm>
            <a:off x="640080" y="3474720"/>
            <a:ext cx="3840480" cy="822960"/>
          </a:xfrm>
          <a:prstGeom prst="rect">
            <a:avLst/>
          </a:prstGeom>
          <a:noFill/>
          <a:ln/>
        </p:spPr>
        <p:txBody>
          <a:bodyPr wrap="square" rtlCol="0" anchor="ctr"/>
          <a:lstStyle/>
          <a:p>
            <a:pPr indent="0" marL="0">
              <a:buNone/>
            </a:pPr>
            <a:r>
              <a:rPr lang="en-US" sz="1400" b="1" dirty="0">
                <a:solidFill>
                  <a:srgbClr val="C5A059"/>
                </a:solidFill>
                <a:latin typeface="Georgia" pitchFamily="34" charset="0"/>
                <a:ea typeface="Georgia" pitchFamily="34" charset="-122"/>
                <a:cs typeface="Georgia" pitchFamily="34" charset="-120"/>
              </a:rPr>
              <a:t>Josephson et al., 2016</a:t>
            </a:r>
            <a:endParaRPr lang="en-US" sz="1400" dirty="0"/>
          </a:p>
        </p:txBody>
      </p:sp>
      <p:sp>
        <p:nvSpPr>
          <p:cNvPr id="10" name="Text 8"/>
          <p:cNvSpPr/>
          <p:nvPr/>
        </p:nvSpPr>
        <p:spPr>
          <a:xfrm>
            <a:off x="4617720" y="3474720"/>
            <a:ext cx="6933895" cy="822960"/>
          </a:xfrm>
          <a:prstGeom prst="rect">
            <a:avLst/>
          </a:prstGeom>
          <a:noFill/>
          <a:ln/>
        </p:spPr>
        <p:txBody>
          <a:bodyPr wrap="square" rtlCol="0" anchor="ctr"/>
          <a:lstStyle/>
          <a:p>
            <a:pPr indent="0" marL="0">
              <a:buNone/>
            </a:pPr>
            <a:r>
              <a:rPr lang="en-US" sz="1400" dirty="0">
                <a:solidFill>
                  <a:srgbClr val="D3E4FB"/>
                </a:solidFill>
                <a:latin typeface="Calibri" pitchFamily="34" charset="0"/>
                <a:ea typeface="Calibri" pitchFamily="34" charset="-122"/>
                <a:cs typeface="Calibri" pitchFamily="34" charset="-120"/>
              </a:rPr>
              <a:t>Juego + alcohol riesgoso: se benefician más de EM que de TCC grupal.</a:t>
            </a:r>
            <a:endParaRPr lang="en-US" sz="1400" dirty="0"/>
          </a:p>
        </p:txBody>
      </p:sp>
      <p:sp>
        <p:nvSpPr>
          <p:cNvPr id="11" name="Text 9"/>
          <p:cNvSpPr/>
          <p:nvPr/>
        </p:nvSpPr>
        <p:spPr>
          <a:xfrm>
            <a:off x="640080" y="4434840"/>
            <a:ext cx="3840480" cy="822960"/>
          </a:xfrm>
          <a:prstGeom prst="rect">
            <a:avLst/>
          </a:prstGeom>
          <a:noFill/>
          <a:ln/>
        </p:spPr>
        <p:txBody>
          <a:bodyPr wrap="square" rtlCol="0" anchor="ctr"/>
          <a:lstStyle/>
          <a:p>
            <a:pPr indent="0" marL="0">
              <a:buNone/>
            </a:pPr>
            <a:r>
              <a:rPr lang="en-US" sz="1400" b="1" dirty="0">
                <a:solidFill>
                  <a:srgbClr val="C5A059"/>
                </a:solidFill>
                <a:latin typeface="Georgia" pitchFamily="34" charset="0"/>
                <a:ea typeface="Georgia" pitchFamily="34" charset="-122"/>
                <a:cs typeface="Georgia" pitchFamily="34" charset="-120"/>
              </a:rPr>
              <a:t>Forman &amp; Boughter, 2024</a:t>
            </a:r>
            <a:endParaRPr lang="en-US" sz="1400" dirty="0"/>
          </a:p>
        </p:txBody>
      </p:sp>
      <p:sp>
        <p:nvSpPr>
          <p:cNvPr id="12" name="Text 10"/>
          <p:cNvSpPr/>
          <p:nvPr/>
        </p:nvSpPr>
        <p:spPr>
          <a:xfrm>
            <a:off x="4617720" y="4434840"/>
            <a:ext cx="6933895" cy="822960"/>
          </a:xfrm>
          <a:prstGeom prst="rect">
            <a:avLst/>
          </a:prstGeom>
          <a:noFill/>
          <a:ln/>
        </p:spPr>
        <p:txBody>
          <a:bodyPr wrap="square" rtlCol="0" anchor="ctr"/>
          <a:lstStyle/>
          <a:p>
            <a:pPr indent="0" marL="0">
              <a:buNone/>
            </a:pPr>
            <a:r>
              <a:rPr lang="en-US" sz="1400" dirty="0">
                <a:solidFill>
                  <a:srgbClr val="D3E4FB"/>
                </a:solidFill>
                <a:latin typeface="Calibri" pitchFamily="34" charset="0"/>
                <a:ea typeface="Calibri" pitchFamily="34" charset="-122"/>
                <a:cs typeface="Calibri" pitchFamily="34" charset="-120"/>
              </a:rPr>
              <a:t>EM+TCC superior a TCC sola. EM sola útil en etapas tempranas y casos leves/moderados. Lectura cauta: no sobreestimar.</a:t>
            </a:r>
            <a:endParaRPr lang="en-US" sz="1400" dirty="0"/>
          </a:p>
        </p:txBody>
      </p:sp>
      <p:sp>
        <p:nvSpPr>
          <p:cNvPr id="13" name="Shape 11"/>
          <p:cNvSpPr/>
          <p:nvPr/>
        </p:nvSpPr>
        <p:spPr>
          <a:xfrm>
            <a:off x="640080" y="5989320"/>
            <a:ext cx="10911535" cy="20117"/>
          </a:xfrm>
          <a:prstGeom prst="rect">
            <a:avLst/>
          </a:prstGeom>
          <a:solidFill>
            <a:srgbClr val="C5A059"/>
          </a:solidFill>
          <a:ln w="12700">
            <a:solidFill>
              <a:srgbClr val="C5A059"/>
            </a:solidFill>
            <a:prstDash val="solid"/>
          </a:ln>
        </p:spPr>
      </p:sp>
      <p:sp>
        <p:nvSpPr>
          <p:cNvPr id="14" name="Text 12"/>
          <p:cNvSpPr/>
          <p:nvPr/>
        </p:nvSpPr>
        <p:spPr>
          <a:xfrm>
            <a:off x="640080" y="6053328"/>
            <a:ext cx="10911535" cy="640080"/>
          </a:xfrm>
          <a:prstGeom prst="rect">
            <a:avLst/>
          </a:prstGeom>
          <a:noFill/>
          <a:ln/>
        </p:spPr>
        <p:txBody>
          <a:bodyPr wrap="square" rtlCol="0" anchor="ctr"/>
          <a:lstStyle/>
          <a:p>
            <a:pPr indent="0" marL="0">
              <a:buNone/>
            </a:pPr>
            <a:r>
              <a:rPr lang="en-US" sz="900" i="1" dirty="0">
                <a:solidFill>
                  <a:srgbClr val="7C90AC"/>
                </a:solidFill>
                <a:latin typeface="Calibri" pitchFamily="34" charset="0"/>
                <a:ea typeface="Calibri" pitchFamily="34" charset="-122"/>
                <a:cs typeface="Calibri" pitchFamily="34" charset="-120"/>
              </a:rPr>
              <a:t>Yakovenko et al. (2015). Addictive Behaviors, 43, 72-82.  ·  García-Caballero et al. (2018). Adicciones, 30(3), 219-224.  ·  Josephson et al. (2016). PeerJ, e1899.  ·  Forman &amp; Boughter (2024).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BLOQUE 6 — POR ROL</a:t>
            </a:r>
            <a:endParaRPr lang="en-US" sz="1100" dirty="0"/>
          </a:p>
        </p:txBody>
      </p:sp>
      <p:sp>
        <p:nvSpPr>
          <p:cNvPr id="3" name="Text 1"/>
          <p:cNvSpPr/>
          <p:nvPr/>
        </p:nvSpPr>
        <p:spPr>
          <a:xfrm>
            <a:off x="640080" y="621792"/>
            <a:ext cx="10911535" cy="658368"/>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Qué le corresponde a cada uno</a:t>
            </a:r>
            <a:endParaRPr lang="en-US" sz="2800" dirty="0"/>
          </a:p>
        </p:txBody>
      </p:sp>
      <p:sp>
        <p:nvSpPr>
          <p:cNvPr id="4" name="Shape 2"/>
          <p:cNvSpPr/>
          <p:nvPr/>
        </p:nvSpPr>
        <p:spPr>
          <a:xfrm>
            <a:off x="640080" y="1298448"/>
            <a:ext cx="1645920" cy="20117"/>
          </a:xfrm>
          <a:prstGeom prst="rect">
            <a:avLst/>
          </a:prstGeom>
          <a:solidFill>
            <a:srgbClr val="C5A059"/>
          </a:solidFill>
          <a:ln w="12700">
            <a:solidFill>
              <a:srgbClr val="C5A059"/>
            </a:solidFill>
            <a:prstDash val="solid"/>
          </a:ln>
        </p:spPr>
      </p:sp>
      <p:sp>
        <p:nvSpPr>
          <p:cNvPr id="5" name="Shape 3"/>
          <p:cNvSpPr/>
          <p:nvPr/>
        </p:nvSpPr>
        <p:spPr>
          <a:xfrm>
            <a:off x="640080" y="1600200"/>
            <a:ext cx="5272888" cy="3474720"/>
          </a:xfrm>
          <a:prstGeom prst="rect">
            <a:avLst/>
          </a:prstGeom>
          <a:solidFill>
            <a:srgbClr val="16304C"/>
          </a:solidFill>
          <a:ln w="12700">
            <a:solidFill>
              <a:srgbClr val="16304C"/>
            </a:solidFill>
            <a:prstDash val="solid"/>
          </a:ln>
        </p:spPr>
      </p:sp>
      <p:sp>
        <p:nvSpPr>
          <p:cNvPr id="6" name="Shape 4"/>
          <p:cNvSpPr/>
          <p:nvPr/>
        </p:nvSpPr>
        <p:spPr>
          <a:xfrm>
            <a:off x="640080" y="1600200"/>
            <a:ext cx="64008" cy="3474720"/>
          </a:xfrm>
          <a:prstGeom prst="rect">
            <a:avLst/>
          </a:prstGeom>
          <a:solidFill>
            <a:srgbClr val="C5A059"/>
          </a:solidFill>
          <a:ln w="12700">
            <a:solidFill>
              <a:srgbClr val="C5A059"/>
            </a:solidFill>
            <a:prstDash val="solid"/>
          </a:ln>
        </p:spPr>
      </p:sp>
      <p:sp>
        <p:nvSpPr>
          <p:cNvPr id="7" name="Text 5"/>
          <p:cNvSpPr/>
          <p:nvPr/>
        </p:nvSpPr>
        <p:spPr>
          <a:xfrm>
            <a:off x="896112" y="1764792"/>
            <a:ext cx="486140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EL DOCENTE</a:t>
            </a:r>
            <a:endParaRPr lang="en-US" sz="1100" dirty="0"/>
          </a:p>
        </p:txBody>
      </p:sp>
      <p:sp>
        <p:nvSpPr>
          <p:cNvPr id="8" name="Text 6"/>
          <p:cNvSpPr/>
          <p:nvPr/>
        </p:nvSpPr>
        <p:spPr>
          <a:xfrm>
            <a:off x="896112" y="2103120"/>
            <a:ext cx="4861408" cy="2788920"/>
          </a:xfrm>
          <a:prstGeom prst="rect">
            <a:avLst/>
          </a:prstGeom>
          <a:noFill/>
          <a:ln/>
        </p:spPr>
        <p:txBody>
          <a:bodyPr wrap="square" rtlCol="0" anchor="ctr"/>
          <a:lstStyle/>
          <a:p>
            <a:pPr marL="127000" indent="-127000">
              <a:buSzPct val="100000"/>
              <a:buChar char="•"/>
            </a:pPr>
            <a:r>
              <a:rPr lang="en-US" sz="1400" dirty="0">
                <a:solidFill>
                  <a:srgbClr val="D3E4FB"/>
                </a:solidFill>
                <a:latin typeface="Calibri" pitchFamily="34" charset="0"/>
                <a:ea typeface="Calibri" pitchFamily="34" charset="-122"/>
                <a:cs typeface="Calibri" pitchFamily="34" charset="-120"/>
              </a:rPr>
              <a:t>No diagnostica.</a:t>
            </a:r>
            <a:endParaRPr lang="en-US" sz="1400" dirty="0"/>
          </a:p>
          <a:p>
            <a:pPr marL="127000" indent="-127000">
              <a:buSzPct val="100000"/>
              <a:buChar char="•"/>
            </a:pPr>
            <a:r>
              <a:rPr lang="en-US" sz="1400" dirty="0">
                <a:solidFill>
                  <a:srgbClr val="D3E4FB"/>
                </a:solidFill>
                <a:latin typeface="Calibri" pitchFamily="34" charset="0"/>
                <a:ea typeface="Calibri" pitchFamily="34" charset="-122"/>
                <a:cs typeface="Calibri" pitchFamily="34" charset="-120"/>
              </a:rPr>
              <a:t>Nombra lo que observa sin acusar.</a:t>
            </a:r>
            <a:endParaRPr lang="en-US" sz="1400" dirty="0"/>
          </a:p>
          <a:p>
            <a:pPr marL="127000" indent="-127000">
              <a:buSzPct val="100000"/>
              <a:buChar char="•"/>
            </a:pPr>
            <a:r>
              <a:rPr lang="en-US" sz="1400" dirty="0">
                <a:solidFill>
                  <a:srgbClr val="D3E4FB"/>
                </a:solidFill>
                <a:latin typeface="Calibri" pitchFamily="34" charset="0"/>
                <a:ea typeface="Calibri" pitchFamily="34" charset="-122"/>
                <a:cs typeface="Calibri" pitchFamily="34" charset="-120"/>
              </a:rPr>
              <a:t>Comunica a la familia con datos concretos.</a:t>
            </a:r>
            <a:endParaRPr lang="en-US" sz="1400" dirty="0"/>
          </a:p>
          <a:p>
            <a:pPr marL="127000" indent="-127000">
              <a:buSzPct val="100000"/>
              <a:buChar char="•"/>
            </a:pPr>
            <a:r>
              <a:rPr lang="en-US" sz="1400" dirty="0">
                <a:solidFill>
                  <a:srgbClr val="D3E4FB"/>
                </a:solidFill>
                <a:latin typeface="Calibri" pitchFamily="34" charset="0"/>
                <a:ea typeface="Calibri" pitchFamily="34" charset="-122"/>
                <a:cs typeface="Calibri" pitchFamily="34" charset="-120"/>
              </a:rPr>
              <a:t>Deriva al gabinete / EOE.</a:t>
            </a:r>
            <a:endParaRPr lang="en-US" sz="1400" dirty="0"/>
          </a:p>
          <a:p>
            <a:pPr marL="127000" indent="-127000">
              <a:buSzPct val="100000"/>
              <a:buChar char="•"/>
            </a:pPr>
            <a:r>
              <a:rPr lang="en-US" sz="1400" dirty="0">
                <a:solidFill>
                  <a:srgbClr val="D3E4FB"/>
                </a:solidFill>
                <a:latin typeface="Calibri" pitchFamily="34" charset="0"/>
                <a:ea typeface="Calibri" pitchFamily="34" charset="-122"/>
                <a:cs typeface="Calibri" pitchFamily="34" charset="-120"/>
              </a:rPr>
              <a:t>Registra los cambios observados.</a:t>
            </a:r>
            <a:endParaRPr lang="en-US" sz="1400" dirty="0"/>
          </a:p>
        </p:txBody>
      </p:sp>
      <p:sp>
        <p:nvSpPr>
          <p:cNvPr id="9" name="Shape 7"/>
          <p:cNvSpPr/>
          <p:nvPr/>
        </p:nvSpPr>
        <p:spPr>
          <a:xfrm>
            <a:off x="6278728" y="1600200"/>
            <a:ext cx="5272888" cy="3474720"/>
          </a:xfrm>
          <a:prstGeom prst="rect">
            <a:avLst/>
          </a:prstGeom>
          <a:solidFill>
            <a:srgbClr val="1B3855"/>
          </a:solidFill>
          <a:ln w="12700">
            <a:solidFill>
              <a:srgbClr val="1B3855"/>
            </a:solidFill>
            <a:prstDash val="solid"/>
          </a:ln>
        </p:spPr>
      </p:sp>
      <p:sp>
        <p:nvSpPr>
          <p:cNvPr id="10" name="Shape 8"/>
          <p:cNvSpPr/>
          <p:nvPr/>
        </p:nvSpPr>
        <p:spPr>
          <a:xfrm>
            <a:off x="6278728" y="1600200"/>
            <a:ext cx="64008" cy="3474720"/>
          </a:xfrm>
          <a:prstGeom prst="rect">
            <a:avLst/>
          </a:prstGeom>
          <a:solidFill>
            <a:srgbClr val="C5A059"/>
          </a:solidFill>
          <a:ln w="12700">
            <a:solidFill>
              <a:srgbClr val="C5A059"/>
            </a:solidFill>
            <a:prstDash val="solid"/>
          </a:ln>
        </p:spPr>
      </p:sp>
      <p:sp>
        <p:nvSpPr>
          <p:cNvPr id="11" name="Text 9"/>
          <p:cNvSpPr/>
          <p:nvPr/>
        </p:nvSpPr>
        <p:spPr>
          <a:xfrm>
            <a:off x="6534760" y="1764792"/>
            <a:ext cx="486140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EL PROFESIONAL DE SALUD</a:t>
            </a:r>
            <a:endParaRPr lang="en-US" sz="1100" dirty="0"/>
          </a:p>
        </p:txBody>
      </p:sp>
      <p:sp>
        <p:nvSpPr>
          <p:cNvPr id="12" name="Text 10"/>
          <p:cNvSpPr/>
          <p:nvPr/>
        </p:nvSpPr>
        <p:spPr>
          <a:xfrm>
            <a:off x="6534760" y="2103120"/>
            <a:ext cx="4861408" cy="2788920"/>
          </a:xfrm>
          <a:prstGeom prst="rect">
            <a:avLst/>
          </a:prstGeom>
          <a:noFill/>
          <a:ln/>
        </p:spPr>
        <p:txBody>
          <a:bodyPr wrap="square" rtlCol="0" anchor="ctr"/>
          <a:lstStyle/>
          <a:p>
            <a:pPr marL="127000" indent="-127000">
              <a:buSzPct val="100000"/>
              <a:buChar char="•"/>
            </a:pPr>
            <a:r>
              <a:rPr lang="en-US" sz="1400" dirty="0">
                <a:solidFill>
                  <a:srgbClr val="D3E4FB"/>
                </a:solidFill>
                <a:latin typeface="Calibri" pitchFamily="34" charset="0"/>
                <a:ea typeface="Calibri" pitchFamily="34" charset="-122"/>
                <a:cs typeface="Calibri" pitchFamily="34" charset="-120"/>
              </a:rPr>
              <a:t>Puede aplicar Lie/Bet o usar DSM-5 como guía.</a:t>
            </a:r>
            <a:endParaRPr lang="en-US" sz="1400" dirty="0"/>
          </a:p>
          <a:p>
            <a:pPr marL="127000" indent="-127000">
              <a:buSzPct val="100000"/>
              <a:buChar char="•"/>
            </a:pPr>
            <a:r>
              <a:rPr lang="en-US" sz="1400" dirty="0">
                <a:solidFill>
                  <a:srgbClr val="D3E4FB"/>
                </a:solidFill>
                <a:latin typeface="Calibri" pitchFamily="34" charset="0"/>
                <a:ea typeface="Calibri" pitchFamily="34" charset="-122"/>
                <a:cs typeface="Calibri" pitchFamily="34" charset="-120"/>
              </a:rPr>
              <a:t>Puede dar psicoeducación básica y FRAMES.</a:t>
            </a:r>
            <a:endParaRPr lang="en-US" sz="1400" dirty="0"/>
          </a:p>
          <a:p>
            <a:pPr marL="127000" indent="-127000">
              <a:buSzPct val="100000"/>
              <a:buChar char="•"/>
            </a:pPr>
            <a:r>
              <a:rPr lang="en-US" sz="1400" dirty="0">
                <a:solidFill>
                  <a:srgbClr val="D3E4FB"/>
                </a:solidFill>
                <a:latin typeface="Calibri" pitchFamily="34" charset="0"/>
                <a:ea typeface="Calibri" pitchFamily="34" charset="-122"/>
                <a:cs typeface="Calibri" pitchFamily="34" charset="-120"/>
              </a:rPr>
              <a:t>Puede derivar a tratamiento especializado.</a:t>
            </a:r>
            <a:endParaRPr lang="en-US" sz="1400" dirty="0"/>
          </a:p>
          <a:p>
            <a:pPr marL="127000" indent="-127000">
              <a:buSzPct val="100000"/>
              <a:buChar char="•"/>
            </a:pPr>
            <a:r>
              <a:rPr lang="en-US" sz="1400" dirty="0">
                <a:solidFill>
                  <a:srgbClr val="D3E4FB"/>
                </a:solidFill>
                <a:latin typeface="Calibri" pitchFamily="34" charset="0"/>
                <a:ea typeface="Calibri" pitchFamily="34" charset="-122"/>
                <a:cs typeface="Calibri" pitchFamily="34" charset="-120"/>
              </a:rPr>
              <a:t>Debe conocer los recursos de la región.</a:t>
            </a:r>
            <a:endParaRPr lang="en-US" sz="1400" dirty="0"/>
          </a:p>
        </p:txBody>
      </p:sp>
      <p:sp>
        <p:nvSpPr>
          <p:cNvPr id="13" name="Shape 11"/>
          <p:cNvSpPr/>
          <p:nvPr/>
        </p:nvSpPr>
        <p:spPr>
          <a:xfrm>
            <a:off x="640080" y="5989320"/>
            <a:ext cx="10911535" cy="20117"/>
          </a:xfrm>
          <a:prstGeom prst="rect">
            <a:avLst/>
          </a:prstGeom>
          <a:solidFill>
            <a:srgbClr val="C5A059"/>
          </a:solidFill>
          <a:ln w="12700">
            <a:solidFill>
              <a:srgbClr val="C5A059"/>
            </a:solidFill>
            <a:prstDash val="solid"/>
          </a:ln>
        </p:spPr>
      </p:sp>
      <p:sp>
        <p:nvSpPr>
          <p:cNvPr id="14" name="Text 12"/>
          <p:cNvSpPr/>
          <p:nvPr/>
        </p:nvSpPr>
        <p:spPr>
          <a:xfrm>
            <a:off x="640080" y="6053328"/>
            <a:ext cx="10911535" cy="640080"/>
          </a:xfrm>
          <a:prstGeom prst="rect">
            <a:avLst/>
          </a:prstGeom>
          <a:noFill/>
          <a:ln/>
        </p:spPr>
        <p:txBody>
          <a:bodyPr wrap="square" rtlCol="0" anchor="ctr"/>
          <a:lstStyle/>
          <a:p>
            <a:pPr indent="0" marL="0">
              <a:buNone/>
            </a:pPr>
            <a:r>
              <a:rPr lang="en-US" sz="900" i="1" dirty="0">
                <a:solidFill>
                  <a:srgbClr val="7C90AC"/>
                </a:solidFill>
                <a:latin typeface="Calibri" pitchFamily="34" charset="0"/>
                <a:ea typeface="Calibri" pitchFamily="34" charset="-122"/>
                <a:cs typeface="Calibri" pitchFamily="34" charset="-120"/>
              </a:rPr>
              <a:t>Miller &amp; Rollnick (1999).  ·  Johnson et al. (1997).  ·  Hodgins et al. (2001).</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BLOQUE 6 — RED DE DERIVACIÓN</a:t>
            </a:r>
            <a:endParaRPr lang="en-US" sz="1100" dirty="0"/>
          </a:p>
        </p:txBody>
      </p:sp>
      <p:sp>
        <p:nvSpPr>
          <p:cNvPr id="3" name="Text 1"/>
          <p:cNvSpPr/>
          <p:nvPr/>
        </p:nvSpPr>
        <p:spPr>
          <a:xfrm>
            <a:off x="640080" y="621792"/>
            <a:ext cx="10911535" cy="658368"/>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Balcarce / Mar del Plata</a:t>
            </a:r>
            <a:endParaRPr lang="en-US" sz="2800" dirty="0"/>
          </a:p>
        </p:txBody>
      </p:sp>
      <p:sp>
        <p:nvSpPr>
          <p:cNvPr id="4" name="Shape 2"/>
          <p:cNvSpPr/>
          <p:nvPr/>
        </p:nvSpPr>
        <p:spPr>
          <a:xfrm>
            <a:off x="640080" y="1298448"/>
            <a:ext cx="1645920" cy="20117"/>
          </a:xfrm>
          <a:prstGeom prst="rect">
            <a:avLst/>
          </a:prstGeom>
          <a:solidFill>
            <a:srgbClr val="C5A059"/>
          </a:solidFill>
          <a:ln w="12700">
            <a:solidFill>
              <a:srgbClr val="C5A059"/>
            </a:solidFill>
            <a:prstDash val="solid"/>
          </a:ln>
        </p:spPr>
      </p:sp>
      <p:sp>
        <p:nvSpPr>
          <p:cNvPr id="5" name="Text 3"/>
          <p:cNvSpPr/>
          <p:nvPr/>
        </p:nvSpPr>
        <p:spPr>
          <a:xfrm>
            <a:off x="640080" y="1508760"/>
            <a:ext cx="3931920" cy="548640"/>
          </a:xfrm>
          <a:prstGeom prst="rect">
            <a:avLst/>
          </a:prstGeom>
          <a:noFill/>
          <a:ln/>
        </p:spPr>
        <p:txBody>
          <a:bodyPr wrap="square" rtlCol="0" anchor="ctr"/>
          <a:lstStyle/>
          <a:p>
            <a:pPr indent="0" marL="0">
              <a:buNone/>
            </a:pPr>
            <a:r>
              <a:rPr lang="en-US" sz="1400" b="1" dirty="0">
                <a:solidFill>
                  <a:srgbClr val="C5A059"/>
                </a:solidFill>
                <a:latin typeface="Georgia" pitchFamily="34" charset="0"/>
                <a:ea typeface="Georgia" pitchFamily="34" charset="-122"/>
                <a:cs typeface="Georgia" pitchFamily="34" charset="-120"/>
              </a:rPr>
              <a:t>Línea 141 — SEDRONAR</a:t>
            </a:r>
            <a:endParaRPr lang="en-US" sz="1400" dirty="0"/>
          </a:p>
        </p:txBody>
      </p:sp>
      <p:sp>
        <p:nvSpPr>
          <p:cNvPr id="6" name="Text 4"/>
          <p:cNvSpPr/>
          <p:nvPr/>
        </p:nvSpPr>
        <p:spPr>
          <a:xfrm>
            <a:off x="4663440" y="1508760"/>
            <a:ext cx="6888175" cy="548640"/>
          </a:xfrm>
          <a:prstGeom prst="rect">
            <a:avLst/>
          </a:prstGeom>
          <a:noFill/>
          <a:ln/>
        </p:spPr>
        <p:txBody>
          <a:bodyPr wrap="square" rtlCol="0" anchor="ctr"/>
          <a:lstStyle/>
          <a:p>
            <a:pPr indent="0" marL="0">
              <a:buNone/>
            </a:pPr>
            <a:r>
              <a:rPr lang="en-US" sz="1350" dirty="0">
                <a:solidFill>
                  <a:srgbClr val="D3E4FB"/>
                </a:solidFill>
                <a:latin typeface="Calibri" pitchFamily="34" charset="0"/>
                <a:ea typeface="Calibri" pitchFamily="34" charset="-122"/>
                <a:cs typeface="Calibri" pitchFamily="34" charset="-120"/>
              </a:rPr>
              <a:t>Gratuita · confidencial · 24 hs · todo el país</a:t>
            </a:r>
            <a:endParaRPr lang="en-US" sz="1350" dirty="0"/>
          </a:p>
        </p:txBody>
      </p:sp>
      <p:sp>
        <p:nvSpPr>
          <p:cNvPr id="7" name="Text 5"/>
          <p:cNvSpPr/>
          <p:nvPr/>
        </p:nvSpPr>
        <p:spPr>
          <a:xfrm>
            <a:off x="640080" y="2167128"/>
            <a:ext cx="3931920" cy="548640"/>
          </a:xfrm>
          <a:prstGeom prst="rect">
            <a:avLst/>
          </a:prstGeom>
          <a:noFill/>
          <a:ln/>
        </p:spPr>
        <p:txBody>
          <a:bodyPr wrap="square" rtlCol="0" anchor="ctr"/>
          <a:lstStyle/>
          <a:p>
            <a:pPr indent="0" marL="0">
              <a:buNone/>
            </a:pPr>
            <a:r>
              <a:rPr lang="en-US" sz="1400" b="1" dirty="0">
                <a:solidFill>
                  <a:srgbClr val="C5A059"/>
                </a:solidFill>
                <a:latin typeface="Georgia" pitchFamily="34" charset="0"/>
                <a:ea typeface="Georgia" pitchFamily="34" charset="-122"/>
                <a:cs typeface="Georgia" pitchFamily="34" charset="-120"/>
              </a:rPr>
              <a:t>Programa CASS — MdP</a:t>
            </a:r>
            <a:endParaRPr lang="en-US" sz="1400" dirty="0"/>
          </a:p>
        </p:txBody>
      </p:sp>
      <p:sp>
        <p:nvSpPr>
          <p:cNvPr id="8" name="Text 6"/>
          <p:cNvSpPr/>
          <p:nvPr/>
        </p:nvSpPr>
        <p:spPr>
          <a:xfrm>
            <a:off x="4663440" y="2167128"/>
            <a:ext cx="6888175" cy="548640"/>
          </a:xfrm>
          <a:prstGeom prst="rect">
            <a:avLst/>
          </a:prstGeom>
          <a:noFill/>
          <a:ln/>
        </p:spPr>
        <p:txBody>
          <a:bodyPr wrap="square" rtlCol="0" anchor="ctr"/>
          <a:lstStyle/>
          <a:p>
            <a:pPr indent="0" marL="0">
              <a:buNone/>
            </a:pPr>
            <a:r>
              <a:rPr lang="en-US" sz="1350" dirty="0">
                <a:solidFill>
                  <a:srgbClr val="D3E4FB"/>
                </a:solidFill>
                <a:latin typeface="Calibri" pitchFamily="34" charset="0"/>
                <a:ea typeface="Calibri" pitchFamily="34" charset="-122"/>
                <a:cs typeface="Calibri" pitchFamily="34" charset="-120"/>
              </a:rPr>
              <a:t>Consultorios FADE · referencia regional · WhatsApp +54 9 223 522-0806</a:t>
            </a:r>
            <a:endParaRPr lang="en-US" sz="1350" dirty="0"/>
          </a:p>
        </p:txBody>
      </p:sp>
      <p:sp>
        <p:nvSpPr>
          <p:cNvPr id="9" name="Text 7"/>
          <p:cNvSpPr/>
          <p:nvPr/>
        </p:nvSpPr>
        <p:spPr>
          <a:xfrm>
            <a:off x="640080" y="2825496"/>
            <a:ext cx="3931920" cy="548640"/>
          </a:xfrm>
          <a:prstGeom prst="rect">
            <a:avLst/>
          </a:prstGeom>
          <a:noFill/>
          <a:ln/>
        </p:spPr>
        <p:txBody>
          <a:bodyPr wrap="square" rtlCol="0" anchor="ctr"/>
          <a:lstStyle/>
          <a:p>
            <a:pPr indent="0" marL="0">
              <a:buNone/>
            </a:pPr>
            <a:r>
              <a:rPr lang="en-US" sz="1400" b="1" dirty="0">
                <a:solidFill>
                  <a:srgbClr val="C5A059"/>
                </a:solidFill>
                <a:latin typeface="Georgia" pitchFamily="34" charset="0"/>
                <a:ea typeface="Georgia" pitchFamily="34" charset="-122"/>
                <a:cs typeface="Georgia" pitchFamily="34" charset="-120"/>
              </a:rPr>
              <a:t>SEMDA — MdP</a:t>
            </a:r>
            <a:endParaRPr lang="en-US" sz="1400" dirty="0"/>
          </a:p>
        </p:txBody>
      </p:sp>
      <p:sp>
        <p:nvSpPr>
          <p:cNvPr id="10" name="Text 8"/>
          <p:cNvSpPr/>
          <p:nvPr/>
        </p:nvSpPr>
        <p:spPr>
          <a:xfrm>
            <a:off x="4663440" y="2825496"/>
            <a:ext cx="6888175" cy="548640"/>
          </a:xfrm>
          <a:prstGeom prst="rect">
            <a:avLst/>
          </a:prstGeom>
          <a:noFill/>
          <a:ln/>
        </p:spPr>
        <p:txBody>
          <a:bodyPr wrap="square" rtlCol="0" anchor="ctr"/>
          <a:lstStyle/>
          <a:p>
            <a:pPr indent="0" marL="0">
              <a:buNone/>
            </a:pPr>
            <a:r>
              <a:rPr lang="en-US" sz="1350" dirty="0">
                <a:solidFill>
                  <a:srgbClr val="D3E4FB"/>
                </a:solidFill>
                <a:latin typeface="Calibri" pitchFamily="34" charset="0"/>
                <a:ea typeface="Calibri" pitchFamily="34" charset="-122"/>
                <a:cs typeface="Calibri" pitchFamily="34" charset="-120"/>
              </a:rPr>
              <a:t>Av. Jara 1661 · (0223) 473-2037</a:t>
            </a:r>
            <a:endParaRPr lang="en-US" sz="1350" dirty="0"/>
          </a:p>
        </p:txBody>
      </p:sp>
      <p:sp>
        <p:nvSpPr>
          <p:cNvPr id="11" name="Text 9"/>
          <p:cNvSpPr/>
          <p:nvPr/>
        </p:nvSpPr>
        <p:spPr>
          <a:xfrm>
            <a:off x="640080" y="3483864"/>
            <a:ext cx="3931920" cy="548640"/>
          </a:xfrm>
          <a:prstGeom prst="rect">
            <a:avLst/>
          </a:prstGeom>
          <a:noFill/>
          <a:ln/>
        </p:spPr>
        <p:txBody>
          <a:bodyPr wrap="square" rtlCol="0" anchor="ctr"/>
          <a:lstStyle/>
          <a:p>
            <a:pPr indent="0" marL="0">
              <a:buNone/>
            </a:pPr>
            <a:r>
              <a:rPr lang="en-US" sz="1400" b="1" dirty="0">
                <a:solidFill>
                  <a:srgbClr val="C5A059"/>
                </a:solidFill>
                <a:latin typeface="Georgia" pitchFamily="34" charset="0"/>
                <a:ea typeface="Georgia" pitchFamily="34" charset="-122"/>
                <a:cs typeface="Georgia" pitchFamily="34" charset="-120"/>
              </a:rPr>
              <a:t>Casa Caracol — SEDRONAR</a:t>
            </a:r>
            <a:endParaRPr lang="en-US" sz="1400" dirty="0"/>
          </a:p>
        </p:txBody>
      </p:sp>
      <p:sp>
        <p:nvSpPr>
          <p:cNvPr id="12" name="Text 10"/>
          <p:cNvSpPr/>
          <p:nvPr/>
        </p:nvSpPr>
        <p:spPr>
          <a:xfrm>
            <a:off x="4663440" y="3483864"/>
            <a:ext cx="6888175" cy="548640"/>
          </a:xfrm>
          <a:prstGeom prst="rect">
            <a:avLst/>
          </a:prstGeom>
          <a:noFill/>
          <a:ln/>
        </p:spPr>
        <p:txBody>
          <a:bodyPr wrap="square" rtlCol="0" anchor="ctr"/>
          <a:lstStyle/>
          <a:p>
            <a:pPr indent="0" marL="0">
              <a:buNone/>
            </a:pPr>
            <a:r>
              <a:rPr lang="en-US" sz="1350" dirty="0">
                <a:solidFill>
                  <a:srgbClr val="D3E4FB"/>
                </a:solidFill>
                <a:latin typeface="Calibri" pitchFamily="34" charset="0"/>
                <a:ea typeface="Calibri" pitchFamily="34" charset="-122"/>
                <a:cs typeface="Calibri" pitchFamily="34" charset="-120"/>
              </a:rPr>
              <a:t>Ituzaingó 8055 · (0223) 478-6384</a:t>
            </a:r>
            <a:endParaRPr lang="en-US" sz="1350" dirty="0"/>
          </a:p>
        </p:txBody>
      </p:sp>
      <p:sp>
        <p:nvSpPr>
          <p:cNvPr id="13" name="Text 11"/>
          <p:cNvSpPr/>
          <p:nvPr/>
        </p:nvSpPr>
        <p:spPr>
          <a:xfrm>
            <a:off x="640080" y="4142232"/>
            <a:ext cx="3931920" cy="548640"/>
          </a:xfrm>
          <a:prstGeom prst="rect">
            <a:avLst/>
          </a:prstGeom>
          <a:noFill/>
          <a:ln/>
        </p:spPr>
        <p:txBody>
          <a:bodyPr wrap="square" rtlCol="0" anchor="ctr"/>
          <a:lstStyle/>
          <a:p>
            <a:pPr indent="0" marL="0">
              <a:buNone/>
            </a:pPr>
            <a:r>
              <a:rPr lang="en-US" sz="1400" b="1" dirty="0">
                <a:solidFill>
                  <a:srgbClr val="C5A059"/>
                </a:solidFill>
                <a:latin typeface="Georgia" pitchFamily="34" charset="0"/>
                <a:ea typeface="Georgia" pitchFamily="34" charset="-122"/>
                <a:cs typeface="Georgia" pitchFamily="34" charset="-120"/>
              </a:rPr>
              <a:t>CPA Mar del Plata</a:t>
            </a:r>
            <a:endParaRPr lang="en-US" sz="1400" dirty="0"/>
          </a:p>
        </p:txBody>
      </p:sp>
      <p:sp>
        <p:nvSpPr>
          <p:cNvPr id="14" name="Text 12"/>
          <p:cNvSpPr/>
          <p:nvPr/>
        </p:nvSpPr>
        <p:spPr>
          <a:xfrm>
            <a:off x="4663440" y="4142232"/>
            <a:ext cx="6888175" cy="548640"/>
          </a:xfrm>
          <a:prstGeom prst="rect">
            <a:avLst/>
          </a:prstGeom>
          <a:noFill/>
          <a:ln/>
        </p:spPr>
        <p:txBody>
          <a:bodyPr wrap="square" rtlCol="0" anchor="ctr"/>
          <a:lstStyle/>
          <a:p>
            <a:pPr indent="0" marL="0">
              <a:buNone/>
            </a:pPr>
            <a:r>
              <a:rPr lang="en-US" sz="1350" dirty="0">
                <a:solidFill>
                  <a:srgbClr val="D3E4FB"/>
                </a:solidFill>
                <a:latin typeface="Calibri" pitchFamily="34" charset="0"/>
                <a:ea typeface="Calibri" pitchFamily="34" charset="-122"/>
                <a:cs typeface="Calibri" pitchFamily="34" charset="-120"/>
              </a:rPr>
              <a:t>Centro Provincial de Atención (verificar operatividad antes de derivar)</a:t>
            </a:r>
            <a:endParaRPr lang="en-US" sz="1350" dirty="0"/>
          </a:p>
        </p:txBody>
      </p:sp>
      <p:sp>
        <p:nvSpPr>
          <p:cNvPr id="15" name="Text 13"/>
          <p:cNvSpPr/>
          <p:nvPr/>
        </p:nvSpPr>
        <p:spPr>
          <a:xfrm>
            <a:off x="640080" y="4800600"/>
            <a:ext cx="3931920" cy="548640"/>
          </a:xfrm>
          <a:prstGeom prst="rect">
            <a:avLst/>
          </a:prstGeom>
          <a:noFill/>
          <a:ln/>
        </p:spPr>
        <p:txBody>
          <a:bodyPr wrap="square" rtlCol="0" anchor="ctr"/>
          <a:lstStyle/>
          <a:p>
            <a:pPr indent="0" marL="0">
              <a:buNone/>
            </a:pPr>
            <a:r>
              <a:rPr lang="en-US" sz="1400" b="1" dirty="0">
                <a:solidFill>
                  <a:srgbClr val="C5A059"/>
                </a:solidFill>
                <a:latin typeface="Georgia" pitchFamily="34" charset="0"/>
                <a:ea typeface="Georgia" pitchFamily="34" charset="-122"/>
                <a:cs typeface="Georgia" pitchFamily="34" charset="-120"/>
              </a:rPr>
              <a:t>HIGA Mar del Plata</a:t>
            </a:r>
            <a:endParaRPr lang="en-US" sz="1400" dirty="0"/>
          </a:p>
        </p:txBody>
      </p:sp>
      <p:sp>
        <p:nvSpPr>
          <p:cNvPr id="16" name="Text 14"/>
          <p:cNvSpPr/>
          <p:nvPr/>
        </p:nvSpPr>
        <p:spPr>
          <a:xfrm>
            <a:off x="4663440" y="4800600"/>
            <a:ext cx="6888175" cy="548640"/>
          </a:xfrm>
          <a:prstGeom prst="rect">
            <a:avLst/>
          </a:prstGeom>
          <a:noFill/>
          <a:ln/>
        </p:spPr>
        <p:txBody>
          <a:bodyPr wrap="square" rtlCol="0" anchor="ctr"/>
          <a:lstStyle/>
          <a:p>
            <a:pPr indent="0" marL="0">
              <a:buNone/>
            </a:pPr>
            <a:r>
              <a:rPr lang="en-US" sz="1350" dirty="0">
                <a:solidFill>
                  <a:srgbClr val="D3E4FB"/>
                </a:solidFill>
                <a:latin typeface="Calibri" pitchFamily="34" charset="0"/>
                <a:ea typeface="Calibri" pitchFamily="34" charset="-122"/>
                <a:cs typeface="Calibri" pitchFamily="34" charset="-120"/>
              </a:rPr>
              <a:t>Servicio de Salud Mental · (0223) 499-9300</a:t>
            </a:r>
            <a:endParaRPr lang="en-US" sz="1350" dirty="0"/>
          </a:p>
        </p:txBody>
      </p:sp>
      <p:sp>
        <p:nvSpPr>
          <p:cNvPr id="17" name="Shape 15"/>
          <p:cNvSpPr/>
          <p:nvPr/>
        </p:nvSpPr>
        <p:spPr>
          <a:xfrm>
            <a:off x="640080" y="5989320"/>
            <a:ext cx="10911535" cy="20117"/>
          </a:xfrm>
          <a:prstGeom prst="rect">
            <a:avLst/>
          </a:prstGeom>
          <a:solidFill>
            <a:srgbClr val="C5A059"/>
          </a:solidFill>
          <a:ln w="12700">
            <a:solidFill>
              <a:srgbClr val="C5A059"/>
            </a:solidFill>
            <a:prstDash val="solid"/>
          </a:ln>
        </p:spPr>
      </p:sp>
      <p:sp>
        <p:nvSpPr>
          <p:cNvPr id="18" name="Text 16"/>
          <p:cNvSpPr/>
          <p:nvPr/>
        </p:nvSpPr>
        <p:spPr>
          <a:xfrm>
            <a:off x="640080" y="6053328"/>
            <a:ext cx="10911535" cy="640080"/>
          </a:xfrm>
          <a:prstGeom prst="rect">
            <a:avLst/>
          </a:prstGeom>
          <a:noFill/>
          <a:ln/>
        </p:spPr>
        <p:txBody>
          <a:bodyPr wrap="square" rtlCol="0" anchor="ctr"/>
          <a:lstStyle/>
          <a:p>
            <a:pPr indent="0" marL="0">
              <a:buNone/>
            </a:pPr>
            <a:r>
              <a:rPr lang="en-US" sz="900" i="1" dirty="0">
                <a:solidFill>
                  <a:srgbClr val="7C90AC"/>
                </a:solidFill>
                <a:latin typeface="Calibri" pitchFamily="34" charset="0"/>
                <a:ea typeface="Calibri" pitchFamily="34" charset="-122"/>
                <a:cs typeface="Calibri" pitchFamily="34" charset="-120"/>
              </a:rPr>
              <a:t>Fuentes institucionales públicas SEDRONAR / municipio. Confirmar operatividad del CPA antes de mencionarlo en público (criterio Echeburúa / Jiménez Murcia).</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BLOQUE 7 — CIERRE</a:t>
            </a:r>
            <a:endParaRPr lang="en-US" sz="1100" dirty="0"/>
          </a:p>
        </p:txBody>
      </p:sp>
      <p:sp>
        <p:nvSpPr>
          <p:cNvPr id="3" name="Text 1"/>
          <p:cNvSpPr/>
          <p:nvPr/>
        </p:nvSpPr>
        <p:spPr>
          <a:xfrm>
            <a:off x="640080" y="1463040"/>
            <a:ext cx="10911535" cy="1371600"/>
          </a:xfrm>
          <a:prstGeom prst="rect">
            <a:avLst/>
          </a:prstGeom>
          <a:noFill/>
          <a:ln/>
        </p:spPr>
        <p:txBody>
          <a:bodyPr wrap="square" rtlCol="0" anchor="ctr"/>
          <a:lstStyle/>
          <a:p>
            <a:pPr algn="ctr" indent="0" marL="0">
              <a:buNone/>
            </a:pPr>
            <a:r>
              <a:rPr lang="en-US" sz="3200" b="1" dirty="0">
                <a:solidFill>
                  <a:srgbClr val="FFFFFF"/>
                </a:solidFill>
                <a:latin typeface="Georgia" pitchFamily="34" charset="0"/>
                <a:ea typeface="Georgia" pitchFamily="34" charset="-122"/>
                <a:cs typeface="Georgia" pitchFamily="34" charset="-120"/>
              </a:rPr>
              <a:t>No necesitan ser especialistas</a:t>
            </a:r>
            <a:endParaRPr lang="en-US" sz="3200" dirty="0"/>
          </a:p>
          <a:p>
            <a:pPr algn="ctr" indent="0" marL="0">
              <a:buNone/>
            </a:pPr>
            <a:r>
              <a:rPr lang="en-US" sz="3200" b="1" dirty="0">
                <a:solidFill>
                  <a:srgbClr val="FFFFFF"/>
                </a:solidFill>
                <a:latin typeface="Georgia" pitchFamily="34" charset="0"/>
                <a:ea typeface="Georgia" pitchFamily="34" charset="-122"/>
                <a:cs typeface="Georgia" pitchFamily="34" charset="-120"/>
              </a:rPr>
              <a:t>en adicciones para hacer algo.</a:t>
            </a:r>
            <a:endParaRPr lang="en-US" sz="3200" dirty="0"/>
          </a:p>
        </p:txBody>
      </p:sp>
      <p:sp>
        <p:nvSpPr>
          <p:cNvPr id="4" name="Shape 2"/>
          <p:cNvSpPr/>
          <p:nvPr/>
        </p:nvSpPr>
        <p:spPr>
          <a:xfrm>
            <a:off x="5090008" y="3017520"/>
            <a:ext cx="2011680" cy="20117"/>
          </a:xfrm>
          <a:prstGeom prst="rect">
            <a:avLst/>
          </a:prstGeom>
          <a:solidFill>
            <a:srgbClr val="C5A059"/>
          </a:solidFill>
          <a:ln w="12700">
            <a:solidFill>
              <a:srgbClr val="C5A059"/>
            </a:solidFill>
            <a:prstDash val="solid"/>
          </a:ln>
        </p:spPr>
      </p:sp>
      <p:sp>
        <p:nvSpPr>
          <p:cNvPr id="5" name="Text 3"/>
          <p:cNvSpPr/>
          <p:nvPr/>
        </p:nvSpPr>
        <p:spPr>
          <a:xfrm>
            <a:off x="640080" y="3291840"/>
            <a:ext cx="10911535" cy="914400"/>
          </a:xfrm>
          <a:prstGeom prst="rect">
            <a:avLst/>
          </a:prstGeom>
          <a:noFill/>
          <a:ln/>
        </p:spPr>
        <p:txBody>
          <a:bodyPr wrap="square" rtlCol="0" anchor="ctr"/>
          <a:lstStyle/>
          <a:p>
            <a:pPr algn="ctr" indent="0" marL="0">
              <a:buNone/>
            </a:pPr>
            <a:r>
              <a:rPr lang="en-US" sz="1700" dirty="0">
                <a:solidFill>
                  <a:srgbClr val="D3E4FB"/>
                </a:solidFill>
                <a:latin typeface="Georgia" pitchFamily="34" charset="0"/>
                <a:ea typeface="Georgia" pitchFamily="34" charset="-122"/>
                <a:cs typeface="Georgia" pitchFamily="34" charset="-120"/>
              </a:rPr>
              <a:t>Necesitan saber reconocer una señal, saber hacer una pregunta</a:t>
            </a:r>
            <a:endParaRPr lang="en-US" sz="1700" dirty="0"/>
          </a:p>
          <a:p>
            <a:pPr algn="ctr" indent="0" marL="0">
              <a:buNone/>
            </a:pPr>
            <a:r>
              <a:rPr lang="en-US" sz="1700" dirty="0">
                <a:solidFill>
                  <a:srgbClr val="D3E4FB"/>
                </a:solidFill>
                <a:latin typeface="Georgia" pitchFamily="34" charset="0"/>
                <a:ea typeface="Georgia" pitchFamily="34" charset="-122"/>
                <a:cs typeface="Georgia" pitchFamily="34" charset="-120"/>
              </a:rPr>
              <a:t>y saber a quién derivar. Eso es exactamente lo que trabajamos hoy.</a:t>
            </a:r>
            <a:endParaRPr lang="en-US" sz="1700" dirty="0"/>
          </a:p>
        </p:txBody>
      </p:sp>
      <p:sp>
        <p:nvSpPr>
          <p:cNvPr id="6" name="Text 4"/>
          <p:cNvSpPr/>
          <p:nvPr/>
        </p:nvSpPr>
        <p:spPr>
          <a:xfrm>
            <a:off x="640080" y="4480560"/>
            <a:ext cx="10911535" cy="502920"/>
          </a:xfrm>
          <a:prstGeom prst="rect">
            <a:avLst/>
          </a:prstGeom>
          <a:noFill/>
          <a:ln/>
        </p:spPr>
        <p:txBody>
          <a:bodyPr wrap="square" rtlCol="0" anchor="ctr"/>
          <a:lstStyle/>
          <a:p>
            <a:pPr algn="ctr" indent="0" marL="0">
              <a:buNone/>
            </a:pPr>
            <a:r>
              <a:rPr lang="en-US" sz="2200" b="1" i="1" dirty="0">
                <a:solidFill>
                  <a:srgbClr val="E0C68A"/>
                </a:solidFill>
                <a:latin typeface="Georgia" pitchFamily="34" charset="0"/>
                <a:ea typeface="Georgia" pitchFamily="34" charset="-122"/>
                <a:cs typeface="Georgia" pitchFamily="34" charset="-120"/>
              </a:rPr>
              <a:t>En Balcarce, ustedes son el primer eslabón.</a:t>
            </a:r>
            <a:endParaRPr lang="en-US" sz="2200" dirty="0"/>
          </a:p>
        </p:txBody>
      </p:sp>
      <p:sp>
        <p:nvSpPr>
          <p:cNvPr id="7" name="Text 5"/>
          <p:cNvSpPr/>
          <p:nvPr/>
        </p:nvSpPr>
        <p:spPr>
          <a:xfrm>
            <a:off x="640080" y="5212080"/>
            <a:ext cx="10911535" cy="365760"/>
          </a:xfrm>
          <a:prstGeom prst="rect">
            <a:avLst/>
          </a:prstGeom>
          <a:noFill/>
          <a:ln/>
        </p:spPr>
        <p:txBody>
          <a:bodyPr wrap="square" rtlCol="0" anchor="ctr"/>
          <a:lstStyle/>
          <a:p>
            <a:pPr algn="ctr" indent="0" marL="0">
              <a:buNone/>
            </a:pPr>
            <a:r>
              <a:rPr lang="en-US" sz="1800" dirty="0">
                <a:solidFill>
                  <a:srgbClr val="9FB4D4"/>
                </a:solidFill>
                <a:latin typeface="Georgia" pitchFamily="34" charset="0"/>
                <a:ea typeface="Georgia" pitchFamily="34" charset="-122"/>
                <a:cs typeface="Georgia" pitchFamily="34" charset="-120"/>
              </a:rPr>
              <a:t>Gracias.</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CONTACTO</a:t>
            </a:r>
            <a:endParaRPr lang="en-US" sz="1100" dirty="0"/>
          </a:p>
        </p:txBody>
      </p:sp>
      <p:sp>
        <p:nvSpPr>
          <p:cNvPr id="3" name="Text 1"/>
          <p:cNvSpPr/>
          <p:nvPr/>
        </p:nvSpPr>
        <p:spPr>
          <a:xfrm>
            <a:off x="640080" y="621792"/>
            <a:ext cx="10911535" cy="658368"/>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Programa CASS</a:t>
            </a:r>
            <a:endParaRPr lang="en-US" sz="2800" dirty="0"/>
          </a:p>
        </p:txBody>
      </p:sp>
      <p:sp>
        <p:nvSpPr>
          <p:cNvPr id="4" name="Shape 2"/>
          <p:cNvSpPr/>
          <p:nvPr/>
        </p:nvSpPr>
        <p:spPr>
          <a:xfrm>
            <a:off x="640080" y="1298448"/>
            <a:ext cx="1645920" cy="20117"/>
          </a:xfrm>
          <a:prstGeom prst="rect">
            <a:avLst/>
          </a:prstGeom>
          <a:solidFill>
            <a:srgbClr val="C5A059"/>
          </a:solidFill>
          <a:ln w="12700">
            <a:solidFill>
              <a:srgbClr val="C5A059"/>
            </a:solidFill>
            <a:prstDash val="solid"/>
          </a:ln>
        </p:spPr>
      </p:sp>
      <p:sp>
        <p:nvSpPr>
          <p:cNvPr id="5" name="Shape 3"/>
          <p:cNvSpPr/>
          <p:nvPr/>
        </p:nvSpPr>
        <p:spPr>
          <a:xfrm>
            <a:off x="640080" y="1691640"/>
            <a:ext cx="3423818" cy="2743200"/>
          </a:xfrm>
          <a:prstGeom prst="rect">
            <a:avLst/>
          </a:prstGeom>
          <a:solidFill>
            <a:srgbClr val="16304C"/>
          </a:solidFill>
          <a:ln w="12700">
            <a:solidFill>
              <a:srgbClr val="16304C"/>
            </a:solidFill>
            <a:prstDash val="solid"/>
          </a:ln>
        </p:spPr>
      </p:sp>
      <p:sp>
        <p:nvSpPr>
          <p:cNvPr id="6" name="Shape 4"/>
          <p:cNvSpPr/>
          <p:nvPr/>
        </p:nvSpPr>
        <p:spPr>
          <a:xfrm>
            <a:off x="640080" y="1691640"/>
            <a:ext cx="64008" cy="2743200"/>
          </a:xfrm>
          <a:prstGeom prst="rect">
            <a:avLst/>
          </a:prstGeom>
          <a:solidFill>
            <a:srgbClr val="C5A059"/>
          </a:solidFill>
          <a:ln w="12700">
            <a:solidFill>
              <a:srgbClr val="C5A059"/>
            </a:solidFill>
            <a:prstDash val="solid"/>
          </a:ln>
        </p:spPr>
      </p:sp>
      <p:sp>
        <p:nvSpPr>
          <p:cNvPr id="7" name="Text 5"/>
          <p:cNvSpPr/>
          <p:nvPr/>
        </p:nvSpPr>
        <p:spPr>
          <a:xfrm>
            <a:off x="896112" y="1856232"/>
            <a:ext cx="301233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CONSULTAS PROFESIONALES</a:t>
            </a:r>
            <a:endParaRPr lang="en-US" sz="1100" dirty="0"/>
          </a:p>
        </p:txBody>
      </p:sp>
      <p:sp>
        <p:nvSpPr>
          <p:cNvPr id="8" name="Text 6"/>
          <p:cNvSpPr/>
          <p:nvPr/>
        </p:nvSpPr>
        <p:spPr>
          <a:xfrm>
            <a:off x="896112" y="2194560"/>
            <a:ext cx="3012338" cy="2057400"/>
          </a:xfrm>
          <a:prstGeom prst="rect">
            <a:avLst/>
          </a:prstGeom>
          <a:noFill/>
          <a:ln/>
        </p:spPr>
        <p:txBody>
          <a:bodyPr wrap="square" rtlCol="0" anchor="ctr"/>
          <a:lstStyle/>
          <a:p>
            <a:pPr marL="127000" indent="-127000">
              <a:buSzPct val="100000"/>
              <a:buChar char="•"/>
            </a:pPr>
            <a:r>
              <a:rPr lang="en-US" sz="1350" dirty="0">
                <a:solidFill>
                  <a:srgbClr val="D3E4FB"/>
                </a:solidFill>
                <a:latin typeface="Calibri" pitchFamily="34" charset="0"/>
                <a:ea typeface="Calibri" pitchFamily="34" charset="-122"/>
                <a:cs typeface="Calibri" pitchFamily="34" charset="-120"/>
              </a:rPr>
              <a:t>WhatsApp: +54 9 223 522-0806</a:t>
            </a:r>
            <a:endParaRPr lang="en-US" sz="1350" dirty="0"/>
          </a:p>
          <a:p>
            <a:pPr marL="127000" indent="-127000">
              <a:buSzPct val="100000"/>
              <a:buChar char="•"/>
            </a:pPr>
            <a:r>
              <a:rPr lang="en-US" sz="1350" dirty="0">
                <a:solidFill>
                  <a:srgbClr val="D3E4FB"/>
                </a:solidFill>
                <a:latin typeface="Calibri" pitchFamily="34" charset="0"/>
                <a:ea typeface="Calibri" pitchFamily="34" charset="-122"/>
                <a:cs typeface="Calibri" pitchFamily="34" charset="-120"/>
              </a:rPr>
              <a:t>Mail: alesan23@gmail.com</a:t>
            </a:r>
            <a:endParaRPr lang="en-US" sz="1350" dirty="0"/>
          </a:p>
          <a:p>
            <a:pPr marL="127000" indent="-127000">
              <a:buSzPct val="100000"/>
              <a:buChar char="•"/>
            </a:pPr>
            <a:r>
              <a:rPr lang="en-US" sz="1350" dirty="0">
                <a:solidFill>
                  <a:srgbClr val="D3E4FB"/>
                </a:solidFill>
                <a:latin typeface="Calibri" pitchFamily="34" charset="0"/>
                <a:ea typeface="Calibri" pitchFamily="34" charset="-122"/>
                <a:cs typeface="Calibri" pitchFamily="34" charset="-120"/>
              </a:rPr>
              <a:t>Web: programacass.com</a:t>
            </a:r>
            <a:endParaRPr lang="en-US" sz="1350" dirty="0"/>
          </a:p>
          <a:p>
            <a:pPr marL="127000" indent="-127000">
              <a:buSzPct val="100000"/>
              <a:buChar char="•"/>
            </a:pPr>
            <a:r>
              <a:rPr lang="en-US" sz="1350" dirty="0">
                <a:solidFill>
                  <a:srgbClr val="D3E4FB"/>
                </a:solidFill>
                <a:latin typeface="Calibri" pitchFamily="34" charset="0"/>
                <a:ea typeface="Calibri" pitchFamily="34" charset="-122"/>
                <a:cs typeface="Calibri" pitchFamily="34" charset="-120"/>
              </a:rPr>
              <a:t>Instagram: @programacass</a:t>
            </a:r>
            <a:endParaRPr lang="en-US" sz="1350" dirty="0"/>
          </a:p>
        </p:txBody>
      </p:sp>
      <p:sp>
        <p:nvSpPr>
          <p:cNvPr id="9" name="Shape 7"/>
          <p:cNvSpPr/>
          <p:nvPr/>
        </p:nvSpPr>
        <p:spPr>
          <a:xfrm>
            <a:off x="4383938" y="1691640"/>
            <a:ext cx="3423818" cy="2743200"/>
          </a:xfrm>
          <a:prstGeom prst="rect">
            <a:avLst/>
          </a:prstGeom>
          <a:solidFill>
            <a:srgbClr val="1B3855"/>
          </a:solidFill>
          <a:ln w="12700">
            <a:solidFill>
              <a:srgbClr val="1B3855"/>
            </a:solidFill>
            <a:prstDash val="solid"/>
          </a:ln>
        </p:spPr>
      </p:sp>
      <p:sp>
        <p:nvSpPr>
          <p:cNvPr id="10" name="Shape 8"/>
          <p:cNvSpPr/>
          <p:nvPr/>
        </p:nvSpPr>
        <p:spPr>
          <a:xfrm>
            <a:off x="4383938" y="1691640"/>
            <a:ext cx="64008" cy="2743200"/>
          </a:xfrm>
          <a:prstGeom prst="rect">
            <a:avLst/>
          </a:prstGeom>
          <a:solidFill>
            <a:srgbClr val="C5A059"/>
          </a:solidFill>
          <a:ln w="12700">
            <a:solidFill>
              <a:srgbClr val="C5A059"/>
            </a:solidFill>
            <a:prstDash val="solid"/>
          </a:ln>
        </p:spPr>
      </p:sp>
      <p:sp>
        <p:nvSpPr>
          <p:cNvPr id="11" name="Text 9"/>
          <p:cNvSpPr/>
          <p:nvPr/>
        </p:nvSpPr>
        <p:spPr>
          <a:xfrm>
            <a:off x="4639970" y="1856232"/>
            <a:ext cx="301233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SEDES MDP</a:t>
            </a:r>
            <a:endParaRPr lang="en-US" sz="1100" dirty="0"/>
          </a:p>
        </p:txBody>
      </p:sp>
      <p:sp>
        <p:nvSpPr>
          <p:cNvPr id="12" name="Text 10"/>
          <p:cNvSpPr/>
          <p:nvPr/>
        </p:nvSpPr>
        <p:spPr>
          <a:xfrm>
            <a:off x="4639970" y="2194560"/>
            <a:ext cx="3012338" cy="2057400"/>
          </a:xfrm>
          <a:prstGeom prst="rect">
            <a:avLst/>
          </a:prstGeom>
          <a:noFill/>
          <a:ln/>
        </p:spPr>
        <p:txBody>
          <a:bodyPr wrap="square" rtlCol="0" anchor="ctr"/>
          <a:lstStyle/>
          <a:p>
            <a:pPr marL="127000" indent="-127000">
              <a:buSzPct val="100000"/>
              <a:buChar char="•"/>
            </a:pPr>
            <a:r>
              <a:rPr lang="en-US" sz="1300" dirty="0">
                <a:solidFill>
                  <a:srgbClr val="D3E4FB"/>
                </a:solidFill>
                <a:latin typeface="Calibri" pitchFamily="34" charset="0"/>
                <a:ea typeface="Calibri" pitchFamily="34" charset="-122"/>
                <a:cs typeface="Calibri" pitchFamily="34" charset="-120"/>
              </a:rPr>
              <a:t>FADE — Moreno 3215, 1º of. 2 · 223 4940697</a:t>
            </a:r>
            <a:endParaRPr lang="en-US" sz="1300" dirty="0"/>
          </a:p>
          <a:p>
            <a:pPr marL="127000" indent="-127000">
              <a:buSzPct val="100000"/>
              <a:buChar char="•"/>
            </a:pPr>
            <a:r>
              <a:rPr lang="en-US" sz="1300" dirty="0">
                <a:solidFill>
                  <a:srgbClr val="D3E4FB"/>
                </a:solidFill>
                <a:latin typeface="Calibri" pitchFamily="34" charset="0"/>
                <a:ea typeface="Calibri" pitchFamily="34" charset="-122"/>
                <a:cs typeface="Calibri" pitchFamily="34" charset="-120"/>
              </a:rPr>
              <a:t>Lucero — Córdoba 2893 · 223 522-0806 / 223 544-6072</a:t>
            </a:r>
            <a:endParaRPr lang="en-US" sz="1300" dirty="0"/>
          </a:p>
        </p:txBody>
      </p:sp>
      <p:sp>
        <p:nvSpPr>
          <p:cNvPr id="13" name="Shape 11"/>
          <p:cNvSpPr/>
          <p:nvPr/>
        </p:nvSpPr>
        <p:spPr>
          <a:xfrm>
            <a:off x="8127797" y="1691640"/>
            <a:ext cx="3423818" cy="2743200"/>
          </a:xfrm>
          <a:prstGeom prst="rect">
            <a:avLst/>
          </a:prstGeom>
          <a:solidFill>
            <a:srgbClr val="16304C"/>
          </a:solidFill>
          <a:ln w="12700">
            <a:solidFill>
              <a:srgbClr val="16304C"/>
            </a:solidFill>
            <a:prstDash val="solid"/>
          </a:ln>
        </p:spPr>
      </p:sp>
      <p:sp>
        <p:nvSpPr>
          <p:cNvPr id="14" name="Shape 12"/>
          <p:cNvSpPr/>
          <p:nvPr/>
        </p:nvSpPr>
        <p:spPr>
          <a:xfrm>
            <a:off x="8127797" y="1691640"/>
            <a:ext cx="64008" cy="2743200"/>
          </a:xfrm>
          <a:prstGeom prst="rect">
            <a:avLst/>
          </a:prstGeom>
          <a:solidFill>
            <a:srgbClr val="C5A059"/>
          </a:solidFill>
          <a:ln w="12700">
            <a:solidFill>
              <a:srgbClr val="C5A059"/>
            </a:solidFill>
            <a:prstDash val="solid"/>
          </a:ln>
        </p:spPr>
      </p:sp>
      <p:sp>
        <p:nvSpPr>
          <p:cNvPr id="15" name="Text 13"/>
          <p:cNvSpPr/>
          <p:nvPr/>
        </p:nvSpPr>
        <p:spPr>
          <a:xfrm>
            <a:off x="8383829" y="1856232"/>
            <a:ext cx="3012338" cy="320040"/>
          </a:xfrm>
          <a:prstGeom prst="rect">
            <a:avLst/>
          </a:prstGeom>
          <a:noFill/>
          <a:ln/>
        </p:spPr>
        <p:txBody>
          <a:bodyPr wrap="square" rtlCol="0" anchor="ctr"/>
          <a:lstStyle/>
          <a:p>
            <a:pPr indent="0" marL="0">
              <a:buNone/>
            </a:pPr>
            <a:r>
              <a:rPr lang="en-US" sz="1100" b="1" spc="60" kern="0" dirty="0">
                <a:solidFill>
                  <a:srgbClr val="C5A059"/>
                </a:solidFill>
                <a:latin typeface="Calibri" pitchFamily="34" charset="0"/>
                <a:ea typeface="Calibri" pitchFamily="34" charset="-122"/>
                <a:cs typeface="Calibri" pitchFamily="34" charset="-120"/>
              </a:rPr>
              <a:t>DERIVAR HOY</a:t>
            </a:r>
            <a:endParaRPr lang="en-US" sz="1100" dirty="0"/>
          </a:p>
        </p:txBody>
      </p:sp>
      <p:sp>
        <p:nvSpPr>
          <p:cNvPr id="16" name="Text 14"/>
          <p:cNvSpPr/>
          <p:nvPr/>
        </p:nvSpPr>
        <p:spPr>
          <a:xfrm>
            <a:off x="8383829" y="2194560"/>
            <a:ext cx="3012338" cy="2057400"/>
          </a:xfrm>
          <a:prstGeom prst="rect">
            <a:avLst/>
          </a:prstGeom>
          <a:noFill/>
          <a:ln/>
        </p:spPr>
        <p:txBody>
          <a:bodyPr wrap="square" rtlCol="0" anchor="ctr"/>
          <a:lstStyle/>
          <a:p>
            <a:pPr marL="127000" indent="-127000">
              <a:buSzPct val="100000"/>
              <a:buChar char="•"/>
            </a:pPr>
            <a:r>
              <a:rPr lang="en-US" sz="1350" dirty="0">
                <a:solidFill>
                  <a:srgbClr val="D3E4FB"/>
                </a:solidFill>
                <a:latin typeface="Calibri" pitchFamily="34" charset="0"/>
                <a:ea typeface="Calibri" pitchFamily="34" charset="-122"/>
                <a:cs typeface="Calibri" pitchFamily="34" charset="-120"/>
              </a:rPr>
              <a:t>Línea 141 — SEDRONAR, 24 hs</a:t>
            </a:r>
            <a:endParaRPr lang="en-US" sz="1350" dirty="0"/>
          </a:p>
          <a:p>
            <a:pPr marL="127000" indent="-127000">
              <a:buSzPct val="100000"/>
              <a:buChar char="•"/>
            </a:pPr>
            <a:r>
              <a:rPr lang="en-US" sz="1350" dirty="0">
                <a:solidFill>
                  <a:srgbClr val="D3E4FB"/>
                </a:solidFill>
                <a:latin typeface="Calibri" pitchFamily="34" charset="0"/>
                <a:ea typeface="Calibri" pitchFamily="34" charset="-122"/>
                <a:cs typeface="Calibri" pitchFamily="34" charset="-120"/>
              </a:rPr>
              <a:t>WhatsApp CASS para coordinar derivación institucional</a:t>
            </a:r>
            <a:endParaRPr lang="en-US" sz="1350" dirty="0"/>
          </a:p>
        </p:txBody>
      </p:sp>
      <p:sp>
        <p:nvSpPr>
          <p:cNvPr id="17" name="Text 15"/>
          <p:cNvSpPr/>
          <p:nvPr/>
        </p:nvSpPr>
        <p:spPr>
          <a:xfrm>
            <a:off x="640080" y="4846320"/>
            <a:ext cx="10911535" cy="548640"/>
          </a:xfrm>
          <a:prstGeom prst="rect">
            <a:avLst/>
          </a:prstGeom>
          <a:noFill/>
          <a:ln/>
        </p:spPr>
        <p:txBody>
          <a:bodyPr wrap="square" rtlCol="0" anchor="ctr"/>
          <a:lstStyle/>
          <a:p>
            <a:pPr algn="ctr" indent="0" marL="0">
              <a:buNone/>
            </a:pPr>
            <a:r>
              <a:rPr lang="en-US" sz="2800" b="1" dirty="0">
                <a:solidFill>
                  <a:srgbClr val="E0C68A"/>
                </a:solidFill>
                <a:latin typeface="Georgia" pitchFamily="34" charset="0"/>
                <a:ea typeface="Georgia" pitchFamily="34" charset="-122"/>
                <a:cs typeface="Georgia" pitchFamily="34" charset="-120"/>
              </a:rPr>
              <a:t>Preguntas</a:t>
            </a:r>
            <a:endParaRPr lang="en-US"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REFERENCIAS BIBLIOGRÁFICAS</a:t>
            </a:r>
            <a:endParaRPr lang="en-US" sz="1100" dirty="0"/>
          </a:p>
        </p:txBody>
      </p:sp>
      <p:sp>
        <p:nvSpPr>
          <p:cNvPr id="3" name="Text 1"/>
          <p:cNvSpPr/>
          <p:nvPr/>
        </p:nvSpPr>
        <p:spPr>
          <a:xfrm>
            <a:off x="640080" y="621792"/>
            <a:ext cx="10911535" cy="658368"/>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Referencias (1 de 2)</a:t>
            </a:r>
            <a:endParaRPr lang="en-US" sz="2800" dirty="0"/>
          </a:p>
        </p:txBody>
      </p:sp>
      <p:sp>
        <p:nvSpPr>
          <p:cNvPr id="4" name="Shape 2"/>
          <p:cNvSpPr/>
          <p:nvPr/>
        </p:nvSpPr>
        <p:spPr>
          <a:xfrm>
            <a:off x="640080" y="1298448"/>
            <a:ext cx="1645920" cy="20117"/>
          </a:xfrm>
          <a:prstGeom prst="rect">
            <a:avLst/>
          </a:prstGeom>
          <a:solidFill>
            <a:srgbClr val="C5A059"/>
          </a:solidFill>
          <a:ln w="12700">
            <a:solidFill>
              <a:srgbClr val="C5A059"/>
            </a:solidFill>
            <a:prstDash val="solid"/>
          </a:ln>
        </p:spPr>
      </p:sp>
      <p:sp>
        <p:nvSpPr>
          <p:cNvPr id="5" name="Text 3"/>
          <p:cNvSpPr/>
          <p:nvPr/>
        </p:nvSpPr>
        <p:spPr>
          <a:xfrm>
            <a:off x="640080" y="1600200"/>
            <a:ext cx="5272888" cy="4114800"/>
          </a:xfrm>
          <a:prstGeom prst="rect">
            <a:avLst/>
          </a:prstGeom>
          <a:noFill/>
          <a:ln/>
        </p:spPr>
        <p:txBody>
          <a:bodyPr wrap="square" rtlCol="0" anchor="ctr"/>
          <a:lstStyle/>
          <a:p>
            <a:pPr marL="127000" indent="-127000">
              <a:buSzPct val="100000"/>
              <a:buChar char="•"/>
            </a:pPr>
            <a:r>
              <a:rPr lang="en-US" sz="1150" dirty="0">
                <a:solidFill>
                  <a:srgbClr val="D3E4FB"/>
                </a:solidFill>
                <a:latin typeface="Calibri" pitchFamily="34" charset="0"/>
                <a:ea typeface="Calibri" pitchFamily="34" charset="-122"/>
                <a:cs typeface="Calibri" pitchFamily="34" charset="-120"/>
              </a:rPr>
              <a:t>American Psychiatric Association (2013). DSM-5. Washington DC: APA.</a:t>
            </a:r>
            <a:endParaRPr lang="en-US" sz="1150" dirty="0"/>
          </a:p>
          <a:p>
            <a:pPr marL="127000" indent="-127000">
              <a:buSzPct val="100000"/>
              <a:buChar char="•"/>
            </a:pPr>
            <a:r>
              <a:rPr lang="en-US" sz="1150" dirty="0">
                <a:solidFill>
                  <a:srgbClr val="D3E4FB"/>
                </a:solidFill>
                <a:latin typeface="Calibri" pitchFamily="34" charset="0"/>
                <a:ea typeface="Calibri" pitchFamily="34" charset="-122"/>
                <a:cs typeface="Calibri" pitchFamily="34" charset="-120"/>
              </a:rPr>
              <a:t>Alter, A. (2017). Irresistible. Nueva York: Penguin Press.</a:t>
            </a:r>
            <a:endParaRPr lang="en-US" sz="1150" dirty="0"/>
          </a:p>
          <a:p>
            <a:pPr marL="127000" indent="-127000">
              <a:buSzPct val="100000"/>
              <a:buChar char="•"/>
            </a:pPr>
            <a:r>
              <a:rPr lang="en-US" sz="1150" dirty="0">
                <a:solidFill>
                  <a:srgbClr val="D3E4FB"/>
                </a:solidFill>
                <a:latin typeface="Calibri" pitchFamily="34" charset="0"/>
                <a:ea typeface="Calibri" pitchFamily="34" charset="-122"/>
                <a:cs typeface="Calibri" pitchFamily="34" charset="-120"/>
              </a:rPr>
              <a:t>Bilinkis, S. (2024). “Apuestas online…”. Futuro en Construcción, T13 E10.</a:t>
            </a:r>
            <a:endParaRPr lang="en-US" sz="1150" dirty="0"/>
          </a:p>
          <a:p>
            <a:pPr marL="127000" indent="-127000">
              <a:buSzPct val="100000"/>
              <a:buChar char="•"/>
            </a:pPr>
            <a:r>
              <a:rPr lang="en-US" sz="1150" dirty="0">
                <a:solidFill>
                  <a:srgbClr val="D3E4FB"/>
                </a:solidFill>
                <a:latin typeface="Calibri" pitchFamily="34" charset="0"/>
                <a:ea typeface="Calibri" pitchFamily="34" charset="-122"/>
                <a:cs typeface="Calibri" pitchFamily="34" charset="-120"/>
              </a:rPr>
              <a:t>Casey, B. J., Jones, R. M., &amp; Hare, T. A. (2008). Annals of the NY Academy of Sciences, 1124, 111-126.</a:t>
            </a:r>
            <a:endParaRPr lang="en-US" sz="1150" dirty="0"/>
          </a:p>
          <a:p>
            <a:pPr marL="127000" indent="-127000">
              <a:buSzPct val="100000"/>
              <a:buChar char="•"/>
            </a:pPr>
            <a:r>
              <a:rPr lang="en-US" sz="1150" dirty="0">
                <a:solidFill>
                  <a:srgbClr val="D3E4FB"/>
                </a:solidFill>
                <a:latin typeface="Calibri" pitchFamily="34" charset="0"/>
                <a:ea typeface="Calibri" pitchFamily="34" charset="-122"/>
                <a:cs typeface="Calibri" pitchFamily="34" charset="-120"/>
              </a:rPr>
              <a:t>Cruz Roja Argentina (2025). Encuesta nacional sobre apuestas online en adolescentes.</a:t>
            </a:r>
            <a:endParaRPr lang="en-US" sz="1150" dirty="0"/>
          </a:p>
          <a:p>
            <a:pPr marL="127000" indent="-127000">
              <a:buSzPct val="100000"/>
              <a:buChar char="•"/>
            </a:pPr>
            <a:r>
              <a:rPr lang="en-US" sz="1150" dirty="0">
                <a:solidFill>
                  <a:srgbClr val="D3E4FB"/>
                </a:solidFill>
                <a:latin typeface="Calibri" pitchFamily="34" charset="0"/>
                <a:ea typeface="Calibri" pitchFamily="34" charset="-122"/>
                <a:cs typeface="Calibri" pitchFamily="34" charset="-120"/>
              </a:rPr>
              <a:t>Derevensky, J. L., &amp; Gilbeau, L. (2019). Canadian Journal of Addiction, 10(1), 10-20.</a:t>
            </a:r>
            <a:endParaRPr lang="en-US" sz="1150" dirty="0"/>
          </a:p>
        </p:txBody>
      </p:sp>
      <p:sp>
        <p:nvSpPr>
          <p:cNvPr id="6" name="Text 4"/>
          <p:cNvSpPr/>
          <p:nvPr/>
        </p:nvSpPr>
        <p:spPr>
          <a:xfrm>
            <a:off x="6278728" y="1600200"/>
            <a:ext cx="5272888" cy="4114800"/>
          </a:xfrm>
          <a:prstGeom prst="rect">
            <a:avLst/>
          </a:prstGeom>
          <a:noFill/>
          <a:ln/>
        </p:spPr>
        <p:txBody>
          <a:bodyPr wrap="square" rtlCol="0" anchor="ctr"/>
          <a:lstStyle/>
          <a:p>
            <a:pPr marL="127000" indent="-127000">
              <a:buSzPct val="100000"/>
              <a:buChar char="•"/>
            </a:pPr>
            <a:r>
              <a:rPr lang="en-US" sz="1150" dirty="0">
                <a:solidFill>
                  <a:srgbClr val="D3E4FB"/>
                </a:solidFill>
                <a:latin typeface="Calibri" pitchFamily="34" charset="0"/>
                <a:ea typeface="Calibri" pitchFamily="34" charset="-122"/>
                <a:cs typeface="Calibri" pitchFamily="34" charset="-120"/>
              </a:rPr>
              <a:t>Echeburúa, E., &amp; Corral, P. (2010). Adicciones, 22(2), 91-96.</a:t>
            </a:r>
            <a:endParaRPr lang="en-US" sz="1150" dirty="0"/>
          </a:p>
          <a:p>
            <a:pPr marL="127000" indent="-127000">
              <a:buSzPct val="100000"/>
              <a:buChar char="•"/>
            </a:pPr>
            <a:r>
              <a:rPr lang="en-US" sz="1150" dirty="0">
                <a:solidFill>
                  <a:srgbClr val="D3E4FB"/>
                </a:solidFill>
                <a:latin typeface="Calibri" pitchFamily="34" charset="0"/>
                <a:ea typeface="Calibri" pitchFamily="34" charset="-122"/>
                <a:cs typeface="Calibri" pitchFamily="34" charset="-120"/>
              </a:rPr>
              <a:t>Fogg, B. J. (2003). Persuasive Technology. Morgan Kaufmann.</a:t>
            </a:r>
            <a:endParaRPr lang="en-US" sz="1150" dirty="0"/>
          </a:p>
          <a:p>
            <a:pPr marL="127000" indent="-127000">
              <a:buSzPct val="100000"/>
              <a:buChar char="•"/>
            </a:pPr>
            <a:r>
              <a:rPr lang="en-US" sz="1150" dirty="0">
                <a:solidFill>
                  <a:srgbClr val="D3E4FB"/>
                </a:solidFill>
                <a:latin typeface="Calibri" pitchFamily="34" charset="0"/>
                <a:ea typeface="Calibri" pitchFamily="34" charset="-122"/>
                <a:cs typeface="Calibri" pitchFamily="34" charset="-120"/>
              </a:rPr>
              <a:t>Forman, D. P., &amp; Boughter, J. R. (2024). Meta-análisis EM en juego patológico.</a:t>
            </a:r>
            <a:endParaRPr lang="en-US" sz="1150" dirty="0"/>
          </a:p>
          <a:p>
            <a:pPr marL="127000" indent="-127000">
              <a:buSzPct val="100000"/>
              <a:buChar char="•"/>
            </a:pPr>
            <a:r>
              <a:rPr lang="en-US" sz="1150" dirty="0">
                <a:solidFill>
                  <a:srgbClr val="D3E4FB"/>
                </a:solidFill>
                <a:latin typeface="Calibri" pitchFamily="34" charset="0"/>
                <a:ea typeface="Calibri" pitchFamily="34" charset="-122"/>
                <a:cs typeface="Calibri" pitchFamily="34" charset="-120"/>
              </a:rPr>
              <a:t>García-Caballero, A. et al. (2018). Adicciones, 30(3), 219-224.</a:t>
            </a:r>
            <a:endParaRPr lang="en-US" sz="1150" dirty="0"/>
          </a:p>
          <a:p>
            <a:pPr marL="127000" indent="-127000">
              <a:buSzPct val="100000"/>
              <a:buChar char="•"/>
            </a:pPr>
            <a:r>
              <a:rPr lang="en-US" sz="1150" dirty="0">
                <a:solidFill>
                  <a:srgbClr val="D3E4FB"/>
                </a:solidFill>
                <a:latin typeface="Calibri" pitchFamily="34" charset="0"/>
                <a:ea typeface="Calibri" pitchFamily="34" charset="-122"/>
                <a:cs typeface="Calibri" pitchFamily="34" charset="-120"/>
              </a:rPr>
              <a:t>Griffiths, M. D., &amp; Parke, J. (2002). Social Science Computer Review, 20(3), 312-320.</a:t>
            </a:r>
            <a:endParaRPr lang="en-US" sz="1150" dirty="0"/>
          </a:p>
          <a:p>
            <a:pPr marL="127000" indent="-127000">
              <a:buSzPct val="100000"/>
              <a:buChar char="•"/>
            </a:pPr>
            <a:r>
              <a:rPr lang="en-US" sz="1150" dirty="0">
                <a:solidFill>
                  <a:srgbClr val="D3E4FB"/>
                </a:solidFill>
                <a:latin typeface="Calibri" pitchFamily="34" charset="0"/>
                <a:ea typeface="Calibri" pitchFamily="34" charset="-122"/>
                <a:cs typeface="Calibri" pitchFamily="34" charset="-120"/>
              </a:rPr>
              <a:t>Hodgins, D. C., Currie, S. R., &amp; el-Guebaly, N. (2001). J. Consult. Clin. Psychol., 69(1), 50-57.</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40080" y="347472"/>
            <a:ext cx="10911535" cy="256032"/>
          </a:xfrm>
          <a:prstGeom prst="rect">
            <a:avLst/>
          </a:prstGeom>
          <a:noFill/>
          <a:ln/>
        </p:spPr>
        <p:txBody>
          <a:bodyPr wrap="square" rtlCol="0" anchor="ctr"/>
          <a:lstStyle/>
          <a:p>
            <a:pPr indent="0" marL="0">
              <a:buNone/>
            </a:pPr>
            <a:r>
              <a:rPr lang="en-US" sz="1100" b="1" spc="220" kern="0" dirty="0">
                <a:solidFill>
                  <a:srgbClr val="C5A059"/>
                </a:solidFill>
                <a:latin typeface="Calibri" pitchFamily="34" charset="0"/>
                <a:ea typeface="Calibri" pitchFamily="34" charset="-122"/>
                <a:cs typeface="Calibri" pitchFamily="34" charset="-120"/>
              </a:rPr>
              <a:t>REFERENCIAS BIBLIOGRÁFICAS</a:t>
            </a:r>
            <a:endParaRPr lang="en-US" sz="1100" dirty="0"/>
          </a:p>
        </p:txBody>
      </p:sp>
      <p:sp>
        <p:nvSpPr>
          <p:cNvPr id="3" name="Text 1"/>
          <p:cNvSpPr/>
          <p:nvPr/>
        </p:nvSpPr>
        <p:spPr>
          <a:xfrm>
            <a:off x="640080" y="621792"/>
            <a:ext cx="10911535" cy="658368"/>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Referencias (2 de 2)</a:t>
            </a:r>
            <a:endParaRPr lang="en-US" sz="2800" dirty="0"/>
          </a:p>
        </p:txBody>
      </p:sp>
      <p:sp>
        <p:nvSpPr>
          <p:cNvPr id="4" name="Shape 2"/>
          <p:cNvSpPr/>
          <p:nvPr/>
        </p:nvSpPr>
        <p:spPr>
          <a:xfrm>
            <a:off x="640080" y="1298448"/>
            <a:ext cx="1645920" cy="20117"/>
          </a:xfrm>
          <a:prstGeom prst="rect">
            <a:avLst/>
          </a:prstGeom>
          <a:solidFill>
            <a:srgbClr val="C5A059"/>
          </a:solidFill>
          <a:ln w="12700">
            <a:solidFill>
              <a:srgbClr val="C5A059"/>
            </a:solidFill>
            <a:prstDash val="solid"/>
          </a:ln>
        </p:spPr>
      </p:sp>
      <p:sp>
        <p:nvSpPr>
          <p:cNvPr id="5" name="Text 3"/>
          <p:cNvSpPr/>
          <p:nvPr/>
        </p:nvSpPr>
        <p:spPr>
          <a:xfrm>
            <a:off x="640080" y="1600200"/>
            <a:ext cx="5272888" cy="4114800"/>
          </a:xfrm>
          <a:prstGeom prst="rect">
            <a:avLst/>
          </a:prstGeom>
          <a:noFill/>
          <a:ln/>
        </p:spPr>
        <p:txBody>
          <a:bodyPr wrap="square" rtlCol="0" anchor="ctr"/>
          <a:lstStyle/>
          <a:p>
            <a:pPr marL="127000" indent="-127000">
              <a:buSzPct val="100000"/>
              <a:buChar char="•"/>
            </a:pPr>
            <a:r>
              <a:rPr lang="en-US" sz="1150" dirty="0">
                <a:solidFill>
                  <a:srgbClr val="D3E4FB"/>
                </a:solidFill>
                <a:latin typeface="Calibri" pitchFamily="34" charset="0"/>
                <a:ea typeface="Calibri" pitchFamily="34" charset="-122"/>
                <a:cs typeface="Calibri" pitchFamily="34" charset="-120"/>
              </a:rPr>
              <a:t>Johnson, E. E. et al. (1997). Psychological Reports, 80(1), 83-88.</a:t>
            </a:r>
            <a:endParaRPr lang="en-US" sz="1150" dirty="0"/>
          </a:p>
          <a:p>
            <a:pPr marL="127000" indent="-127000">
              <a:buSzPct val="100000"/>
              <a:buChar char="•"/>
            </a:pPr>
            <a:r>
              <a:rPr lang="en-US" sz="1150" dirty="0">
                <a:solidFill>
                  <a:srgbClr val="D3E4FB"/>
                </a:solidFill>
                <a:latin typeface="Calibri" pitchFamily="34" charset="0"/>
                <a:ea typeface="Calibri" pitchFamily="34" charset="-122"/>
                <a:cs typeface="Calibri" pitchFamily="34" charset="-120"/>
              </a:rPr>
              <a:t>Josephson, H. et al. (2016). PeerJ, e1899.</a:t>
            </a:r>
            <a:endParaRPr lang="en-US" sz="1150" dirty="0"/>
          </a:p>
          <a:p>
            <a:pPr marL="127000" indent="-127000">
              <a:buSzPct val="100000"/>
              <a:buChar char="•"/>
            </a:pPr>
            <a:r>
              <a:rPr lang="en-US" sz="1150" dirty="0">
                <a:solidFill>
                  <a:srgbClr val="D3E4FB"/>
                </a:solidFill>
                <a:latin typeface="Calibri" pitchFamily="34" charset="0"/>
                <a:ea typeface="Calibri" pitchFamily="34" charset="-122"/>
                <a:cs typeface="Calibri" pitchFamily="34" charset="-120"/>
              </a:rPr>
              <a:t>Lesieur, H. R., &amp; Blume, S. B. (1987). American Journal of Psychiatry, 144(9), 1184-1188.</a:t>
            </a:r>
            <a:endParaRPr lang="en-US" sz="1150" dirty="0"/>
          </a:p>
          <a:p>
            <a:pPr marL="127000" indent="-127000">
              <a:buSzPct val="100000"/>
              <a:buChar char="•"/>
            </a:pPr>
            <a:r>
              <a:rPr lang="en-US" sz="1150" dirty="0">
                <a:solidFill>
                  <a:srgbClr val="D3E4FB"/>
                </a:solidFill>
                <a:latin typeface="Calibri" pitchFamily="34" charset="0"/>
                <a:ea typeface="Calibri" pitchFamily="34" charset="-122"/>
                <a:cs typeface="Calibri" pitchFamily="34" charset="-120"/>
              </a:rPr>
              <a:t>Miller, W. R., &amp; Rollnick, S. (1999). La entrevista motivacional. Barcelona: Paidós.</a:t>
            </a:r>
            <a:endParaRPr lang="en-US" sz="1150" dirty="0"/>
          </a:p>
          <a:p>
            <a:pPr marL="127000" indent="-127000">
              <a:buSzPct val="100000"/>
              <a:buChar char="•"/>
            </a:pPr>
            <a:r>
              <a:rPr lang="en-US" sz="1150" dirty="0">
                <a:solidFill>
                  <a:srgbClr val="D3E4FB"/>
                </a:solidFill>
                <a:latin typeface="Calibri" pitchFamily="34" charset="0"/>
                <a:ea typeface="Calibri" pitchFamily="34" charset="-122"/>
                <a:cs typeface="Calibri" pitchFamily="34" charset="-120"/>
              </a:rPr>
              <a:t>OEDA (2024). Informe sobre Adicciones Comportamentales… Madrid: Ministerio de Sanidad.</a:t>
            </a:r>
            <a:endParaRPr lang="en-US" sz="1150" dirty="0"/>
          </a:p>
          <a:p>
            <a:pPr marL="127000" indent="-127000">
              <a:buSzPct val="100000"/>
              <a:buChar char="•"/>
            </a:pPr>
            <a:r>
              <a:rPr lang="en-US" sz="1150" dirty="0">
                <a:solidFill>
                  <a:srgbClr val="D3E4FB"/>
                </a:solidFill>
                <a:latin typeface="Calibri" pitchFamily="34" charset="0"/>
                <a:ea typeface="Calibri" pitchFamily="34" charset="-122"/>
                <a:cs typeface="Calibri" pitchFamily="34" charset="-120"/>
              </a:rPr>
              <a:t>Observatorio de Adicciones PBA / Defensoría del Pueblo PBA (2024).</a:t>
            </a:r>
            <a:endParaRPr lang="en-US" sz="1150" dirty="0"/>
          </a:p>
        </p:txBody>
      </p:sp>
      <p:sp>
        <p:nvSpPr>
          <p:cNvPr id="6" name="Text 4"/>
          <p:cNvSpPr/>
          <p:nvPr/>
        </p:nvSpPr>
        <p:spPr>
          <a:xfrm>
            <a:off x="6278728" y="1600200"/>
            <a:ext cx="5272888" cy="4114800"/>
          </a:xfrm>
          <a:prstGeom prst="rect">
            <a:avLst/>
          </a:prstGeom>
          <a:noFill/>
          <a:ln/>
        </p:spPr>
        <p:txBody>
          <a:bodyPr wrap="square" rtlCol="0" anchor="ctr"/>
          <a:lstStyle/>
          <a:p>
            <a:pPr marL="127000" indent="-127000">
              <a:buSzPct val="100000"/>
              <a:buChar char="•"/>
            </a:pPr>
            <a:r>
              <a:rPr lang="en-US" sz="1150" dirty="0">
                <a:solidFill>
                  <a:srgbClr val="D3E4FB"/>
                </a:solidFill>
                <a:latin typeface="Calibri" pitchFamily="34" charset="0"/>
                <a:ea typeface="Calibri" pitchFamily="34" charset="-122"/>
                <a:cs typeface="Calibri" pitchFamily="34" charset="-120"/>
              </a:rPr>
              <a:t>Prochaska, J. O., &amp; DiClemente, C. C. (1983). J. Consult. Clin. Psychol., 51(3), 390-395.</a:t>
            </a:r>
            <a:endParaRPr lang="en-US" sz="1150" dirty="0"/>
          </a:p>
          <a:p>
            <a:pPr marL="127000" indent="-127000">
              <a:buSzPct val="100000"/>
              <a:buChar char="•"/>
            </a:pPr>
            <a:r>
              <a:rPr lang="en-US" sz="1150" dirty="0">
                <a:solidFill>
                  <a:srgbClr val="D3E4FB"/>
                </a:solidFill>
                <a:latin typeface="Calibri" pitchFamily="34" charset="0"/>
                <a:ea typeface="Calibri" pitchFamily="34" charset="-122"/>
                <a:cs typeface="Calibri" pitchFamily="34" charset="-120"/>
              </a:rPr>
              <a:t>Schultz, W., Dayan, P., &amp; Montague, P. R. (1997). Science, 275(5306), 1593-1599.</a:t>
            </a:r>
            <a:endParaRPr lang="en-US" sz="1150" dirty="0"/>
          </a:p>
          <a:p>
            <a:pPr marL="127000" indent="-127000">
              <a:buSzPct val="100000"/>
              <a:buChar char="•"/>
            </a:pPr>
            <a:r>
              <a:rPr lang="en-US" sz="1150" dirty="0">
                <a:solidFill>
                  <a:srgbClr val="D3E4FB"/>
                </a:solidFill>
                <a:latin typeface="Calibri" pitchFamily="34" charset="0"/>
                <a:ea typeface="Calibri" pitchFamily="34" charset="-122"/>
                <a:cs typeface="Calibri" pitchFamily="34" charset="-120"/>
              </a:rPr>
              <a:t>SEDRONAR (2023/2024). Encuesta universitarios y Línea 141.</a:t>
            </a:r>
            <a:endParaRPr lang="en-US" sz="1150" dirty="0"/>
          </a:p>
          <a:p>
            <a:pPr marL="127000" indent="-127000">
              <a:buSzPct val="100000"/>
              <a:buChar char="•"/>
            </a:pPr>
            <a:r>
              <a:rPr lang="en-US" sz="1150" dirty="0">
                <a:solidFill>
                  <a:srgbClr val="D3E4FB"/>
                </a:solidFill>
                <a:latin typeface="Calibri" pitchFamily="34" charset="0"/>
                <a:ea typeface="Calibri" pitchFamily="34" charset="-122"/>
                <a:cs typeface="Calibri" pitchFamily="34" charset="-120"/>
              </a:rPr>
              <a:t>Skinner, B. F. (1938). The Behavior of Organisms. Appleton-Century-Crofts.</a:t>
            </a:r>
            <a:endParaRPr lang="en-US" sz="1150" dirty="0"/>
          </a:p>
          <a:p>
            <a:pPr marL="127000" indent="-127000">
              <a:buSzPct val="100000"/>
              <a:buChar char="•"/>
            </a:pPr>
            <a:r>
              <a:rPr lang="en-US" sz="1150" dirty="0">
                <a:solidFill>
                  <a:srgbClr val="D3E4FB"/>
                </a:solidFill>
                <a:latin typeface="Calibri" pitchFamily="34" charset="0"/>
                <a:ea typeface="Calibri" pitchFamily="34" charset="-122"/>
                <a:cs typeface="Calibri" pitchFamily="34" charset="-120"/>
              </a:rPr>
              <a:t>Steinberg, L. (2008). Developmental Review, 28(1), 78-106.</a:t>
            </a:r>
            <a:endParaRPr lang="en-US" sz="1150" dirty="0"/>
          </a:p>
          <a:p>
            <a:pPr marL="127000" indent="-127000">
              <a:buSzPct val="100000"/>
              <a:buChar char="•"/>
            </a:pPr>
            <a:r>
              <a:rPr lang="en-US" sz="1150" dirty="0">
                <a:solidFill>
                  <a:srgbClr val="D3E4FB"/>
                </a:solidFill>
                <a:latin typeface="Calibri" pitchFamily="34" charset="0"/>
                <a:ea typeface="Calibri" pitchFamily="34" charset="-122"/>
                <a:cs typeface="Calibri" pitchFamily="34" charset="-120"/>
              </a:rPr>
              <a:t>Yakovenko, I. et al. (2015). Addictive Behaviors, 43, 72-82.</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Programa CASS — Conductas Adictivas Sin Sustancia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Juego patológico en adolescentes: detección, intervención y derivación</dc:title>
  <dc:subject>PptxGenJS Presentation</dc:subject>
  <dc:creator>Programa CASS — Lic. Alejandro G. Sánchez</dc:creator>
  <cp:lastModifiedBy>Programa CASS — Lic. Alejandro G. Sánchez</cp:lastModifiedBy>
  <cp:revision>1</cp:revision>
  <dcterms:created xsi:type="dcterms:W3CDTF">2026-08-03T23:40:01Z</dcterms:created>
  <dcterms:modified xsi:type="dcterms:W3CDTF">2026-08-03T23:40:01Z</dcterms:modified>
</cp:coreProperties>
</file>